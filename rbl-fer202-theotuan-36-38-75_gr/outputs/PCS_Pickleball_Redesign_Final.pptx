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529a4285624cb9" /><Relationship Type="http://schemas.openxmlformats.org/officeDocument/2006/relationships/extended-properties" Target="/docProps/app.xml" Id="Rf864b3950c0849a9" /><Relationship Type="http://schemas.openxmlformats.org/officeDocument/2006/relationships/officeDocument" Target="/ppt/presentation.xml" Id="R8d7c136432f3404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17976792a0d4651"/>
  </p:sldMasterIdLst>
  <p:notesMasterIdLst>
    <p:notesMasterId xmlns:r="http://schemas.openxmlformats.org/officeDocument/2006/relationships" r:id="Re33159e325c841b6"/>
  </p:notesMasterIdLst>
  <p:sldIdLst>
    <p:sldId xmlns:r="http://schemas.openxmlformats.org/officeDocument/2006/relationships" id="256" r:id="R79b8eb5e6e944d34"/>
    <p:sldId xmlns:r="http://schemas.openxmlformats.org/officeDocument/2006/relationships" id="257" r:id="R3488b47509e94379"/>
    <p:sldId xmlns:r="http://schemas.openxmlformats.org/officeDocument/2006/relationships" id="258" r:id="Re31f9e34f68a41f0"/>
    <p:sldId xmlns:r="http://schemas.openxmlformats.org/officeDocument/2006/relationships" id="259" r:id="Reb03329b2e7849bd"/>
    <p:sldId xmlns:r="http://schemas.openxmlformats.org/officeDocument/2006/relationships" id="260" r:id="Rd1b895d0defb469f"/>
    <p:sldId xmlns:r="http://schemas.openxmlformats.org/officeDocument/2006/relationships" id="261" r:id="Rd603603592d643f4"/>
    <p:sldId xmlns:r="http://schemas.openxmlformats.org/officeDocument/2006/relationships" id="262" r:id="R44f01e152fe945de"/>
    <p:sldId xmlns:r="http://schemas.openxmlformats.org/officeDocument/2006/relationships" id="263" r:id="R844a0b948ab74d28"/>
    <p:sldId xmlns:r="http://schemas.openxmlformats.org/officeDocument/2006/relationships" id="264" r:id="R9ab1e688e05d4456"/>
    <p:sldId xmlns:r="http://schemas.openxmlformats.org/officeDocument/2006/relationships" id="265" r:id="R0d4c8ee0c79a4b24"/>
    <p:sldId xmlns:r="http://schemas.openxmlformats.org/officeDocument/2006/relationships" id="266" r:id="R88f45f7c70ba40d7"/>
    <p:sldId xmlns:r="http://schemas.openxmlformats.org/officeDocument/2006/relationships" id="267" r:id="R56352e15b80a450e"/>
    <p:sldId xmlns:r="http://schemas.openxmlformats.org/officeDocument/2006/relationships" id="268" r:id="Rc26d3679427745ea"/>
    <p:sldId xmlns:r="http://schemas.openxmlformats.org/officeDocument/2006/relationships" id="269" r:id="R34583dae8f0d4dbf"/>
    <p:sldId xmlns:r="http://schemas.openxmlformats.org/officeDocument/2006/relationships" id="270" r:id="R769da91990574dca"/>
    <p:sldId xmlns:r="http://schemas.openxmlformats.org/officeDocument/2006/relationships" id="271" r:id="Rf577c65036a943dc"/>
    <p:sldId xmlns:r="http://schemas.openxmlformats.org/officeDocument/2006/relationships" id="272" r:id="R53a5c3903f004a55"/>
    <p:sldId xmlns:r="http://schemas.openxmlformats.org/officeDocument/2006/relationships" id="273" r:id="R94c0451862d34123"/>
    <p:sldId xmlns:r="http://schemas.openxmlformats.org/officeDocument/2006/relationships" id="274" r:id="Rdacb550c63354c48"/>
    <p:sldId xmlns:r="http://schemas.openxmlformats.org/officeDocument/2006/relationships" id="275" r:id="R4bdaffd26dae4c62"/>
    <p:sldId xmlns:r="http://schemas.openxmlformats.org/officeDocument/2006/relationships" id="276" r:id="R4782e6057964442c"/>
  </p:sldIdLst>
  <p:sldSz cx="18288000" cy="10287000"/>
  <p:notesSz cx="6858000" cy="9144000"/>
  <p:embeddedFontLst>
    <p:embeddedFont>
      <p:font typeface="Aptos Bold"/>
      <p:regular xmlns:r="http://schemas.openxmlformats.org/officeDocument/2006/relationships" r:id="Rc541c83b46484577"/>
    </p:embeddedFont>
    <p:embeddedFont>
      <p:font typeface="Aptos"/>
      <p:regular xmlns:r="http://schemas.openxmlformats.org/officeDocument/2006/relationships" r:id="R5409a2d579fd4b8b"/>
    </p:embeddedFont>
    <p:embeddedFont>
      <p:font typeface="Arial Bold"/>
      <p:regular xmlns:r="http://schemas.openxmlformats.org/officeDocument/2006/relationships" r:id="R81b11f7a65644336"/>
    </p:embeddedFont>
    <p:embeddedFont>
      <p:font typeface="Arial"/>
      <p:regular xmlns:r="http://schemas.openxmlformats.org/officeDocument/2006/relationships" r:id="Rcb7496f28dd34fb1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2d8b9a975944eb" /><Relationship Type="http://schemas.openxmlformats.org/officeDocument/2006/relationships/slideMaster" Target="/ppt/slideMasters/slideMaster1.xml" Id="Ra17976792a0d4651" /><Relationship Type="http://schemas.openxmlformats.org/officeDocument/2006/relationships/notesMaster" Target="/ppt/notesMasters/notesMaster1.xml" Id="Re33159e325c841b6" /><Relationship Type="http://schemas.openxmlformats.org/officeDocument/2006/relationships/presProps" Target="/ppt/presProps.xml" Id="R7549489cc9034d43" /><Relationship Type="http://schemas.openxmlformats.org/officeDocument/2006/relationships/viewProps" Target="/ppt/viewProps.xml" Id="R1eab552f1a164841" /><Relationship Type="http://schemas.openxmlformats.org/officeDocument/2006/relationships/tableStyles" Target="/ppt/tableStyles.xml" Id="R270e691b209c4fb6" /><Relationship Type="http://schemas.openxmlformats.org/officeDocument/2006/relationships/font" Target="/ppt/fonts/font.dat" Id="Rc541c83b46484577" /><Relationship Type="http://schemas.openxmlformats.org/officeDocument/2006/relationships/font" Target="/ppt/fonts/font2.dat" Id="R5409a2d579fd4b8b" /><Relationship Type="http://schemas.openxmlformats.org/officeDocument/2006/relationships/font" Target="/ppt/fonts/font3.dat" Id="R81b11f7a65644336" /><Relationship Type="http://schemas.openxmlformats.org/officeDocument/2006/relationships/font" Target="/ppt/fonts/font4.dat" Id="Rcb7496f28dd34fb1" /><Relationship Type="http://schemas.openxmlformats.org/officeDocument/2006/relationships/slide" Target="/ppt/slides/slide1.xml" Id="R79b8eb5e6e944d34" /><Relationship Type="http://schemas.openxmlformats.org/officeDocument/2006/relationships/slide" Target="/ppt/slides/slide2.xml" Id="R3488b47509e94379" /><Relationship Type="http://schemas.openxmlformats.org/officeDocument/2006/relationships/slide" Target="/ppt/slides/slide3.xml" Id="Re31f9e34f68a41f0" /><Relationship Type="http://schemas.openxmlformats.org/officeDocument/2006/relationships/slide" Target="/ppt/slides/slide4.xml" Id="Reb03329b2e7849bd" /><Relationship Type="http://schemas.openxmlformats.org/officeDocument/2006/relationships/slide" Target="/ppt/slides/slide5.xml" Id="Rd1b895d0defb469f" /><Relationship Type="http://schemas.openxmlformats.org/officeDocument/2006/relationships/slide" Target="/ppt/slides/slide6.xml" Id="Rd603603592d643f4" /><Relationship Type="http://schemas.openxmlformats.org/officeDocument/2006/relationships/slide" Target="/ppt/slides/slide7.xml" Id="R44f01e152fe945de" /><Relationship Type="http://schemas.openxmlformats.org/officeDocument/2006/relationships/slide" Target="/ppt/slides/slide8.xml" Id="R844a0b948ab74d28" /><Relationship Type="http://schemas.openxmlformats.org/officeDocument/2006/relationships/slide" Target="/ppt/slides/slide9.xml" Id="R9ab1e688e05d4456" /><Relationship Type="http://schemas.openxmlformats.org/officeDocument/2006/relationships/slide" Target="/ppt/slides/slide10.xml" Id="R0d4c8ee0c79a4b24" /><Relationship Type="http://schemas.openxmlformats.org/officeDocument/2006/relationships/slide" Target="/ppt/slides/slide11.xml" Id="R88f45f7c70ba40d7" /><Relationship Type="http://schemas.openxmlformats.org/officeDocument/2006/relationships/slide" Target="/ppt/slides/slide12.xml" Id="R56352e15b80a450e" /><Relationship Type="http://schemas.openxmlformats.org/officeDocument/2006/relationships/slide" Target="/ppt/slides/slide13.xml" Id="Rc26d3679427745ea" /><Relationship Type="http://schemas.openxmlformats.org/officeDocument/2006/relationships/slide" Target="/ppt/slides/slide14.xml" Id="R34583dae8f0d4dbf" /><Relationship Type="http://schemas.openxmlformats.org/officeDocument/2006/relationships/slide" Target="/ppt/slides/slide15.xml" Id="R769da91990574dca" /><Relationship Type="http://schemas.openxmlformats.org/officeDocument/2006/relationships/slide" Target="/ppt/slides/slide16.xml" Id="Rf577c65036a943dc" /><Relationship Type="http://schemas.openxmlformats.org/officeDocument/2006/relationships/slide" Target="/ppt/slides/slide17.xml" Id="R53a5c3903f004a55" /><Relationship Type="http://schemas.openxmlformats.org/officeDocument/2006/relationships/slide" Target="/ppt/slides/slide18.xml" Id="R94c0451862d34123" /><Relationship Type="http://schemas.openxmlformats.org/officeDocument/2006/relationships/slide" Target="/ppt/slides/slide19.xml" Id="Rdacb550c63354c48" /><Relationship Type="http://schemas.openxmlformats.org/officeDocument/2006/relationships/slide" Target="/ppt/slides/slide20.xml" Id="R4bdaffd26dae4c62" /><Relationship Type="http://schemas.openxmlformats.org/officeDocument/2006/relationships/slide" Target="/ppt/slides/slide21.xml" Id="R4782e6057964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3bc9e68f97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98a5e84e9f407e" /><Relationship Type="http://schemas.openxmlformats.org/officeDocument/2006/relationships/notesMaster" Target="/ppt/notesMasters/notesMaster1.xml" Id="Rdefdb8f47f78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49262c516e4b3f" /><Relationship Type="http://schemas.openxmlformats.org/officeDocument/2006/relationships/notesMaster" Target="/ppt/notesMasters/notesMaster1.xml" Id="R77a7f90f0cf548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4dd315c79f4393" /><Relationship Type="http://schemas.openxmlformats.org/officeDocument/2006/relationships/notesMaster" Target="/ppt/notesMasters/notesMaster1.xml" Id="R1f2d01ca0d844b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ebde9110bd420e" /><Relationship Type="http://schemas.openxmlformats.org/officeDocument/2006/relationships/notesMaster" Target="/ppt/notesMasters/notesMaster1.xml" Id="Ra3892ee29c6542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129b98b7ee4397" /><Relationship Type="http://schemas.openxmlformats.org/officeDocument/2006/relationships/notesMaster" Target="/ppt/notesMasters/notesMaster1.xml" Id="R84efedd63995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af80c75ec478b" /><Relationship Type="http://schemas.openxmlformats.org/officeDocument/2006/relationships/notesMaster" Target="/ppt/notesMasters/notesMaster1.xml" Id="Ra05bb96a601341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9cb12f5f754d34" /><Relationship Type="http://schemas.openxmlformats.org/officeDocument/2006/relationships/notesMaster" Target="/ppt/notesMasters/notesMaster1.xml" Id="R1d56ec6dd17642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935478486f40ac" /><Relationship Type="http://schemas.openxmlformats.org/officeDocument/2006/relationships/notesMaster" Target="/ppt/notesMasters/notesMaster1.xml" Id="Rf3361f6a4b004b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2d104e9b564fc4" /><Relationship Type="http://schemas.openxmlformats.org/officeDocument/2006/relationships/notesMaster" Target="/ppt/notesMasters/notesMaster1.xml" Id="R817c7170e82b43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d4dd9bbeb44d3e" /><Relationship Type="http://schemas.openxmlformats.org/officeDocument/2006/relationships/notesMaster" Target="/ppt/notesMasters/notesMaster1.xml" Id="R2a27bb7a6df642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b0190a3e164900" /><Relationship Type="http://schemas.openxmlformats.org/officeDocument/2006/relationships/notesMaster" Target="/ppt/notesMasters/notesMaster1.xml" Id="Rc2ab744fcd2041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566db9681046e9" /><Relationship Type="http://schemas.openxmlformats.org/officeDocument/2006/relationships/notesMaster" Target="/ppt/notesMasters/notesMaster1.xml" Id="R9a2e587e084d456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035a1c70e74b7b" /><Relationship Type="http://schemas.openxmlformats.org/officeDocument/2006/relationships/notesMaster" Target="/ppt/notesMasters/notesMaster1.xml" Id="R17b857de641b44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570912a37042af" /><Relationship Type="http://schemas.openxmlformats.org/officeDocument/2006/relationships/notesMaster" Target="/ppt/notesMasters/notesMaster1.xml" Id="R36687a5920394d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e696c5d8f648de" /><Relationship Type="http://schemas.openxmlformats.org/officeDocument/2006/relationships/notesMaster" Target="/ppt/notesMasters/notesMaster1.xml" Id="R59fdfe3e393247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ec6b151f1e4c7b" /><Relationship Type="http://schemas.openxmlformats.org/officeDocument/2006/relationships/notesMaster" Target="/ppt/notesMasters/notesMaster1.xml" Id="R9f840ae9273c47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bf922c9d96470a" /><Relationship Type="http://schemas.openxmlformats.org/officeDocument/2006/relationships/notesMaster" Target="/ppt/notesMasters/notesMaster1.xml" Id="R1cd4fb0cb4f24f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d4d77663434d67" /><Relationship Type="http://schemas.openxmlformats.org/officeDocument/2006/relationships/notesMaster" Target="/ppt/notesMasters/notesMaster1.xml" Id="Rfc63da68ee3144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e0aa6f265844140" /><Relationship Type="http://schemas.openxmlformats.org/officeDocument/2006/relationships/notesMaster" Target="/ppt/notesMasters/notesMaster1.xml" Id="Rb91e9586e11b4a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5b3a1b8fba4534" /><Relationship Type="http://schemas.openxmlformats.org/officeDocument/2006/relationships/notesMaster" Target="/ppt/notesMasters/notesMaster1.xml" Id="R4b6336690ecb44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19c0d45fe04eab" /><Relationship Type="http://schemas.openxmlformats.org/officeDocument/2006/relationships/notesMaster" Target="/ppt/notesMasters/notesMaster1.xml" Id="R5f1f2ff1fa5d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ab273362549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191e4f8d344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b13186b0046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0c444972848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70de5fd5044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08c1ac5c9464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d067934eb4f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00aad6d3945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3d4ddc8164e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1e23a3594a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6771ebc9140e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23265D-DF8C-4CC1-97B9-E2C54200C7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60FACC2-6E08-4BE0-8AEA-99242817D6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253392-224A-4D47-8086-2361A2221C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C82606-4463-46E3-A952-289A6DFB1A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93F91C-3895-4C18-B54C-997C62B79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9AC484-62A7-4665-860A-6FC1D6A55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597418D-99B6-4EA6-BE0B-CC01063CA9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CA7CD7-D032-4D03-A905-E0EA1825B3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04C2AC-4800-4DCC-8227-65201AC823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5B6EC5-900F-49BE-850E-9F2C7C395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480AA9-7E65-4F8B-B0C4-4A3C44089D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E23A2CA-19E8-4D59-8996-851436C019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B20472-19BE-4616-BEF9-46E18BA01F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F430C3C-17D1-4061-BC78-EF9E54ADC7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FF5924-F1A4-4615-B4C0-1354DF2DB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223048-24D6-4076-A4B8-0FC07C6EE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E8485A5-0819-4F31-A647-F829F308523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4FDD674-0E15-4C3B-AF72-7420146FEC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F8D6BF-37F4-4296-99B7-9B4F151F60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48DB7DC-6997-46EE-8FDA-0C44D44DD6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C3AFC7-6343-4560-AB9B-740B22EC9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AA7C09-765C-4C4E-AC9E-F893951F1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D2E22A-3A98-4EED-90D3-AD3C9CEB3A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85BC4C9-11C5-4F28-9CC7-306E536813E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CCB5848-AF29-4C06-A362-7D738F71269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FCB3BC6-EE93-4537-9E51-9EF211D0FD1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F81A377-C9F2-4BEA-932A-BBBE564412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A546EE4-1240-430A-91EE-53CAFEDE07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5487F7F-8E4C-465D-938C-9BE0216660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D45AF1E-E9EB-427C-BAF1-2C46466BDC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DA18CEC-29FB-4778-9A5E-BDB7EC4C6A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A78A5B0-2E67-4EB5-8774-16B85284F1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501E368-7581-4E43-B470-71678B95DE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8348AD5-9BBB-4DC4-B592-6DC9B4EF3D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FE54288-5547-429A-A7CD-27173EB643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10957B5-AB6F-406C-AA9B-9B41DA17D7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640227-CE83-40C0-813E-A50C73A611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50A888-6C59-4872-A183-90868A86FB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BEAAD5-7954-48E9-BAC4-0AEA6B584C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608535-4E69-4450-965C-AF1DE3C5EF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BE2A774-F0F7-4AED-9258-5182A0A7D1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55CA1D7-9403-44BC-9B42-3745AC69AA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202C7F-3362-4D0E-933F-BAE20D67A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BB622D6-321A-413B-81C7-A6B7A8E7AB1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7AF6EE1-6A53-472C-915B-71A9FB29A9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06B2BCB-1974-4F4F-8402-355E4D4A12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86BA089-EF64-4AE5-9DFE-A9247E181A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A845F65-2B2B-4014-87B5-38F0335193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A799DF-6DDB-4DE9-BA5F-B0B88EC6D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901DC5-07B9-40CD-90AD-3C3E8744E0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369D9D-1797-4C03-A912-D96EFB5C39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10C0C7-BC21-4532-BAF9-A42F101C1A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390D2-64B2-4CA6-BF4E-42FDB7208C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0AD7D63-0D59-41D5-846E-62B7479CF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60798C-C961-4BF0-B4B5-01EAAF223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54AEE7-D69F-4495-8AD1-4CA0DC5F70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525FB6-CE99-4B65-A928-695941EEC5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E30F1C-ED16-4020-A4E4-2DCFCCEC0C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af6ee99ab4d50" /><Relationship Type="http://schemas.openxmlformats.org/officeDocument/2006/relationships/slideLayout" Target="/ppt/slideLayouts/slideLayout1.xml" Id="R45114de98b464751" /><Relationship Type="http://schemas.openxmlformats.org/officeDocument/2006/relationships/slideLayout" Target="/ppt/slideLayouts/slideLayout2.xml" Id="R0d65eaf6a2324ee2" /><Relationship Type="http://schemas.openxmlformats.org/officeDocument/2006/relationships/slideLayout" Target="/ppt/slideLayouts/slideLayout3.xml" Id="R2d80cb0262d94279" /><Relationship Type="http://schemas.openxmlformats.org/officeDocument/2006/relationships/slideLayout" Target="/ppt/slideLayouts/slideLayout4.xml" Id="R7fa422551ba04b1a" /><Relationship Type="http://schemas.openxmlformats.org/officeDocument/2006/relationships/slideLayout" Target="/ppt/slideLayouts/slideLayout5.xml" Id="R54a7f8abfb394b44" /><Relationship Type="http://schemas.openxmlformats.org/officeDocument/2006/relationships/slideLayout" Target="/ppt/slideLayouts/slideLayout6.xml" Id="R34f2a180a235413b" /><Relationship Type="http://schemas.openxmlformats.org/officeDocument/2006/relationships/slideLayout" Target="/ppt/slideLayouts/slideLayout7.xml" Id="Rfcad173c5e5b4332" /><Relationship Type="http://schemas.openxmlformats.org/officeDocument/2006/relationships/slideLayout" Target="/ppt/slideLayouts/slideLayout8.xml" Id="R6ed78c162c4d42d4" /><Relationship Type="http://schemas.openxmlformats.org/officeDocument/2006/relationships/slideLayout" Target="/ppt/slideLayouts/slideLayout9.xml" Id="R40aba3763c3e4f14" /><Relationship Type="http://schemas.openxmlformats.org/officeDocument/2006/relationships/slideLayout" Target="/ppt/slideLayouts/slideLayout10.xml" Id="Rb85cd770b33c4544" /><Relationship Type="http://schemas.openxmlformats.org/officeDocument/2006/relationships/slideLayout" Target="/ppt/slideLayouts/slideLayout11.xml" Id="Rb009af587e4e4e7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C04AADF-7B13-463A-9276-055730E383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1DBCBB-7451-48D4-8243-0B6510F035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B2C750-04D3-4FE8-9E74-ABFEBEAE8D9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FA839F-7549-4457-9E08-1712A02D4F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5C1E34-D410-4D73-9B17-DCE9109CE9F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14de98b464751"/>
    <p:sldLayoutId xmlns:r="http://schemas.openxmlformats.org/officeDocument/2006/relationships" id="2147483650" r:id="R0d65eaf6a2324ee2"/>
    <p:sldLayoutId xmlns:r="http://schemas.openxmlformats.org/officeDocument/2006/relationships" id="2147483651" r:id="R2d80cb0262d94279"/>
    <p:sldLayoutId xmlns:r="http://schemas.openxmlformats.org/officeDocument/2006/relationships" id="2147483652" r:id="R7fa422551ba04b1a"/>
    <p:sldLayoutId xmlns:r="http://schemas.openxmlformats.org/officeDocument/2006/relationships" id="2147483653" r:id="R54a7f8abfb394b44"/>
    <p:sldLayoutId xmlns:r="http://schemas.openxmlformats.org/officeDocument/2006/relationships" id="2147483654" r:id="R34f2a180a235413b"/>
    <p:sldLayoutId xmlns:r="http://schemas.openxmlformats.org/officeDocument/2006/relationships" id="2147483655" r:id="Rfcad173c5e5b4332"/>
    <p:sldLayoutId xmlns:r="http://schemas.openxmlformats.org/officeDocument/2006/relationships" id="2147483656" r:id="R6ed78c162c4d42d4"/>
    <p:sldLayoutId xmlns:r="http://schemas.openxmlformats.org/officeDocument/2006/relationships" id="2147483657" r:id="R40aba3763c3e4f14"/>
    <p:sldLayoutId xmlns:r="http://schemas.openxmlformats.org/officeDocument/2006/relationships" id="2147483658" r:id="Rb85cd770b33c4544"/>
    <p:sldLayoutId xmlns:r="http://schemas.openxmlformats.org/officeDocument/2006/relationships" id="2147483659" r:id="Rb009af587e4e4e72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007fc3426b4abc" /><Relationship Type="http://schemas.openxmlformats.org/officeDocument/2006/relationships/image" Target="/ppt/media/image.png" Id="Re0d1aa9ae6a3456f" /><Relationship Type="http://schemas.openxmlformats.org/officeDocument/2006/relationships/image" Target="/ppt/media/image.jpeg" Id="R9510586313394978" /><Relationship Type="http://schemas.openxmlformats.org/officeDocument/2006/relationships/notesSlide" Target="/ppt/notesSlides/notesSlide1.xml" Id="R3e40eb70e7724d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3a6b66b5f34a93" /><Relationship Type="http://schemas.openxmlformats.org/officeDocument/2006/relationships/image" Target="/ppt/media/image.jpeg" Id="R2bb2b33a3a0d4b0a" /><Relationship Type="http://schemas.openxmlformats.org/officeDocument/2006/relationships/notesSlide" Target="/ppt/notesSlides/notesSlide2.xml" Id="R95ce2cccde4e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0aca09492b4fd4" /><Relationship Type="http://schemas.openxmlformats.org/officeDocument/2006/relationships/notesSlide" Target="/ppt/notesSlides/notesSlide3.xml" Id="R6eaea6de5eb149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f9b181407b4af8" /><Relationship Type="http://schemas.openxmlformats.org/officeDocument/2006/relationships/image" Target="/ppt/media/image2.png" Id="Ra7d654c752634947" /><Relationship Type="http://schemas.openxmlformats.org/officeDocument/2006/relationships/notesSlide" Target="/ppt/notesSlides/notesSlide4.xml" Id="Ra3c9b1a53ef043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a0e3a3e15541ad" /><Relationship Type="http://schemas.openxmlformats.org/officeDocument/2006/relationships/image" Target="/ppt/media/image.jpeg" Id="Rc585418c81ad4c96" /><Relationship Type="http://schemas.openxmlformats.org/officeDocument/2006/relationships/notesSlide" Target="/ppt/notesSlides/notesSlide5.xml" Id="Rf65e3780d02d42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1e6915b62e4044" /><Relationship Type="http://schemas.openxmlformats.org/officeDocument/2006/relationships/image" Target="/ppt/media/image.jpeg" Id="R0bcd18add18749c5" /><Relationship Type="http://schemas.openxmlformats.org/officeDocument/2006/relationships/notesSlide" Target="/ppt/notesSlides/notesSlide6.xml" Id="R593d0097a0c64a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a7574dc9764e83" /><Relationship Type="http://schemas.openxmlformats.org/officeDocument/2006/relationships/image" Target="/ppt/media/image.jpeg" Id="Ree4eaca4ae9b4535" /><Relationship Type="http://schemas.openxmlformats.org/officeDocument/2006/relationships/image" Target="/ppt/media/image3.png" Id="R0e80db87d10842f8" /><Relationship Type="http://schemas.openxmlformats.org/officeDocument/2006/relationships/notesSlide" Target="/ppt/notesSlides/notesSlide7.xml" Id="Rdbf44e810c6446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c2e5c5729947f6" /><Relationship Type="http://schemas.openxmlformats.org/officeDocument/2006/relationships/image" Target="/ppt/media/image.jpeg" Id="Re70cd046ac0f4bb5" /><Relationship Type="http://schemas.openxmlformats.org/officeDocument/2006/relationships/notesSlide" Target="/ppt/notesSlides/notesSlide8.xml" Id="R3a8f0eccaaf142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019bb63fbd4401" /><Relationship Type="http://schemas.openxmlformats.org/officeDocument/2006/relationships/image" Target="/ppt/media/image.jpeg" Id="Rb4267fe9d4f94843" /><Relationship Type="http://schemas.openxmlformats.org/officeDocument/2006/relationships/notesSlide" Target="/ppt/notesSlides/notesSlide9.xml" Id="Rda533ef2756649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a9f889646c4293" /><Relationship Type="http://schemas.openxmlformats.org/officeDocument/2006/relationships/image" Target="/ppt/media/image.jpeg" Id="R081fd811821d407c" /><Relationship Type="http://schemas.openxmlformats.org/officeDocument/2006/relationships/image" Target="/ppt/media/image4.png" Id="R81c7b730b07d4b09" /><Relationship Type="http://schemas.openxmlformats.org/officeDocument/2006/relationships/notesSlide" Target="/ppt/notesSlides/notesSlide10.xml" Id="R7a7cc90a4b8742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dbdf3c9b194426" /><Relationship Type="http://schemas.openxmlformats.org/officeDocument/2006/relationships/image" Target="/ppt/media/image.jpeg" Id="R4ba4de1b69fe40aa" /><Relationship Type="http://schemas.openxmlformats.org/officeDocument/2006/relationships/notesSlide" Target="/ppt/notesSlides/notesSlide11.xml" Id="R3ec99356030045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33d63dc26e43d3" /><Relationship Type="http://schemas.openxmlformats.org/officeDocument/2006/relationships/image" Target="/ppt/media/image.jpeg" Id="Rc24be1010baf479a" /><Relationship Type="http://schemas.openxmlformats.org/officeDocument/2006/relationships/notesSlide" Target="/ppt/notesSlides/notesSlide12.xml" Id="R3b8dabaf01ec45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7a994a66234259" /><Relationship Type="http://schemas.openxmlformats.org/officeDocument/2006/relationships/image" Target="/ppt/media/image.jpeg" Id="R0c3f794f1d804ede" /><Relationship Type="http://schemas.openxmlformats.org/officeDocument/2006/relationships/notesSlide" Target="/ppt/notesSlides/notesSlide13.xml" Id="R90d9c2a83da74c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916d45bab94a36" /><Relationship Type="http://schemas.openxmlformats.org/officeDocument/2006/relationships/image" Target="/ppt/media/image.jpeg" Id="R12c733fbd46248ba" /><Relationship Type="http://schemas.openxmlformats.org/officeDocument/2006/relationships/notesSlide" Target="/ppt/notesSlides/notesSlide14.xml" Id="R4bbe96e8a3f241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19b49d40804de2" /><Relationship Type="http://schemas.openxmlformats.org/officeDocument/2006/relationships/image" Target="/ppt/media/image.jpeg" Id="R687a7c48a4364d92" /><Relationship Type="http://schemas.openxmlformats.org/officeDocument/2006/relationships/notesSlide" Target="/ppt/notesSlides/notesSlide15.xml" Id="R51b76837628e42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35ae873f8a4d65" /><Relationship Type="http://schemas.openxmlformats.org/officeDocument/2006/relationships/image" Target="/ppt/media/image.jpeg" Id="R9b27f5166f884a99" /><Relationship Type="http://schemas.openxmlformats.org/officeDocument/2006/relationships/notesSlide" Target="/ppt/notesSlides/notesSlide16.xml" Id="Rf723b0caf76e4b2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b7b6205d1a4070" /><Relationship Type="http://schemas.openxmlformats.org/officeDocument/2006/relationships/image" Target="/ppt/media/image.jpeg" Id="R410661244f5c4105" /><Relationship Type="http://schemas.openxmlformats.org/officeDocument/2006/relationships/notesSlide" Target="/ppt/notesSlides/notesSlide17.xml" Id="Rbe19a499b08c40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3a6a3d2da241e1" /><Relationship Type="http://schemas.openxmlformats.org/officeDocument/2006/relationships/image" Target="/ppt/media/image.jpeg" Id="R9e2dd450b0cf4e56" /><Relationship Type="http://schemas.openxmlformats.org/officeDocument/2006/relationships/notesSlide" Target="/ppt/notesSlides/notesSlide18.xml" Id="Rdef12fd0ad5547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08154d3bae484b" /><Relationship Type="http://schemas.openxmlformats.org/officeDocument/2006/relationships/image" Target="/ppt/media/image.jpeg" Id="Rea783364673d48f0" /><Relationship Type="http://schemas.openxmlformats.org/officeDocument/2006/relationships/notesSlide" Target="/ppt/notesSlides/notesSlide19.xml" Id="R5a2fea3177b04a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de7812485d4bda" /><Relationship Type="http://schemas.openxmlformats.org/officeDocument/2006/relationships/image" Target="/ppt/media/image.jpeg" Id="R4c303785ee1a41c7" /><Relationship Type="http://schemas.openxmlformats.org/officeDocument/2006/relationships/notesSlide" Target="/ppt/notesSlides/notesSlide20.xml" Id="R3f0e2bca04ec46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c7d174896b4cac" /><Relationship Type="http://schemas.openxmlformats.org/officeDocument/2006/relationships/image" Target="/ppt/media/image5.png" Id="Rdf4b9ee82eab4cfc" /><Relationship Type="http://schemas.openxmlformats.org/officeDocument/2006/relationships/image" Target="/ppt/media/image.jpeg" Id="R73a978bc448b47e7" /><Relationship Type="http://schemas.openxmlformats.org/officeDocument/2006/relationships/notesSlide" Target="/ppt/notesSlides/notesSlide21.xml" Id="Ra0bde23d5f384c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409EFAF-CAC2-4C1B-BB91-FBB2A9E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0"/>
            <a:ext cx="18301810" cy="10295000"/>
          </a:xfrm>
          <a:custGeom xmlns:a="http://schemas.openxmlformats.org/drawingml/2006/main">
            <a:rect l="l" t="t" r="r" b="b"/>
            <a:pathLst>
              <a:path w="24402414" h="13726668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d1aa9ae6a3456f"/>
            <a:stretch>
              <a:fillRect l="0" t="-24" r="0" b="-2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4FB9D75-7058-480B-AA93-F139B879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851059"/>
            <a:ext cx="1990344" cy="576548"/>
          </a:xfrm>
          <a:custGeom xmlns:a="http://schemas.openxmlformats.org/drawingml/2006/main">
            <a:rect l="l" t="t" r="r" b="b"/>
            <a:pathLst>
              <a:path w="2653792" h="768731">
                <a:moveTo>
                  <a:pt x="0" y="0"/>
                </a:moveTo>
                <a:lnTo>
                  <a:pt x="2653792" y="0"/>
                </a:lnTo>
                <a:lnTo>
                  <a:pt x="2653792" y="768731"/>
                </a:lnTo>
                <a:lnTo>
                  <a:pt x="0" y="768731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C0DE82F-FF2C-47E1-B0CC-D93EE0A3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851059"/>
            <a:ext cx="1990373" cy="576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842416E-A916-4C38-A6BA-6A0B0B19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619755"/>
            <a:ext cx="11324547" cy="1784474"/>
          </a:xfrm>
          <a:custGeom xmlns:a="http://schemas.openxmlformats.org/drawingml/2006/main">
            <a:rect l="l" t="t" r="r" b="b"/>
            <a:pathLst>
              <a:path w="15099396" h="2379299">
                <a:moveTo>
                  <a:pt x="0" y="0"/>
                </a:moveTo>
                <a:lnTo>
                  <a:pt x="15099396" y="0"/>
                </a:lnTo>
                <a:lnTo>
                  <a:pt x="15099396" y="2379299"/>
                </a:lnTo>
                <a:lnTo>
                  <a:pt x="0" y="237929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73655" r="0" b="-7365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1A2F851-65D4-4D16-9610-AF00FAF0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324" y="1626898"/>
            <a:ext cx="11324549" cy="17773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5584"/>
              </a:lnSpc>
              <a:buNone/>
              <a:defRPr sz="4653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4653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PICKLEBALL COURT &amp; COACH</a:t>
            </a:r>
          </a:p>
          <a:p xmlns:a="http://schemas.openxmlformats.org/drawingml/2006/main">
            <a:pPr algn="l">
              <a:lnSpc>
                <a:spcPts val="5584"/>
              </a:lnSpc>
              <a:buNone/>
              <a:defRPr sz="4653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4653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BOOKING SYSTEM WITH AI INTEGRATION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F6E7A15-0ADF-45BC-9552-52BD155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500" y="3637578"/>
            <a:ext cx="7961500" cy="384348"/>
          </a:xfrm>
          <a:custGeom xmlns:a="http://schemas.openxmlformats.org/drawingml/2006/main">
            <a:rect l="l" t="t" r="r" b="b"/>
            <a:pathLst>
              <a:path w="10615333" h="512464">
                <a:moveTo>
                  <a:pt x="0" y="0"/>
                </a:moveTo>
                <a:lnTo>
                  <a:pt x="10615333" y="0"/>
                </a:lnTo>
                <a:lnTo>
                  <a:pt x="10615333" y="512464"/>
                </a:lnTo>
                <a:lnTo>
                  <a:pt x="0" y="51246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353618" r="0" b="-353619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E5D9330-A731-47A8-889B-2C08B815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500" y="3637578"/>
            <a:ext cx="7961500" cy="3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  <a:defRPr sz="1875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C6D5DE"/>
                </a:solidFill>
                <a:latin typeface="Arial"/>
                <a:ea typeface="Arial"/>
                <a:cs typeface="Arial"/>
              </a:rPr>
              <a:t>Đặt sân, Coach và AI trong một nền tảng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4BB8D0-2AB7-44AA-9F2F-D577D4A4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975" y="4314387"/>
            <a:ext cx="2250282" cy="747228"/>
          </a:xfrm>
          <a:custGeom xmlns:a="http://schemas.openxmlformats.org/drawingml/2006/main">
            <a:rect l="l" t="t" r="r" b="b"/>
            <a:pathLst>
              <a:path w="2323377" h="771500">
                <a:moveTo>
                  <a:pt x="0" y="192877"/>
                </a:moveTo>
                <a:cubicBezTo>
                  <a:pt x="0" y="86418"/>
                  <a:pt x="70425" y="0"/>
                  <a:pt x="157183" y="0"/>
                </a:cubicBezTo>
                <a:lnTo>
                  <a:pt x="2166195" y="0"/>
                </a:lnTo>
                <a:cubicBezTo>
                  <a:pt x="2252953" y="0"/>
                  <a:pt x="2323377" y="86418"/>
                  <a:pt x="2323377" y="192877"/>
                </a:cubicBezTo>
                <a:lnTo>
                  <a:pt x="2323377" y="578630"/>
                </a:lnTo>
                <a:cubicBezTo>
                  <a:pt x="2323377" y="685089"/>
                  <a:pt x="2252953" y="771500"/>
                  <a:pt x="2166195" y="771500"/>
                </a:cubicBezTo>
                <a:lnTo>
                  <a:pt x="157183" y="771500"/>
                </a:lnTo>
                <a:cubicBezTo>
                  <a:pt x="70425" y="771500"/>
                  <a:pt x="0" y="685089"/>
                  <a:pt x="0" y="578630"/>
                </a:cubicBezTo>
                <a:close/>
              </a:path>
            </a:pathLst>
          </a:custGeom>
          <a:solidFill xmlns:a="http://schemas.openxmlformats.org/drawingml/2006/main">
            <a:srgbClr val="C9FF2D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2EF5E01-CF9F-4205-B8CF-218D85F3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821" y="4464191"/>
            <a:ext cx="2042568" cy="537087"/>
          </a:xfrm>
          <a:custGeom xmlns:a="http://schemas.openxmlformats.org/drawingml/2006/main">
            <a:rect l="l" t="t" r="r" b="b"/>
            <a:pathLst>
              <a:path w="2108915" h="554533">
                <a:moveTo>
                  <a:pt x="0" y="0"/>
                </a:moveTo>
                <a:lnTo>
                  <a:pt x="2108915" y="0"/>
                </a:lnTo>
                <a:lnTo>
                  <a:pt x="2108915" y="554533"/>
                </a:lnTo>
                <a:lnTo>
                  <a:pt x="0" y="55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32421" r="2800" b="-11633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AC44C8E-B0C8-48BC-A420-25D8CE59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821" y="4454966"/>
            <a:ext cx="2042568" cy="546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7DD4A88-5581-42CE-9FCF-0134C818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662" y="4314387"/>
            <a:ext cx="2250282" cy="747228"/>
          </a:xfrm>
          <a:custGeom xmlns:a="http://schemas.openxmlformats.org/drawingml/2006/main">
            <a:rect l="l" t="t" r="r" b="b"/>
            <a:pathLst>
              <a:path w="2323377" h="771500">
                <a:moveTo>
                  <a:pt x="0" y="192877"/>
                </a:moveTo>
                <a:cubicBezTo>
                  <a:pt x="0" y="86418"/>
                  <a:pt x="70425" y="0"/>
                  <a:pt x="157183" y="0"/>
                </a:cubicBezTo>
                <a:lnTo>
                  <a:pt x="2166195" y="0"/>
                </a:lnTo>
                <a:cubicBezTo>
                  <a:pt x="2252953" y="0"/>
                  <a:pt x="2323377" y="86418"/>
                  <a:pt x="2323377" y="192877"/>
                </a:cubicBezTo>
                <a:lnTo>
                  <a:pt x="2323377" y="578630"/>
                </a:lnTo>
                <a:cubicBezTo>
                  <a:pt x="2323377" y="685089"/>
                  <a:pt x="2252953" y="771500"/>
                  <a:pt x="2166195" y="771500"/>
                </a:cubicBezTo>
                <a:lnTo>
                  <a:pt x="157183" y="771500"/>
                </a:lnTo>
                <a:cubicBezTo>
                  <a:pt x="70425" y="771500"/>
                  <a:pt x="0" y="685089"/>
                  <a:pt x="0" y="578630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A9707F8B-99C1-419C-8AC6-6982075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3508" y="4464191"/>
            <a:ext cx="2042568" cy="537087"/>
          </a:xfrm>
          <a:custGeom xmlns:a="http://schemas.openxmlformats.org/drawingml/2006/main">
            <a:rect l="l" t="t" r="r" b="b"/>
            <a:pathLst>
              <a:path w="2108915" h="554533">
                <a:moveTo>
                  <a:pt x="0" y="0"/>
                </a:moveTo>
                <a:lnTo>
                  <a:pt x="2108915" y="0"/>
                </a:lnTo>
                <a:lnTo>
                  <a:pt x="2108915" y="554533"/>
                </a:lnTo>
                <a:lnTo>
                  <a:pt x="0" y="55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32421" r="2800" b="-11633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77D4F077-4C06-4C42-AE4A-5EB33760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3508" y="4454966"/>
            <a:ext cx="2042568" cy="546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563A474-67BA-4EEE-9E3B-8E222B8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9337" y="4314387"/>
            <a:ext cx="2250282" cy="747228"/>
          </a:xfrm>
          <a:custGeom xmlns:a="http://schemas.openxmlformats.org/drawingml/2006/main">
            <a:rect l="l" t="t" r="r" b="b"/>
            <a:pathLst>
              <a:path w="2323377" h="771500">
                <a:moveTo>
                  <a:pt x="0" y="192877"/>
                </a:moveTo>
                <a:cubicBezTo>
                  <a:pt x="0" y="86418"/>
                  <a:pt x="70425" y="0"/>
                  <a:pt x="157183" y="0"/>
                </a:cubicBezTo>
                <a:lnTo>
                  <a:pt x="2166195" y="0"/>
                </a:lnTo>
                <a:cubicBezTo>
                  <a:pt x="2252953" y="0"/>
                  <a:pt x="2323377" y="86418"/>
                  <a:pt x="2323377" y="192877"/>
                </a:cubicBezTo>
                <a:lnTo>
                  <a:pt x="2323377" y="578630"/>
                </a:lnTo>
                <a:cubicBezTo>
                  <a:pt x="2323377" y="685089"/>
                  <a:pt x="2252953" y="771500"/>
                  <a:pt x="2166195" y="771500"/>
                </a:cubicBezTo>
                <a:lnTo>
                  <a:pt x="157183" y="771500"/>
                </a:lnTo>
                <a:cubicBezTo>
                  <a:pt x="70425" y="771500"/>
                  <a:pt x="0" y="685089"/>
                  <a:pt x="0" y="578630"/>
                </a:cubicBezTo>
                <a:close/>
              </a:path>
            </a:pathLst>
          </a:custGeom>
          <a:solidFill xmlns:a="http://schemas.openxmlformats.org/drawingml/2006/main">
            <a:srgbClr val="C9FF2D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4AF3C7A-43B4-4E8C-ABEC-0ED2435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0013" y="4346242"/>
            <a:ext cx="2148931" cy="683493"/>
          </a:xfrm>
          <a:custGeom xmlns:a="http://schemas.openxmlformats.org/drawingml/2006/main">
            <a:rect l="l" t="t" r="r" b="b"/>
            <a:pathLst>
              <a:path w="2218734" h="705695">
                <a:moveTo>
                  <a:pt x="0" y="0"/>
                </a:moveTo>
                <a:lnTo>
                  <a:pt x="2218734" y="0"/>
                </a:lnTo>
                <a:lnTo>
                  <a:pt x="2218734" y="705695"/>
                </a:lnTo>
                <a:lnTo>
                  <a:pt x="0" y="7056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25476" r="7611" b="12278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5662342-FEF1-4C60-8CE5-B70F258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0013" y="4337017"/>
            <a:ext cx="2148931" cy="6927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 Recommendation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27A5E6F6-F211-4B9C-B515-7FCF102C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9024" y="4314387"/>
            <a:ext cx="2250282" cy="747228"/>
          </a:xfrm>
          <a:custGeom xmlns:a="http://schemas.openxmlformats.org/drawingml/2006/main">
            <a:rect l="l" t="t" r="r" b="b"/>
            <a:pathLst>
              <a:path w="2323377" h="771500">
                <a:moveTo>
                  <a:pt x="0" y="192877"/>
                </a:moveTo>
                <a:cubicBezTo>
                  <a:pt x="0" y="86418"/>
                  <a:pt x="70425" y="0"/>
                  <a:pt x="157183" y="0"/>
                </a:cubicBezTo>
                <a:lnTo>
                  <a:pt x="2166195" y="0"/>
                </a:lnTo>
                <a:cubicBezTo>
                  <a:pt x="2252953" y="0"/>
                  <a:pt x="2323377" y="86418"/>
                  <a:pt x="2323377" y="192877"/>
                </a:cubicBezTo>
                <a:lnTo>
                  <a:pt x="2323377" y="578630"/>
                </a:lnTo>
                <a:cubicBezTo>
                  <a:pt x="2323377" y="685089"/>
                  <a:pt x="2252953" y="771500"/>
                  <a:pt x="2166195" y="771500"/>
                </a:cubicBezTo>
                <a:lnTo>
                  <a:pt x="157183" y="771500"/>
                </a:lnTo>
                <a:cubicBezTo>
                  <a:pt x="70425" y="771500"/>
                  <a:pt x="0" y="685089"/>
                  <a:pt x="0" y="578630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87398D3-6017-4F7A-A4E0-815F4A3B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2882" y="4464191"/>
            <a:ext cx="2042568" cy="537087"/>
          </a:xfrm>
          <a:custGeom xmlns:a="http://schemas.openxmlformats.org/drawingml/2006/main">
            <a:rect l="l" t="t" r="r" b="b"/>
            <a:pathLst>
              <a:path w="2108915" h="554533">
                <a:moveTo>
                  <a:pt x="0" y="0"/>
                </a:moveTo>
                <a:lnTo>
                  <a:pt x="2108915" y="0"/>
                </a:lnTo>
                <a:lnTo>
                  <a:pt x="2108915" y="554533"/>
                </a:lnTo>
                <a:lnTo>
                  <a:pt x="0" y="55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32421" r="2800" b="-11633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F3F95EF1-A14A-4C59-9ABD-10FAA0A6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2882" y="4454966"/>
            <a:ext cx="2042568" cy="546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 Matching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D9607229-5E37-4AA1-AB88-D021F830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8711" y="4314387"/>
            <a:ext cx="2250282" cy="747228"/>
          </a:xfrm>
          <a:custGeom xmlns:a="http://schemas.openxmlformats.org/drawingml/2006/main">
            <a:rect l="l" t="t" r="r" b="b"/>
            <a:pathLst>
              <a:path w="2323377" h="771500">
                <a:moveTo>
                  <a:pt x="0" y="192877"/>
                </a:moveTo>
                <a:cubicBezTo>
                  <a:pt x="0" y="86418"/>
                  <a:pt x="70425" y="0"/>
                  <a:pt x="157183" y="0"/>
                </a:cubicBezTo>
                <a:lnTo>
                  <a:pt x="2166195" y="0"/>
                </a:lnTo>
                <a:cubicBezTo>
                  <a:pt x="2252953" y="0"/>
                  <a:pt x="2323377" y="86418"/>
                  <a:pt x="2323377" y="192877"/>
                </a:cubicBezTo>
                <a:lnTo>
                  <a:pt x="2323377" y="578630"/>
                </a:lnTo>
                <a:cubicBezTo>
                  <a:pt x="2323377" y="685089"/>
                  <a:pt x="2252953" y="771500"/>
                  <a:pt x="2166195" y="771500"/>
                </a:cubicBezTo>
                <a:lnTo>
                  <a:pt x="157183" y="771500"/>
                </a:lnTo>
                <a:cubicBezTo>
                  <a:pt x="70425" y="771500"/>
                  <a:pt x="0" y="685089"/>
                  <a:pt x="0" y="578630"/>
                </a:cubicBezTo>
                <a:close/>
              </a:path>
            </a:pathLst>
          </a:custGeom>
          <a:solidFill xmlns:a="http://schemas.openxmlformats.org/drawingml/2006/main">
            <a:srgbClr val="C9FF2D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FF35BB3A-5128-4B61-B6C0-E9C31CAA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2569" y="4464191"/>
            <a:ext cx="2042568" cy="537087"/>
          </a:xfrm>
          <a:custGeom xmlns:a="http://schemas.openxmlformats.org/drawingml/2006/main">
            <a:rect l="l" t="t" r="r" b="b"/>
            <a:pathLst>
              <a:path w="2108915" h="554533">
                <a:moveTo>
                  <a:pt x="0" y="0"/>
                </a:moveTo>
                <a:lnTo>
                  <a:pt x="2108915" y="0"/>
                </a:lnTo>
                <a:lnTo>
                  <a:pt x="2108915" y="554533"/>
                </a:lnTo>
                <a:lnTo>
                  <a:pt x="0" y="5545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32421" r="2800" b="-11633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783354BB-567B-44BB-957C-DE344446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2569" y="4454966"/>
            <a:ext cx="2042568" cy="546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Realtime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2961615-EEA0-4A7B-A277-2B8A61D7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975" y="7842152"/>
            <a:ext cx="9755624" cy="2028767"/>
          </a:xfrm>
          <a:custGeom xmlns:a="http://schemas.openxmlformats.org/drawingml/2006/main">
            <a:rect l="l" t="t" r="r" b="b"/>
            <a:pathLst>
              <a:path w="10366248" h="2155752">
                <a:moveTo>
                  <a:pt x="0" y="215560"/>
                </a:moveTo>
                <a:cubicBezTo>
                  <a:pt x="0" y="96493"/>
                  <a:pt x="83058" y="0"/>
                  <a:pt x="185547" y="0"/>
                </a:cubicBezTo>
                <a:lnTo>
                  <a:pt x="10180701" y="0"/>
                </a:lnTo>
                <a:cubicBezTo>
                  <a:pt x="10283190" y="0"/>
                  <a:pt x="10366248" y="96493"/>
                  <a:pt x="10366248" y="215560"/>
                </a:cubicBezTo>
                <a:lnTo>
                  <a:pt x="10366248" y="1940191"/>
                </a:lnTo>
                <a:cubicBezTo>
                  <a:pt x="10366248" y="2059259"/>
                  <a:pt x="10283190" y="2155752"/>
                  <a:pt x="10180701" y="2155752"/>
                </a:cubicBezTo>
                <a:lnTo>
                  <a:pt x="185547" y="2155752"/>
                </a:lnTo>
                <a:cubicBezTo>
                  <a:pt x="83058" y="2155752"/>
                  <a:pt x="0" y="2059259"/>
                  <a:pt x="0" y="1940191"/>
                </a:cubicBezTo>
                <a:close/>
              </a:path>
            </a:pathLst>
          </a:custGeom>
          <a:solidFill xmlns:a="http://schemas.openxmlformats.org/drawingml/2006/main">
            <a:srgbClr val="06111F">
              <a:alpha val="63922"/>
            </a:srgbClr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6A4F15AA-8FC1-455E-8FE4-BC72A8A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683" y="8067263"/>
            <a:ext cx="9032181" cy="1578448"/>
          </a:xfrm>
          <a:custGeom xmlns:a="http://schemas.openxmlformats.org/drawingml/2006/main">
            <a:rect l="l" t="t" r="r" b="b"/>
            <a:pathLst>
              <a:path w="9242661" h="1615232">
                <a:moveTo>
                  <a:pt x="0" y="0"/>
                </a:moveTo>
                <a:lnTo>
                  <a:pt x="9242661" y="0"/>
                </a:lnTo>
                <a:lnTo>
                  <a:pt x="9242661" y="1615232"/>
                </a:lnTo>
                <a:lnTo>
                  <a:pt x="0" y="161523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10586313394978">
              <a:alphaModFix amt="0"/>
            </a:blip>
            <a:stretch>
              <a:fillRect l="0" t="-76370" r="0" b="-46623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32FC94A7-D53C-4F6F-ACE2-5EDCAAE5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683" y="8076571"/>
            <a:ext cx="9032186" cy="156914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 sz="2325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Nhóm 6 · SE20A05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2325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GVHD: Thầy HoangTV</a:t>
            </a:r>
          </a:p>
        </p:txBody>
      </p:sp>
    </p:spTree>
    <p:extLst>
      <p:ext uri="{BB962C8B-B14F-4D97-AF65-F5344CB8AC3E}">
        <p14:creationId xmlns:p14="http://schemas.microsoft.com/office/powerpoint/2010/main" val="1798559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E805EE2-2022-4F8D-98A6-98FA2C4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736230B-AB88-45DC-8750-875E353B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4C04F6B-D996-45B3-9434-8EAC02CB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661F355-993C-4E1C-BBB8-03C0F7ED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A1A20BE-CF90-4AAD-A791-72ADDF89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 &amp; Solution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2BBDC67-88EB-4EE1-A1DB-395D11CB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801"/>
          </a:xfrm>
          <a:custGeom xmlns:a="http://schemas.openxmlformats.org/drawingml/2006/main">
            <a:rect l="l" t="t" r="r" b="b"/>
            <a:pathLst>
              <a:path w="19400436" h="549069">
                <a:moveTo>
                  <a:pt x="0" y="0"/>
                </a:moveTo>
                <a:lnTo>
                  <a:pt x="19400436" y="0"/>
                </a:lnTo>
                <a:lnTo>
                  <a:pt x="19400436" y="549069"/>
                </a:lnTo>
                <a:lnTo>
                  <a:pt x="0" y="54906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0" t="-638470" r="0" b="-63847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6D0026DE-89B9-4ADB-BEFE-5EFAB9F4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PCS xử lý trùng lịch, vận hành phân mảnh và ghép cặp bằng realtime + AI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23716EE2-64BC-4061-B164-E74E04B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5B1BFC1-5BCE-45FA-8D5E-8099A6D9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939661"/>
            <a:ext cx="7225569" cy="6676548"/>
          </a:xfrm>
          <a:custGeom xmlns:a="http://schemas.openxmlformats.org/drawingml/2006/main">
            <a:rect l="l" t="t" r="r" b="b"/>
            <a:pathLst>
              <a:path w="9634093" h="8902065">
                <a:moveTo>
                  <a:pt x="0" y="220218"/>
                </a:moveTo>
                <a:cubicBezTo>
                  <a:pt x="0" y="98552"/>
                  <a:pt x="98552" y="0"/>
                  <a:pt x="220218" y="0"/>
                </a:cubicBezTo>
                <a:lnTo>
                  <a:pt x="9413875" y="0"/>
                </a:lnTo>
                <a:cubicBezTo>
                  <a:pt x="9535541" y="0"/>
                  <a:pt x="9634093" y="98552"/>
                  <a:pt x="9634093" y="220218"/>
                </a:cubicBezTo>
                <a:lnTo>
                  <a:pt x="9634093" y="8681847"/>
                </a:lnTo>
                <a:cubicBezTo>
                  <a:pt x="9634093" y="8803513"/>
                  <a:pt x="9535541" y="8902065"/>
                  <a:pt x="9413875" y="8902065"/>
                </a:cubicBezTo>
                <a:lnTo>
                  <a:pt x="220218" y="8902065"/>
                </a:lnTo>
                <a:cubicBezTo>
                  <a:pt x="98552" y="8902065"/>
                  <a:pt x="0" y="8803386"/>
                  <a:pt x="0" y="868184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FEFA797-E78A-46D2-AE3E-A502FF16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113912"/>
            <a:ext cx="6547648" cy="473605"/>
          </a:xfrm>
          <a:custGeom xmlns:a="http://schemas.openxmlformats.org/drawingml/2006/main">
            <a:rect l="l" t="t" r="r" b="b"/>
            <a:pathLst>
              <a:path w="8730197" h="631474">
                <a:moveTo>
                  <a:pt x="0" y="0"/>
                </a:moveTo>
                <a:lnTo>
                  <a:pt x="8730197" y="0"/>
                </a:lnTo>
                <a:lnTo>
                  <a:pt x="8730197" y="631474"/>
                </a:lnTo>
                <a:lnTo>
                  <a:pt x="0" y="6314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0" t="-239930" r="-2515" b="-212389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3B5985E-8C2D-4ACF-9691-5F5224D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113912"/>
            <a:ext cx="6547652" cy="4736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00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250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Vấn đề thực tế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BE2BFFD6-6A5D-4679-95D8-FCD2E7DD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971429"/>
            <a:ext cx="6712367" cy="4922209"/>
          </a:xfrm>
          <a:custGeom xmlns:a="http://schemas.openxmlformats.org/drawingml/2006/main">
            <a:rect l="l" t="t" r="r" b="b"/>
            <a:pathLst>
              <a:path w="8949824" h="6562946">
                <a:moveTo>
                  <a:pt x="0" y="0"/>
                </a:moveTo>
                <a:lnTo>
                  <a:pt x="8949824" y="0"/>
                </a:lnTo>
                <a:lnTo>
                  <a:pt x="8949824" y="6562946"/>
                </a:lnTo>
                <a:lnTo>
                  <a:pt x="0" y="656294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-62036" t="0" r="-62036" b="-19078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C47E5878-85C7-4579-A496-C3362025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978572"/>
            <a:ext cx="6712372" cy="4915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1. Double Booking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Đặt thủ công dễ gây trùng lịch.</a:t>
            </a:r>
          </a:p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2. Khó tìm Coach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Khó chọn đúng Coach theo nhu cầu.</a:t>
            </a:r>
          </a:p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3. Quản lý rời rạc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Lịch, doanh thu và hoàn tiền khó kiểm soát.</a:t>
            </a:r>
          </a:p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4. Khó ghép cặp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Người chơi đơn khó tìm bạn cùng trình độ.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084871E1-EC1B-470D-BA7D-BE345755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3990" y="4667088"/>
            <a:ext cx="343167" cy="480434"/>
          </a:xfrm>
          <a:custGeom xmlns:a="http://schemas.openxmlformats.org/drawingml/2006/main">
            <a:rect l="l" t="t" r="r" b="b"/>
            <a:pathLst>
              <a:path w="457557" h="640580">
                <a:moveTo>
                  <a:pt x="0" y="0"/>
                </a:moveTo>
                <a:lnTo>
                  <a:pt x="457557" y="0"/>
                </a:lnTo>
                <a:lnTo>
                  <a:pt x="457557" y="640580"/>
                </a:lnTo>
                <a:lnTo>
                  <a:pt x="0" y="6405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-129623" t="0" r="-129623" b="0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7A03D17C-2DEC-4298-AE4E-4856431D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3990" y="4667088"/>
            <a:ext cx="343167" cy="4804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683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E202054F-D1ED-46FE-B347-4E533EDA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2338" y="1939661"/>
            <a:ext cx="7225569" cy="6676548"/>
          </a:xfrm>
          <a:custGeom xmlns:a="http://schemas.openxmlformats.org/drawingml/2006/main">
            <a:rect l="l" t="t" r="r" b="b"/>
            <a:pathLst>
              <a:path w="9634093" h="8902065">
                <a:moveTo>
                  <a:pt x="0" y="220218"/>
                </a:moveTo>
                <a:cubicBezTo>
                  <a:pt x="0" y="98552"/>
                  <a:pt x="98552" y="0"/>
                  <a:pt x="220218" y="0"/>
                </a:cubicBezTo>
                <a:lnTo>
                  <a:pt x="9413875" y="0"/>
                </a:lnTo>
                <a:cubicBezTo>
                  <a:pt x="9535541" y="0"/>
                  <a:pt x="9634093" y="98552"/>
                  <a:pt x="9634093" y="220218"/>
                </a:cubicBezTo>
                <a:lnTo>
                  <a:pt x="9634093" y="8681847"/>
                </a:lnTo>
                <a:cubicBezTo>
                  <a:pt x="9634093" y="8803513"/>
                  <a:pt x="9535541" y="8902065"/>
                  <a:pt x="9413875" y="8902065"/>
                </a:cubicBezTo>
                <a:lnTo>
                  <a:pt x="220218" y="8902065"/>
                </a:lnTo>
                <a:cubicBezTo>
                  <a:pt x="98552" y="8902065"/>
                  <a:pt x="0" y="8803386"/>
                  <a:pt x="0" y="868184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85A20D6-A0D6-4F51-8433-4A7DE00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8960" y="2113912"/>
            <a:ext cx="6712367" cy="464066"/>
          </a:xfrm>
          <a:custGeom xmlns:a="http://schemas.openxmlformats.org/drawingml/2006/main">
            <a:rect l="l" t="t" r="r" b="b"/>
            <a:pathLst>
              <a:path w="8949824" h="618755">
                <a:moveTo>
                  <a:pt x="0" y="0"/>
                </a:moveTo>
                <a:lnTo>
                  <a:pt x="8949824" y="0"/>
                </a:lnTo>
                <a:lnTo>
                  <a:pt x="8949824" y="618755"/>
                </a:lnTo>
                <a:lnTo>
                  <a:pt x="0" y="6187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0" t="-244862" r="0" b="-218810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203F5F6-D00F-4514-8EF2-7131C0D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8960" y="2121055"/>
            <a:ext cx="6712372" cy="4569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499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Giải pháp đề xuất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457888A4-DAF2-48E9-B3AD-EC0F4CB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8951" y="2785672"/>
            <a:ext cx="6712367" cy="5293721"/>
          </a:xfrm>
          <a:custGeom xmlns:a="http://schemas.openxmlformats.org/drawingml/2006/main">
            <a:rect l="l" t="t" r="r" b="b"/>
            <a:pathLst>
              <a:path w="8949824" h="7058296">
                <a:moveTo>
                  <a:pt x="0" y="0"/>
                </a:moveTo>
                <a:lnTo>
                  <a:pt x="8949824" y="0"/>
                </a:lnTo>
                <a:lnTo>
                  <a:pt x="8949824" y="7058296"/>
                </a:lnTo>
                <a:lnTo>
                  <a:pt x="0" y="70582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b2b33a3a0d4b0a">
              <a:alphaModFix amt="0"/>
            </a:blip>
            <a:stretch>
              <a:fillRect l="-62036" t="0" r="-62036" b="-10721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A86EDC0-DDED-4496-BF79-DD0C0453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8951" y="2792815"/>
            <a:ext cx="6712372" cy="52865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1. Khóa giao dịch + giữ slot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Giữ slot 10 phút, chống double booking.</a:t>
            </a:r>
          </a:p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2. AI gợi ý Coach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Chấm điểm 0–100 theo mục tiêu và ngân sách.</a:t>
            </a:r>
          </a:p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3. Dashboard tập trung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Quản lý sân, Coach, doanh thu và hoàn tiền.</a:t>
            </a:r>
          </a:p>
          <a:p xmlns:a="http://schemas.openxmlformats.org/drawingml/2006/main">
            <a:pPr algn="l">
              <a:lnSpc>
                <a:spcPts val="2999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4. Player Matching AI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499">
                <a:solidFill>
                  <a:srgbClr val="EEF4F7"/>
                </a:solidFill>
                <a:latin typeface="Arial"/>
                <a:ea typeface="Arial"/>
                <a:cs typeface="Arial"/>
              </a:rPr>
              <a:t>Ghép theo trình độ và thời gian rảnh.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C4F6B35-D7A1-4E79-8240-103D4C13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8991000"/>
            <a:ext cx="15030735" cy="480444"/>
          </a:xfrm>
          <a:custGeom xmlns:a="http://schemas.openxmlformats.org/drawingml/2006/main">
            <a:rect l="l" t="t" r="r" b="b"/>
            <a:pathLst>
              <a:path w="20040981" h="640593">
                <a:moveTo>
                  <a:pt x="0" y="0"/>
                </a:moveTo>
                <a:lnTo>
                  <a:pt x="20040981" y="0"/>
                </a:lnTo>
                <a:lnTo>
                  <a:pt x="20040981" y="640593"/>
                </a:lnTo>
                <a:lnTo>
                  <a:pt x="0" y="640593"/>
                </a:lnTo>
                <a:close/>
              </a:path>
            </a:pathLst>
          </a:custGeom>
          <a:solidFill xmlns:a="http://schemas.openxmlformats.org/drawingml/2006/main">
            <a:srgbClr val="12395F">
              <a:alpha val="80784"/>
            </a:srgbClr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D52BF966-F537-4DF7-9011-CD0615B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8955282"/>
            <a:ext cx="15030764" cy="5161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ts val="2800"/>
              </a:lnSpc>
              <a:spcBef>
                <a:spcPts val="0"/>
              </a:spcBef>
              <a:buNone/>
              <a:defRPr sz="1950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Mục tiêu: Số hóa toàn bộ quy trình đặt sân Pickleball và nâng trải nghiệm người chơi bằng AI.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6839B2B8-419D-4B51-AF03-E1A6761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127E9CC8-B08F-4BD5-9A8A-1B44D9FA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501167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73C7137-E858-4836-B4CC-9904A53E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270EEB3-A576-42F8-A716-7E530F5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AA2D316-26E2-414A-836A-F91ED540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22A19B1-6228-46B0-ACE2-D0BA2C33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802397"/>
            <a:ext cx="2737009" cy="5990272"/>
          </a:xfrm>
          <a:custGeom xmlns:a="http://schemas.openxmlformats.org/drawingml/2006/main">
            <a:rect l="l" t="t" r="r" b="b"/>
            <a:pathLst>
              <a:path w="3649345" h="798703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3428111" y="0"/>
                </a:lnTo>
                <a:cubicBezTo>
                  <a:pt x="3550285" y="0"/>
                  <a:pt x="3649345" y="99060"/>
                  <a:pt x="3649345" y="221234"/>
                </a:cubicBezTo>
                <a:lnTo>
                  <a:pt x="3649345" y="7765796"/>
                </a:lnTo>
                <a:cubicBezTo>
                  <a:pt x="3649345" y="7887970"/>
                  <a:pt x="3550285" y="7987030"/>
                  <a:pt x="3428111" y="7987030"/>
                </a:cubicBezTo>
                <a:lnTo>
                  <a:pt x="221234" y="7987030"/>
                </a:lnTo>
                <a:cubicBezTo>
                  <a:pt x="99060" y="7986903"/>
                  <a:pt x="0" y="7887843"/>
                  <a:pt x="0" y="7765796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C4EACAD-83D1-4FCD-A4A8-6BF6C623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461" y="2031559"/>
            <a:ext cx="658843" cy="658843"/>
          </a:xfrm>
          <a:custGeom xmlns:a="http://schemas.openxmlformats.org/drawingml/2006/main">
            <a:rect l="l" t="t" r="r" b="b"/>
            <a:pathLst>
              <a:path w="878459" h="878459">
                <a:moveTo>
                  <a:pt x="0" y="0"/>
                </a:moveTo>
                <a:lnTo>
                  <a:pt x="878459" y="0"/>
                </a:lnTo>
                <a:lnTo>
                  <a:pt x="878459" y="878459"/>
                </a:lnTo>
                <a:lnTo>
                  <a:pt x="0" y="878459"/>
                </a:lnTo>
                <a:close/>
              </a:path>
            </a:pathLst>
          </a:custGeom>
          <a:solidFill xmlns:a="http://schemas.openxmlformats.org/drawingml/2006/main">
            <a:srgbClr val="4FE3D3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A1A5C1E-3639-47F4-B517-ECD7CBE1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461" y="2031559"/>
            <a:ext cx="658882" cy="6588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BCAE6EF-36DF-4786-BDC0-9846110E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9357" y="1802397"/>
            <a:ext cx="2737009" cy="5990272"/>
          </a:xfrm>
          <a:custGeom xmlns:a="http://schemas.openxmlformats.org/drawingml/2006/main">
            <a:rect l="l" t="t" r="r" b="b"/>
            <a:pathLst>
              <a:path w="3649345" h="798703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3428111" y="0"/>
                </a:lnTo>
                <a:cubicBezTo>
                  <a:pt x="3550285" y="0"/>
                  <a:pt x="3649345" y="99060"/>
                  <a:pt x="3649345" y="221234"/>
                </a:cubicBezTo>
                <a:lnTo>
                  <a:pt x="3649345" y="7765796"/>
                </a:lnTo>
                <a:cubicBezTo>
                  <a:pt x="3649345" y="7887970"/>
                  <a:pt x="3550285" y="7987030"/>
                  <a:pt x="3428111" y="7987030"/>
                </a:cubicBezTo>
                <a:lnTo>
                  <a:pt x="221234" y="7987030"/>
                </a:lnTo>
                <a:cubicBezTo>
                  <a:pt x="99060" y="7986903"/>
                  <a:pt x="0" y="7887843"/>
                  <a:pt x="0" y="7765796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1AE5222-5BC9-4547-8C02-A067DD62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8706" y="2031559"/>
            <a:ext cx="658843" cy="658843"/>
          </a:xfrm>
          <a:custGeom xmlns:a="http://schemas.openxmlformats.org/drawingml/2006/main">
            <a:rect l="l" t="t" r="r" b="b"/>
            <a:pathLst>
              <a:path w="878459" h="878459">
                <a:moveTo>
                  <a:pt x="0" y="0"/>
                </a:moveTo>
                <a:lnTo>
                  <a:pt x="878459" y="0"/>
                </a:lnTo>
                <a:lnTo>
                  <a:pt x="878459" y="878459"/>
                </a:lnTo>
                <a:lnTo>
                  <a:pt x="0" y="87845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C74ED96-6625-448C-BDB4-FA47A091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8706" y="2031559"/>
            <a:ext cx="658882" cy="6588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75B5C53-7529-4E3D-8DE6-C09D6E93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602" y="1802397"/>
            <a:ext cx="2737009" cy="5990272"/>
          </a:xfrm>
          <a:custGeom xmlns:a="http://schemas.openxmlformats.org/drawingml/2006/main">
            <a:rect l="l" t="t" r="r" b="b"/>
            <a:pathLst>
              <a:path w="3649345" h="798703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3428111" y="0"/>
                </a:lnTo>
                <a:cubicBezTo>
                  <a:pt x="3550285" y="0"/>
                  <a:pt x="3649345" y="99060"/>
                  <a:pt x="3649345" y="221234"/>
                </a:cubicBezTo>
                <a:lnTo>
                  <a:pt x="3649345" y="7765796"/>
                </a:lnTo>
                <a:cubicBezTo>
                  <a:pt x="3649345" y="7887970"/>
                  <a:pt x="3550285" y="7987030"/>
                  <a:pt x="3428111" y="7987030"/>
                </a:cubicBezTo>
                <a:lnTo>
                  <a:pt x="221234" y="7987030"/>
                </a:lnTo>
                <a:cubicBezTo>
                  <a:pt x="99060" y="7986903"/>
                  <a:pt x="0" y="7887843"/>
                  <a:pt x="0" y="7765796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AFCA73E-1450-4455-BDF9-6E88A9BE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9951" y="2031559"/>
            <a:ext cx="658843" cy="658843"/>
          </a:xfrm>
          <a:custGeom xmlns:a="http://schemas.openxmlformats.org/drawingml/2006/main">
            <a:rect l="l" t="t" r="r" b="b"/>
            <a:pathLst>
              <a:path w="878459" h="878459">
                <a:moveTo>
                  <a:pt x="0" y="0"/>
                </a:moveTo>
                <a:lnTo>
                  <a:pt x="878459" y="0"/>
                </a:lnTo>
                <a:lnTo>
                  <a:pt x="878459" y="878459"/>
                </a:lnTo>
                <a:lnTo>
                  <a:pt x="0" y="878459"/>
                </a:lnTo>
                <a:close/>
              </a:path>
            </a:pathLst>
          </a:custGeom>
          <a:solidFill xmlns:a="http://schemas.openxmlformats.org/drawingml/2006/main">
            <a:srgbClr val="4FE3D3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18D6678-D0FD-4B3D-A879-828EF2ED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9951" y="2031559"/>
            <a:ext cx="658882" cy="6588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61A3B06-7EAF-45CD-B120-A48FF101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1848" y="1802397"/>
            <a:ext cx="2737009" cy="5990272"/>
          </a:xfrm>
          <a:custGeom xmlns:a="http://schemas.openxmlformats.org/drawingml/2006/main">
            <a:rect l="l" t="t" r="r" b="b"/>
            <a:pathLst>
              <a:path w="3649345" h="798703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3428111" y="0"/>
                </a:lnTo>
                <a:cubicBezTo>
                  <a:pt x="3550285" y="0"/>
                  <a:pt x="3649345" y="99060"/>
                  <a:pt x="3649345" y="221234"/>
                </a:cubicBezTo>
                <a:lnTo>
                  <a:pt x="3649345" y="7765796"/>
                </a:lnTo>
                <a:cubicBezTo>
                  <a:pt x="3649345" y="7887970"/>
                  <a:pt x="3550285" y="7987030"/>
                  <a:pt x="3428111" y="7987030"/>
                </a:cubicBezTo>
                <a:lnTo>
                  <a:pt x="221234" y="7987030"/>
                </a:lnTo>
                <a:cubicBezTo>
                  <a:pt x="99060" y="7986903"/>
                  <a:pt x="0" y="7887843"/>
                  <a:pt x="0" y="7765796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1A2D1365-473F-4C23-A224-584C98C2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196" y="2031559"/>
            <a:ext cx="658843" cy="658843"/>
          </a:xfrm>
          <a:custGeom xmlns:a="http://schemas.openxmlformats.org/drawingml/2006/main">
            <a:rect l="l" t="t" r="r" b="b"/>
            <a:pathLst>
              <a:path w="878459" h="878459">
                <a:moveTo>
                  <a:pt x="0" y="0"/>
                </a:moveTo>
                <a:lnTo>
                  <a:pt x="878459" y="0"/>
                </a:lnTo>
                <a:lnTo>
                  <a:pt x="878459" y="878459"/>
                </a:lnTo>
                <a:lnTo>
                  <a:pt x="0" y="878459"/>
                </a:lnTo>
                <a:close/>
              </a:path>
            </a:pathLst>
          </a:custGeom>
          <a:solidFill xmlns:a="http://schemas.openxmlformats.org/drawingml/2006/main">
            <a:srgbClr val="4FE3D3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D05411A-F04F-44AB-8552-3AB5CA5A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1196" y="2031559"/>
            <a:ext cx="658882" cy="6588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5F03362-520C-4C77-849B-22ABDE2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3093" y="1802397"/>
            <a:ext cx="2737009" cy="5990272"/>
          </a:xfrm>
          <a:custGeom xmlns:a="http://schemas.openxmlformats.org/drawingml/2006/main">
            <a:rect l="l" t="t" r="r" b="b"/>
            <a:pathLst>
              <a:path w="3649345" h="7987030">
                <a:moveTo>
                  <a:pt x="0" y="221234"/>
                </a:moveTo>
                <a:cubicBezTo>
                  <a:pt x="0" y="99060"/>
                  <a:pt x="99060" y="0"/>
                  <a:pt x="221234" y="0"/>
                </a:cubicBezTo>
                <a:lnTo>
                  <a:pt x="3428111" y="0"/>
                </a:lnTo>
                <a:cubicBezTo>
                  <a:pt x="3550285" y="0"/>
                  <a:pt x="3649345" y="99060"/>
                  <a:pt x="3649345" y="221234"/>
                </a:cubicBezTo>
                <a:lnTo>
                  <a:pt x="3649345" y="7765796"/>
                </a:lnTo>
                <a:cubicBezTo>
                  <a:pt x="3649345" y="7887970"/>
                  <a:pt x="3550285" y="7987030"/>
                  <a:pt x="3428111" y="7987030"/>
                </a:cubicBezTo>
                <a:lnTo>
                  <a:pt x="221234" y="7987030"/>
                </a:lnTo>
                <a:cubicBezTo>
                  <a:pt x="99060" y="7986903"/>
                  <a:pt x="0" y="7887843"/>
                  <a:pt x="0" y="7765796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4E9533F-1B58-47F0-A1D5-1B1512F7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2441" y="2031559"/>
            <a:ext cx="658843" cy="658843"/>
          </a:xfrm>
          <a:custGeom xmlns:a="http://schemas.openxmlformats.org/drawingml/2006/main">
            <a:rect l="l" t="t" r="r" b="b"/>
            <a:pathLst>
              <a:path w="878459" h="878459">
                <a:moveTo>
                  <a:pt x="0" y="0"/>
                </a:moveTo>
                <a:lnTo>
                  <a:pt x="878459" y="0"/>
                </a:lnTo>
                <a:lnTo>
                  <a:pt x="878459" y="878459"/>
                </a:lnTo>
                <a:lnTo>
                  <a:pt x="0" y="878459"/>
                </a:lnTo>
                <a:close/>
              </a:path>
            </a:pathLst>
          </a:custGeom>
          <a:solidFill xmlns:a="http://schemas.openxmlformats.org/drawingml/2006/main">
            <a:srgbClr val="4FE3D3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477C7327-3FBB-45DA-BD5A-9D0F604D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2441" y="2031559"/>
            <a:ext cx="658882" cy="6588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60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2B526F12-D7B1-4A7F-817F-3D0CF86B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8157867"/>
            <a:ext cx="14542007" cy="1185862"/>
          </a:xfrm>
          <a:custGeom xmlns:a="http://schemas.openxmlformats.org/drawingml/2006/main">
            <a:rect l="l" t="t" r="r" b="b"/>
            <a:pathLst>
              <a:path w="19389344" h="1581150">
                <a:moveTo>
                  <a:pt x="0" y="223266"/>
                </a:moveTo>
                <a:cubicBezTo>
                  <a:pt x="0" y="99949"/>
                  <a:pt x="99949" y="0"/>
                  <a:pt x="223266" y="0"/>
                </a:cubicBezTo>
                <a:lnTo>
                  <a:pt x="19166078" y="0"/>
                </a:lnTo>
                <a:cubicBezTo>
                  <a:pt x="19289395" y="0"/>
                  <a:pt x="19389344" y="99949"/>
                  <a:pt x="19389344" y="223266"/>
                </a:cubicBezTo>
                <a:lnTo>
                  <a:pt x="19389344" y="1357884"/>
                </a:lnTo>
                <a:cubicBezTo>
                  <a:pt x="19389344" y="1481201"/>
                  <a:pt x="19289395" y="1581150"/>
                  <a:pt x="19166078" y="1581150"/>
                </a:cubicBezTo>
                <a:lnTo>
                  <a:pt x="223266" y="1581150"/>
                </a:lnTo>
                <a:cubicBezTo>
                  <a:pt x="99949" y="1581150"/>
                  <a:pt x="0" y="1481201"/>
                  <a:pt x="0" y="1357884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F8F0844-8643-4795-8593-475AA43F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6117DC39-3814-40E6-B55A-1187BE8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AFECB28-6EB2-4FC9-9118-AADDAABB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6626" y="8870349"/>
            <a:ext cx="3416290" cy="424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73"/>
              </a:lnSpc>
              <a:spcBef>
                <a:spcPts val="0"/>
              </a:spcBef>
              <a:buNone/>
              <a:defRPr sz="1275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275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Coach Matching · Smart Scheduler · Roadmap AI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922C3C6-ACA1-4718-9EB3-65C1C5A0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6626" y="8642542"/>
            <a:ext cx="3416290" cy="24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52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394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AI Service · FastAPI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CD66F1FA-2B1F-4B4E-9CDB-5C92531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0542" y="8870349"/>
            <a:ext cx="3416290" cy="212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73"/>
              </a:lnSpc>
              <a:spcBef>
                <a:spcPts val="0"/>
              </a:spcBef>
              <a:buNone/>
              <a:defRPr sz="1275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275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Realtime &lt; 5 giây</a:t>
            </a:r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616070E1-FC5D-4B10-84EA-F2005E1A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0542" y="8642542"/>
            <a:ext cx="3416290" cy="24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52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394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Socket.IO Notification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1CBD826D-8741-441F-9D64-3F374B9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459" y="8870349"/>
            <a:ext cx="3416290" cy="212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73"/>
              </a:lnSpc>
              <a:spcBef>
                <a:spcPts val="0"/>
              </a:spcBef>
              <a:buNone/>
              <a:defRPr sz="1275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275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Xác nhận booking · nhắc trước 60 phút</a:t>
            </a:r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3698433C-BF90-4991-91EC-0F709768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459" y="8642542"/>
            <a:ext cx="3416290" cy="24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52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394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Email Service</a:t>
            </a:r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A1AFD1F7-0C66-475F-B9D3-15C8C272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8870349"/>
            <a:ext cx="3416290" cy="2124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73"/>
              </a:lnSpc>
              <a:spcBef>
                <a:spcPts val="0"/>
              </a:spcBef>
              <a:buNone/>
              <a:defRPr sz="1275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275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PayOS/MoMo · Webhook xác nhận</a:t>
            </a:r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1C09E1B5-D741-40D0-84A0-E63FFED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8642542"/>
            <a:ext cx="3416290" cy="247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952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394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Payment Gateway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5E5A58E4-6D7D-4113-B5FD-173AA0C8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033" y="8345033"/>
            <a:ext cx="2846908" cy="230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813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295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HỆ THỐNG NGOÀI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B9132D5-7119-47FD-8E60-551098E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9375" y="7032699"/>
            <a:ext cx="2495550" cy="7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UC-53–61 · Full system control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D83A1A6B-B6A2-4D9F-8375-7FC8176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9375" y="5756089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Phân quyền &amp; Audit Log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3E5072F8-1C6A-49CF-8372-421EC3B8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2174" y="5055123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Doanh thu &amp; AI Dashboard</a:t>
            </a:r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C62CB54A-EAEC-4845-A1D2-DB0DFA11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3255" y="4363683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Lập lịch bảo trì sân</a:t>
            </a:r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6A844642-EA6E-4235-A239-2F96B401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3255" y="3664622"/>
            <a:ext cx="254167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Cấu hình giá &amp; luật hoàn tiền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61373C06-8179-4983-8692-2435AB3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5024" y="2975216"/>
            <a:ext cx="280781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Quản lý sân / Coach / promotion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4DB56C8E-7BE2-4684-BD2A-06E4C59C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2381250"/>
            <a:ext cx="1781175" cy="195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40"/>
              </a:lnSpc>
              <a:spcBef>
                <a:spcPts val="0"/>
              </a:spcBef>
              <a:buNone/>
              <a:defRPr sz="1350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35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Quản trị hệ thống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3700EC6F-04BC-4AD1-9F15-453ED3A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63750" y="2105025"/>
            <a:ext cx="178117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264EA1A-9ABC-4B67-88BF-E4F46717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6625" y="7032699"/>
            <a:ext cx="2495550" cy="7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UC-47–52 · On-site operations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2C21EA81-4187-4263-B0F7-E6ED3848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7129" y="5205618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Báo cáo sự cố &amp; bảo trì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F18DDA00-3D0F-43CB-B1E1-490962E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7604" y="4790366"/>
            <a:ext cx="24955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Xử lý no-show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C85B8B7B-A292-4A51-967D-23B2BBE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7604" y="4375113"/>
            <a:ext cx="24955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Theo dõi lịch sân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FAF45F63-1588-470E-A947-4AC27049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7604" y="3664622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Xác nhận Coach đúng giờ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9F4D4962-F61E-444A-A997-945D002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7604" y="2957830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Check-in Player tại sân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847945E4-6B82-4B45-8FEF-B1286C7F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2381250"/>
            <a:ext cx="1781175" cy="195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40"/>
              </a:lnSpc>
              <a:spcBef>
                <a:spcPts val="0"/>
              </a:spcBef>
              <a:buNone/>
              <a:defRPr sz="1350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35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Vận hành tại sân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BFF91B02-29AC-4C3C-9E9E-FAAE2632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2105025"/>
            <a:ext cx="178117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C6CC977A-278A-4B80-B960-75238E47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875" y="7032699"/>
            <a:ext cx="2495550" cy="7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UC-38–46 · Coaching &amp; Income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006E718-D3EA-43D7-905F-9CF3FCF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359" y="6204456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Hủy buổi theo BR-47</a:t>
            </a:r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20F17A62-3039-4462-B6AE-83F2FE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359" y="5436815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Nhận booking realtime</a:t>
            </a:r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329E0CCD-BD03-492F-BBD1-D417124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5884" y="4669175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Xem lịch dạy &amp; thu nhập</a:t>
            </a:r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BB1925FF-67C0-4A8F-B181-39CE3D53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359" y="4196772"/>
            <a:ext cx="24955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Thiết lập giá dạy</a:t>
            </a:r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107DD7F0-57CF-43A4-87D5-07E57FD5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359" y="3724369"/>
            <a:ext cx="249555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Thiết lập lịch rảnh</a:t>
            </a:r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36E3096A-25B2-41CB-A8FE-353953CC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6359" y="2957830"/>
            <a:ext cx="249555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Quản lý hồ sơ &amp; chứng chỉ</a:t>
            </a:r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6E04BBDC-BBF6-462B-B581-9183F792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381250"/>
            <a:ext cx="1781175" cy="195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40"/>
              </a:lnSpc>
              <a:spcBef>
                <a:spcPts val="0"/>
              </a:spcBef>
              <a:buNone/>
              <a:defRPr sz="1350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35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Huấn luyện viên</a:t>
            </a:r>
          </a:p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413C10FD-2E40-40C3-8500-8643E60E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105025"/>
            <a:ext cx="178117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B359EEA5-4421-42AD-B400-0DB55F9B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7042224"/>
            <a:ext cx="2495550" cy="7109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799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999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UC-08–37 · Main actor</a:t>
            </a:r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EBED942E-9685-4A04-B1F3-ABAA5129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8706" y="6314332"/>
            <a:ext cx="254865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Player Matching &amp; tạo nhóm</a:t>
            </a:r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53E556D4-4F78-497C-BEBA-7C04B17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5651466"/>
            <a:ext cx="254865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AI gợi ý Coach / lộ trình</a:t>
            </a:r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E52E5115-EB86-42F4-BC7E-F3EC913A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5009662"/>
            <a:ext cx="254865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Check-in &amp; đánh giá</a:t>
            </a:r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D594C625-93F6-487E-A4C4-10A68D3B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4296766"/>
            <a:ext cx="254865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Hủy booking &amp; yêu cầu hoàn</a:t>
            </a:r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15D82C0E-73B8-4DD5-A819-2951C379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3633900"/>
            <a:ext cx="254865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Thanh toán online PayOS/MoMo</a:t>
            </a:r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A95494C6-1D33-4897-AAC3-0AEF9D8F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1125" y="2975216"/>
            <a:ext cx="2548653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Đặt sân / Coach / Combo</a:t>
            </a:r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1A7A353F-C8E6-47FD-9E1E-75F2206F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381250"/>
            <a:ext cx="1781175" cy="1955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40"/>
              </a:lnSpc>
              <a:spcBef>
                <a:spcPts val="0"/>
              </a:spcBef>
              <a:buNone/>
              <a:defRPr sz="1350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35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Tác nhân chính</a:t>
            </a:r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03A6B530-C3AF-42D8-B514-B01A27EC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105025"/>
            <a:ext cx="178117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</a:t>
            </a:r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53708F53-23A9-4E2D-9E7F-ABD58055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7218399"/>
            <a:ext cx="2495550" cy="3554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799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999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UC-01–07 · Chỉ xem</a:t>
            </a:r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8D255C29-C7E4-42C9-B495-E459747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6468" y="6334779"/>
            <a:ext cx="25402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Không thể đặt sân/thanh toán</a:t>
            </a:r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025B3FF6-5C8D-47BB-911C-7EF48990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033" y="5672119"/>
            <a:ext cx="25402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Đăng ký tài khoản (UC-07)</a:t>
            </a:r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3ECA71C9-A119-4571-8082-41A240D4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033" y="5009662"/>
            <a:ext cx="25402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Tìm sân theo ngày/giờ</a:t>
            </a:r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8455E736-B1FB-4752-863A-A92C86B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033" y="4347206"/>
            <a:ext cx="25402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Xem giá sân &amp; Coach</a:t>
            </a:r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86ED0AFA-7111-4F78-95E7-A9081024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3033" y="3633900"/>
            <a:ext cx="25402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Xem hồ sơ Coach công khai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3C81AD25-C0DC-4978-9216-1D251DE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975216"/>
            <a:ext cx="2540240" cy="5943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340"/>
              </a:lnSpc>
              <a:spcBef>
                <a:spcPts val="0"/>
              </a:spcBef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Xem trang chủ &amp; danh sách sân</a:t>
            </a:r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1809DE0E-56FB-4CDE-B9BE-A0693A12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381250"/>
            <a:ext cx="1781175" cy="39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540"/>
              </a:lnSpc>
              <a:spcBef>
                <a:spcPts val="0"/>
              </a:spcBef>
              <a:buNone/>
              <a:defRPr sz="1350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35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Khách chưa đăng nhập</a:t>
            </a:r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C7A62D58-D447-4CBC-9F44-6B5EBD10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2105025"/>
            <a:ext cx="1781175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52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Guest</a:t>
            </a:r>
          </a:p>
        </p:txBody>
      </p:sp>
      <p:sp>
        <p:nvSpPr>
          <p:cNvPr id="90" name="AutoShape 90">
            <a:extLst xmlns:a="http://schemas.openxmlformats.org/drawingml/2006/main">
              <a:ext uri="{FF2B5EF4-FFF2-40B4-BE49-F238E27FC236}">
                <a16:creationId xmlns:a16="http://schemas.microsoft.com/office/drawing/2014/main" id="{CCD0DED4-10E5-4C6C-98E4-A4438821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24000"/>
            <a:ext cx="14839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4B7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56FC8DB8-ABF9-4485-896B-3F03776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931" y="764503"/>
            <a:ext cx="142875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39"/>
              </a:lnSpc>
              <a:spcBef>
                <a:spcPts val="0"/>
              </a:spcBef>
              <a:buNone/>
              <a:defRPr sz="1599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99" u="none">
                <a:solidFill>
                  <a:srgbClr val="557085"/>
                </a:solidFill>
                <a:latin typeface="Arial"/>
                <a:ea typeface="Arial"/>
                <a:cs typeface="Arial"/>
              </a:rPr>
              <a:t>5 nhóm người dùng · 4 hệ thống tích hợp · Quyền hạn rõ ràng</a:t>
            </a:r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0D181FD2-987B-4795-A0BC-B3138B4F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3931" y="153434"/>
            <a:ext cx="13335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040"/>
              </a:lnSpc>
              <a:spcBef>
                <a:spcPts val="0"/>
              </a:spcBef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u="none">
                <a:solidFill>
                  <a:srgbClr val="102A43"/>
                </a:solidFill>
                <a:latin typeface="Arial"/>
                <a:ea typeface="Arial"/>
                <a:cs typeface="Arial"/>
              </a:rPr>
              <a:t>User Actors &amp; External Systems</a:t>
            </a:r>
          </a:p>
        </p:txBody>
      </p:sp>
    </p:spTree>
    <p:extLst>
      <p:ext uri="{BB962C8B-B14F-4D97-AF65-F5344CB8AC3E}">
        <p14:creationId xmlns:p14="http://schemas.microsoft.com/office/powerpoint/2010/main" val="801469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1F024EF-8E66-4EA3-8844-ED911719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32909" y="0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233BAD9-3E2B-4B69-9ADD-2A819C83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AC1AA91-46F3-456B-B612-202D7353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0749C618-B3E1-4AB5-ACF2-5D9BAC6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980838"/>
            <a:ext cx="4274343" cy="2009489"/>
          </a:xfrm>
          <a:custGeom xmlns:a="http://schemas.openxmlformats.org/drawingml/2006/main">
            <a:rect l="l" t="t" r="r" b="b"/>
            <a:pathLst>
              <a:path w="5699125" h="2679319">
                <a:moveTo>
                  <a:pt x="0" y="221742"/>
                </a:moveTo>
                <a:cubicBezTo>
                  <a:pt x="0" y="99314"/>
                  <a:pt x="99314" y="0"/>
                  <a:pt x="221742" y="0"/>
                </a:cubicBezTo>
                <a:lnTo>
                  <a:pt x="5477383" y="0"/>
                </a:lnTo>
                <a:cubicBezTo>
                  <a:pt x="5599811" y="0"/>
                  <a:pt x="5699125" y="99314"/>
                  <a:pt x="5699125" y="221742"/>
                </a:cubicBezTo>
                <a:lnTo>
                  <a:pt x="5699125" y="2457577"/>
                </a:lnTo>
                <a:cubicBezTo>
                  <a:pt x="5699125" y="2580005"/>
                  <a:pt x="5599811" y="2679319"/>
                  <a:pt x="5477383" y="2679319"/>
                </a:cubicBezTo>
                <a:lnTo>
                  <a:pt x="221742" y="2679319"/>
                </a:lnTo>
                <a:cubicBezTo>
                  <a:pt x="99314" y="2679192"/>
                  <a:pt x="0" y="2580005"/>
                  <a:pt x="0" y="2457577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8F823F1-13F1-4398-944C-D15848B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093" y="1980838"/>
            <a:ext cx="4274343" cy="2009489"/>
          </a:xfrm>
          <a:custGeom xmlns:a="http://schemas.openxmlformats.org/drawingml/2006/main">
            <a:rect l="l" t="t" r="r" b="b"/>
            <a:pathLst>
              <a:path w="5699125" h="2679319">
                <a:moveTo>
                  <a:pt x="0" y="221742"/>
                </a:moveTo>
                <a:cubicBezTo>
                  <a:pt x="0" y="99314"/>
                  <a:pt x="99314" y="0"/>
                  <a:pt x="221742" y="0"/>
                </a:cubicBezTo>
                <a:lnTo>
                  <a:pt x="5477383" y="0"/>
                </a:lnTo>
                <a:cubicBezTo>
                  <a:pt x="5599811" y="0"/>
                  <a:pt x="5699125" y="99314"/>
                  <a:pt x="5699125" y="221742"/>
                </a:cubicBezTo>
                <a:lnTo>
                  <a:pt x="5699125" y="2457577"/>
                </a:lnTo>
                <a:cubicBezTo>
                  <a:pt x="5699125" y="2580005"/>
                  <a:pt x="5599811" y="2679319"/>
                  <a:pt x="5477383" y="2679319"/>
                </a:cubicBezTo>
                <a:lnTo>
                  <a:pt x="221742" y="2679319"/>
                </a:lnTo>
                <a:cubicBezTo>
                  <a:pt x="99314" y="2679192"/>
                  <a:pt x="0" y="2580005"/>
                  <a:pt x="0" y="24575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769574C-041B-4983-A8DE-E273582A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4083" y="1980838"/>
            <a:ext cx="4274343" cy="2009489"/>
          </a:xfrm>
          <a:custGeom xmlns:a="http://schemas.openxmlformats.org/drawingml/2006/main">
            <a:rect l="l" t="t" r="r" b="b"/>
            <a:pathLst>
              <a:path w="5699125" h="2679319">
                <a:moveTo>
                  <a:pt x="0" y="221742"/>
                </a:moveTo>
                <a:cubicBezTo>
                  <a:pt x="0" y="99314"/>
                  <a:pt x="99314" y="0"/>
                  <a:pt x="221742" y="0"/>
                </a:cubicBezTo>
                <a:lnTo>
                  <a:pt x="5477383" y="0"/>
                </a:lnTo>
                <a:cubicBezTo>
                  <a:pt x="5599811" y="0"/>
                  <a:pt x="5699125" y="99314"/>
                  <a:pt x="5699125" y="221742"/>
                </a:cubicBezTo>
                <a:lnTo>
                  <a:pt x="5699125" y="2457577"/>
                </a:lnTo>
                <a:cubicBezTo>
                  <a:pt x="5699125" y="2580005"/>
                  <a:pt x="5599811" y="2679319"/>
                  <a:pt x="5477383" y="2679319"/>
                </a:cubicBezTo>
                <a:lnTo>
                  <a:pt x="221742" y="2679319"/>
                </a:lnTo>
                <a:cubicBezTo>
                  <a:pt x="99314" y="2679192"/>
                  <a:pt x="0" y="2580005"/>
                  <a:pt x="0" y="24575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347173E-7D1C-4D67-95DD-ECA0801B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4451652"/>
            <a:ext cx="7798867" cy="4558763"/>
          </a:xfrm>
          <a:custGeom xmlns:a="http://schemas.openxmlformats.org/drawingml/2006/main">
            <a:rect l="l" t="t" r="r" b="b"/>
            <a:pathLst>
              <a:path w="8810498" h="5150104">
                <a:moveTo>
                  <a:pt x="0" y="220726"/>
                </a:moveTo>
                <a:cubicBezTo>
                  <a:pt x="0" y="98806"/>
                  <a:pt x="98806" y="0"/>
                  <a:pt x="220726" y="0"/>
                </a:cubicBezTo>
                <a:lnTo>
                  <a:pt x="8589772" y="0"/>
                </a:lnTo>
                <a:cubicBezTo>
                  <a:pt x="8711692" y="0"/>
                  <a:pt x="8810498" y="98806"/>
                  <a:pt x="8810498" y="220726"/>
                </a:cubicBezTo>
                <a:lnTo>
                  <a:pt x="8810498" y="4929378"/>
                </a:lnTo>
                <a:cubicBezTo>
                  <a:pt x="8810498" y="5051298"/>
                  <a:pt x="8711692" y="5150104"/>
                  <a:pt x="8589772" y="5150104"/>
                </a:cubicBezTo>
                <a:lnTo>
                  <a:pt x="220726" y="5150104"/>
                </a:lnTo>
                <a:cubicBezTo>
                  <a:pt x="98806" y="5150104"/>
                  <a:pt x="0" y="5051298"/>
                  <a:pt x="0" y="4929378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119E8E2B-2D96-496D-B887-B06C2AD4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9505" y="4135842"/>
            <a:ext cx="5402113" cy="5770186"/>
          </a:xfrm>
          <a:custGeom xmlns:a="http://schemas.openxmlformats.org/drawingml/2006/main">
            <a:rect l="l" t="t" r="r" b="b"/>
            <a:pathLst>
              <a:path w="7142981" h="7629669">
                <a:moveTo>
                  <a:pt x="0" y="326997"/>
                </a:moveTo>
                <a:cubicBezTo>
                  <a:pt x="0" y="146377"/>
                  <a:pt x="69936" y="0"/>
                  <a:pt x="156232" y="0"/>
                </a:cubicBezTo>
                <a:lnTo>
                  <a:pt x="6986749" y="0"/>
                </a:lnTo>
                <a:cubicBezTo>
                  <a:pt x="7073045" y="0"/>
                  <a:pt x="7142981" y="146377"/>
                  <a:pt x="7142981" y="326997"/>
                </a:cubicBezTo>
                <a:lnTo>
                  <a:pt x="7142981" y="7302690"/>
                </a:lnTo>
                <a:cubicBezTo>
                  <a:pt x="7142981" y="7483310"/>
                  <a:pt x="7073045" y="7629669"/>
                  <a:pt x="6986749" y="7629669"/>
                </a:cubicBezTo>
                <a:lnTo>
                  <a:pt x="156232" y="7629669"/>
                </a:lnTo>
                <a:cubicBezTo>
                  <a:pt x="69936" y="7629668"/>
                  <a:pt x="0" y="7483309"/>
                  <a:pt x="0" y="7302690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698DF15-3078-426A-B9E6-FEF900F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97AD3B1-F2BF-45BE-9E21-C3C90FA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AEE21A4-4F93-4949-AABF-37021BD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0446" y="2377926"/>
            <a:ext cx="2868393" cy="462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364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6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Include / Extend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14BDC45-0DB9-4100-8F93-1F5920C8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4121" y="2483429"/>
            <a:ext cx="939853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70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5000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I/E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2DF8531-6311-4290-9998-13DDEDDE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587" y="2835726"/>
            <a:ext cx="2943363" cy="7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800"/>
              </a:lnSpc>
              <a:spcBef>
                <a:spcPts val="0"/>
              </a:spcBef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200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Nhóm tương tác</a:t>
            </a:r>
          </a:p>
          <a:p xmlns:a="http://schemas.openxmlformats.org/drawingml/2006/main">
            <a:pPr marL="0" indent="0" algn="ctr">
              <a:lnSpc>
                <a:spcPts val="2800"/>
              </a:lnSpc>
              <a:spcBef>
                <a:spcPts val="0"/>
              </a:spcBef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200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với hệ thống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35422A7-1E18-4B2A-A75B-2E0D1C2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0323" y="2302473"/>
            <a:ext cx="1255891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420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30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Actor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0CF7A75D-CE7F-4F18-959C-474457F6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577" y="2937934"/>
            <a:ext cx="2210267" cy="7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800"/>
              </a:lnSpc>
              <a:spcBef>
                <a:spcPts val="0"/>
              </a:spcBef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200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Kịch bản nghiệp vụ</a:t>
            </a:r>
          </a:p>
          <a:p xmlns:a="http://schemas.openxmlformats.org/drawingml/2006/main">
            <a:pPr marL="0" indent="0" algn="ctr">
              <a:lnSpc>
                <a:spcPts val="2800"/>
              </a:lnSpc>
              <a:spcBef>
                <a:spcPts val="0"/>
              </a:spcBef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200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toàn hệ thống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AEB31FC1-CD1F-4769-8A56-F6BA26D9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6750" y="2302473"/>
            <a:ext cx="185792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4200"/>
              </a:lnSpc>
              <a:spcBef>
                <a:spcPts val="0"/>
              </a:spcBef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3000" b="1" u="none">
                <a:solidFill>
                  <a:srgbClr val="EEF4F7"/>
                </a:solidFill>
                <a:latin typeface="Arial"/>
                <a:ea typeface="Arial"/>
                <a:cs typeface="Arial"/>
              </a:rPr>
              <a:t>Use Case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267F17-FD98-4D1F-8B56-71DE984A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619" y="2843530"/>
            <a:ext cx="758041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70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5000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61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584600B-4486-4936-8FC5-47E06EC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4116" y="2902823"/>
            <a:ext cx="2641054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2100"/>
              </a:lnSpc>
              <a:spcBef>
                <a:spcPts val="0"/>
              </a:spcBef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50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Quan hệ Include/Extend</a:t>
            </a:r>
          </a:p>
          <a:p xmlns:a="http://schemas.openxmlformats.org/drawingml/2006/main">
            <a:pPr marL="0" indent="0" algn="ctr">
              <a:lnSpc>
                <a:spcPts val="2100"/>
              </a:lnSpc>
              <a:spcBef>
                <a:spcPts val="0"/>
              </a:spcBef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500" u="none">
                <a:solidFill>
                  <a:srgbClr val="C6D5DE"/>
                </a:solidFill>
                <a:latin typeface="Arial"/>
                <a:ea typeface="Arial"/>
                <a:cs typeface="Arial"/>
              </a:rPr>
              <a:t>chính giữa các Use Case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5B327EC-51E2-4DCD-9645-36131A9C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0288" y="2121885"/>
            <a:ext cx="998703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70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5000" b="1" u="none">
                <a:solidFill>
                  <a:srgbClr val="B9DB64"/>
                </a:solidFill>
                <a:latin typeface="Arial"/>
                <a:ea typeface="Arial"/>
                <a:cs typeface="Arial"/>
              </a:rPr>
              <a:t>UC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16EC0700-1921-4266-A27D-F97C3398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24000"/>
            <a:ext cx="14839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74B7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9F7339C-C1D6-4F86-8EED-71D29045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828656"/>
            <a:ext cx="14287500" cy="2843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239"/>
              </a:lnSpc>
              <a:spcBef>
                <a:spcPts val="0"/>
              </a:spcBef>
              <a:buNone/>
              <a:defRPr sz="1599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99" u="none">
                <a:solidFill>
                  <a:srgbClr val="557085"/>
                </a:solidFill>
                <a:latin typeface="Arial"/>
                <a:ea typeface="Arial"/>
                <a:cs typeface="Arial"/>
              </a:rPr>
              <a:t>61 Use Case · 5 Actor · 4 hệ thống ngoài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B57C929E-5655-4536-A8E1-1600A135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177221"/>
            <a:ext cx="13335000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040"/>
              </a:lnSpc>
              <a:spcBef>
                <a:spcPts val="0"/>
              </a:spcBef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u="none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Overall Use Case Diagram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46E0380-44C9-457E-9311-0E9348C7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8284" y="5377203"/>
            <a:ext cx="6785119" cy="35316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28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107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Guest — khách chưa đăng nhập.</a:t>
            </a:r>
          </a:p>
          <a:p xmlns:a="http://schemas.openxmlformats.org/drawingml/2006/main">
            <a:pPr algn="l">
              <a:lnSpc>
                <a:spcPts val="2528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528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107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 — đặt sân, thanh toán và ghép cặp.</a:t>
            </a:r>
          </a:p>
          <a:p xmlns:a="http://schemas.openxmlformats.org/drawingml/2006/main">
            <a:pPr algn="l">
              <a:lnSpc>
                <a:spcPts val="2528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528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107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 — quản lý lịch dạy và thu nhập.</a:t>
            </a:r>
          </a:p>
          <a:p xmlns:a="http://schemas.openxmlformats.org/drawingml/2006/main">
            <a:pPr algn="l">
              <a:lnSpc>
                <a:spcPts val="2528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528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107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 — vận hành, check-in và báo cáo.</a:t>
            </a:r>
          </a:p>
          <a:p xmlns:a="http://schemas.openxmlformats.org/drawingml/2006/main">
            <a:pPr algn="l">
              <a:lnSpc>
                <a:spcPts val="2528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ts val="2528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107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Admin — quản trị hệ thống và dữ liệu.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F5A20F7-12B0-4749-A63B-9BB8925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005" y="4618452"/>
            <a:ext cx="1998284" cy="3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2800"/>
              </a:lnSpc>
              <a:spcBef>
                <a:spcPts val="0"/>
              </a:spcBef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Actor Note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DABD32C4-27A6-400E-8C86-C635F432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0281" y="2712011"/>
            <a:ext cx="758041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7000"/>
              </a:lnSpc>
              <a:spcBef>
                <a:spcPts val="0"/>
              </a:spcBef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50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F0003855-F070-41CB-A946-75B0CE4E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1990365"/>
            <a:ext cx="998703" cy="88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ts val="7000"/>
              </a:lnSpc>
              <a:spcBef>
                <a:spcPts val="0"/>
              </a:spcBef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50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2610E2E2-C280-4AD3-8D9D-33C7CB50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7472" y="4213914"/>
            <a:ext cx="4586185" cy="5614006"/>
          </a:xfrm>
          <a:custGeom xmlns:a="http://schemas.openxmlformats.org/drawingml/2006/main">
            <a:rect l="l" t="t" r="r" b="b"/>
            <a:pathLst>
              <a:path w="9050655" h="11079021">
                <a:moveTo>
                  <a:pt x="0" y="0"/>
                </a:moveTo>
                <a:lnTo>
                  <a:pt x="9050655" y="0"/>
                </a:lnTo>
                <a:lnTo>
                  <a:pt x="9050655" y="11079021"/>
                </a:lnTo>
                <a:lnTo>
                  <a:pt x="0" y="110790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d654c752634947"/>
            <a:stretch>
              <a:fillRect l="0" t="-2119" r="0" b="-2119"/>
            </a:stretch>
          </a:blipFill>
        </p:spPr>
      </p:sp>
    </p:spTree>
    <p:extLst>
      <p:ext uri="{BB962C8B-B14F-4D97-AF65-F5344CB8AC3E}">
        <p14:creationId xmlns:p14="http://schemas.microsoft.com/office/powerpoint/2010/main" val="170568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41B45E2-9BAC-4015-91F3-3205B3B7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5B85E1E-A989-4D59-BE1F-F4A14386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CD8BBFA-7141-45B7-8648-4EBDC0A3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1CD8FE5-920C-4B51-A532-F021D87C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625FEF-94C0-493F-BDB9-649B7940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10 tính năng cốt lõi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9EAB51F2-F3A7-4262-B4F2-1A5A48A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801"/>
          </a:xfrm>
          <a:custGeom xmlns:a="http://schemas.openxmlformats.org/drawingml/2006/main">
            <a:rect l="l" t="t" r="r" b="b"/>
            <a:pathLst>
              <a:path w="19400436" h="549069">
                <a:moveTo>
                  <a:pt x="0" y="0"/>
                </a:moveTo>
                <a:lnTo>
                  <a:pt x="19400436" y="0"/>
                </a:lnTo>
                <a:lnTo>
                  <a:pt x="19400436" y="549069"/>
                </a:lnTo>
                <a:lnTo>
                  <a:pt x="0" y="54906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638470" r="0" b="-63847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D075478-2CF5-49E4-9222-B1CE2389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Booking · Payment · AI · Vận hành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4125290-0EA0-4D72-AD9E-1A0BEA90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6BB2CCB6-69C3-4FF7-8FBC-756C69E9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829848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4910FE6-C77C-4A68-B0DC-364C1DF2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2045284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2311CC5F-5C6D-4721-8847-44FCA61A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2038141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20DF4D5-0283-4E3F-ABDA-51C1AA36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2004098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84EA39F-D854-48AF-8D83-D2A6FFAB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1996955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Xác thực tài khoản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BBFCA37-C533-4558-8E5A-C78C5948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2374725"/>
            <a:ext cx="5765224" cy="577135"/>
          </a:xfrm>
          <a:custGeom xmlns:a="http://schemas.openxmlformats.org/drawingml/2006/main">
            <a:rect l="l" t="t" r="r" b="b"/>
            <a:pathLst>
              <a:path w="7686966" h="769514">
                <a:moveTo>
                  <a:pt x="0" y="0"/>
                </a:moveTo>
                <a:lnTo>
                  <a:pt x="7686966" y="0"/>
                </a:lnTo>
                <a:lnTo>
                  <a:pt x="7686966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0" b="-131508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D64621BC-374A-4C1C-B457-6E53F058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2367582"/>
            <a:ext cx="5765225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Email OTP 2FA (theo thiết kế) và Google Sign-In.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37DDC38-AF6A-40DE-9F37-3E403F69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445" y="1829848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0DCCCD9-A0B2-4C84-81AA-23E23C46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2045284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4532369-18EA-4A93-BB59-F046DD3E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2038141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DB1A2C9-77DC-48C8-A86F-ECA6EAD4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2004098"/>
            <a:ext cx="4353873" cy="320033"/>
          </a:xfrm>
          <a:custGeom xmlns:a="http://schemas.openxmlformats.org/drawingml/2006/main">
            <a:rect l="l" t="t" r="r" b="b"/>
            <a:pathLst>
              <a:path w="5805164" h="426712">
                <a:moveTo>
                  <a:pt x="0" y="0"/>
                </a:moveTo>
                <a:lnTo>
                  <a:pt x="5805164" y="0"/>
                </a:lnTo>
                <a:lnTo>
                  <a:pt x="5805164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33792" b="-122686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5A7CF99-5EC3-4FC8-AB6B-575C9B97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1996955"/>
            <a:ext cx="4353869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Đặt sân realtime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DD5A244C-75A4-44AF-949A-3EDD2B8C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2374725"/>
            <a:ext cx="5765224" cy="577135"/>
          </a:xfrm>
          <a:custGeom xmlns:a="http://schemas.openxmlformats.org/drawingml/2006/main">
            <a:rect l="l" t="t" r="r" b="b"/>
            <a:pathLst>
              <a:path w="7686966" h="769514">
                <a:moveTo>
                  <a:pt x="0" y="0"/>
                </a:moveTo>
                <a:lnTo>
                  <a:pt x="7686966" y="0"/>
                </a:lnTo>
                <a:lnTo>
                  <a:pt x="7686966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0" b="-131508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3B0FB02E-50C3-4A04-9592-9D19BF9A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2367582"/>
            <a:ext cx="5765225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Xem slot trống theo ngày/giờ và đặt online.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96AE42D9-5684-41D1-8565-2490A8A0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3271152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20BA1B0-2490-42A8-8155-CD2D6A86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3486588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9F3F9308-E82B-400E-B0F4-0FFE21C2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3479445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E9A0F362-59A3-4557-AF06-7E61F4C0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3445412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B621194C-29EA-499C-B8DC-5B4F090F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3438269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Đặt Coach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CD754C80-01A9-4267-88FD-E3569CFA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3816029"/>
            <a:ext cx="5765224" cy="577135"/>
          </a:xfrm>
          <a:custGeom xmlns:a="http://schemas.openxmlformats.org/drawingml/2006/main">
            <a:rect l="l" t="t" r="r" b="b"/>
            <a:pathLst>
              <a:path w="7686966" h="769514">
                <a:moveTo>
                  <a:pt x="0" y="0"/>
                </a:moveTo>
                <a:lnTo>
                  <a:pt x="7686966" y="0"/>
                </a:lnTo>
                <a:lnTo>
                  <a:pt x="7686966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0" b="-131508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E523D685-B6C2-4135-80A4-D5E1654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3808886"/>
            <a:ext cx="5765225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Lọc theo trình độ, giá và lịch rảnh.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965CDEA-4B46-4BE0-92CE-F2CA019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445" y="3271152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6CF9F5A-5BCF-4B88-B62F-1AE35EDE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3486588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7F4C7B42-A96E-45D8-9864-EBC6BA48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3479445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EEE19F4-778B-4ED5-A39C-882ED252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3445412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8B15DB5E-4715-4B32-A135-AA79EF12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3438269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Recommendation</a:t>
            </a:r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C2583017-4392-4A74-AE05-E03838AE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3816029"/>
            <a:ext cx="5765224" cy="577135"/>
          </a:xfrm>
          <a:custGeom xmlns:a="http://schemas.openxmlformats.org/drawingml/2006/main">
            <a:rect l="l" t="t" r="r" b="b"/>
            <a:pathLst>
              <a:path w="7686966" h="769514">
                <a:moveTo>
                  <a:pt x="0" y="0"/>
                </a:moveTo>
                <a:lnTo>
                  <a:pt x="7686966" y="0"/>
                </a:lnTo>
                <a:lnTo>
                  <a:pt x="7686966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0" b="-131508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D32F149B-A782-4B38-A627-BF8CCD92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3808886"/>
            <a:ext cx="5765225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Gợi ý Coach, lịch học và lộ trình huấn luyện.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03ADC41-0B45-4498-AC5E-4CDB6DC0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4712465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E7BCEA10-5336-4D2C-9C24-B388010C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4927892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3069EA8-D154-449A-833C-C12709A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4920749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1F6685FE-7E9A-4B15-B5B0-19945F6D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4886716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1E4AD4EC-1D0A-4DED-A0E1-DA0870D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4879573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Online Payment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5777F910-6AE9-40E6-B983-ED8D4E81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5257333"/>
            <a:ext cx="5765224" cy="577135"/>
          </a:xfrm>
          <a:custGeom xmlns:a="http://schemas.openxmlformats.org/drawingml/2006/main">
            <a:rect l="l" t="t" r="r" b="b"/>
            <a:pathLst>
              <a:path w="7686966" h="769514">
                <a:moveTo>
                  <a:pt x="0" y="0"/>
                </a:moveTo>
                <a:lnTo>
                  <a:pt x="7686966" y="0"/>
                </a:lnTo>
                <a:lnTo>
                  <a:pt x="7686966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0" b="-131508"/>
            </a:stretch>
          </a:blipFill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F347FDC5-C9D3-4A60-806E-3290011A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5250190"/>
            <a:ext cx="5765225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Tạo QR, nhận kết quả và cập nhật booking.</a:t>
            </a:r>
          </a:p>
        </p:txBody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04A4D495-4434-43E6-85B1-2B374750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445" y="4712465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9D61B6C0-72B0-43AF-8450-F241DFD6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4927892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CDF9EEF8-F987-4832-9297-CF882A51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4920749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23BE126-3910-48D5-A045-0D84CF7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4886716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8CFF9498-1D60-46E5-A176-4CBB4BFD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4879573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Chống double booking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4948AB18-60D4-467B-AC5F-A8E8CB2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5257333"/>
            <a:ext cx="5765224" cy="577135"/>
          </a:xfrm>
          <a:custGeom xmlns:a="http://schemas.openxmlformats.org/drawingml/2006/main">
            <a:rect l="l" t="t" r="r" b="b"/>
            <a:pathLst>
              <a:path w="7686966" h="769514">
                <a:moveTo>
                  <a:pt x="0" y="0"/>
                </a:moveTo>
                <a:lnTo>
                  <a:pt x="7686966" y="0"/>
                </a:lnTo>
                <a:lnTo>
                  <a:pt x="7686966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0" b="-131508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2035D759-268B-460B-A3E7-FD8D324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5250190"/>
            <a:ext cx="5765225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Transaction Locking, giữ slot 10 phút.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839BFDCC-311C-488E-98A7-887DBF6C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6153769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21171F9D-2234-422A-BB6A-C9D49ACB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6369196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E6CAD382-82A3-4984-B8AB-B00EEAB9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6362053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492A730F-9980-467F-A313-426979A6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6328019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3ABA1595-43C6-40A3-9F59-6E3DA32D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6320876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Player Matching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0826D6C2-42E6-4E8C-B4C0-B7EEF69D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6698637"/>
            <a:ext cx="6186562" cy="577135"/>
          </a:xfrm>
          <a:custGeom xmlns:a="http://schemas.openxmlformats.org/drawingml/2006/main">
            <a:rect l="l" t="t" r="r" b="b"/>
            <a:pathLst>
              <a:path w="8248750" h="769514">
                <a:moveTo>
                  <a:pt x="0" y="0"/>
                </a:moveTo>
                <a:lnTo>
                  <a:pt x="8248750" y="0"/>
                </a:lnTo>
                <a:lnTo>
                  <a:pt x="8248750" y="769514"/>
                </a:lnTo>
                <a:lnTo>
                  <a:pt x="0" y="76951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57777" r="6810" b="-131508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372A6ACF-7BA8-44EA-A5DB-63DAACF5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6691494"/>
            <a:ext cx="6186564" cy="584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Ghép theo trình độ, PlayingRole và lịch rảnh.</a:t>
            </a:r>
          </a:p>
        </p:txBody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03983A8E-7F35-416B-AFFD-BBD8EE4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445" y="6153769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CA0518C7-3C79-4484-B14B-6443460D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6369196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104242AA-AD2B-4AAD-8F93-2A0B78F1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6362053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9" name="Freeform 99">
            <a:extLst xmlns:a="http://schemas.openxmlformats.org/drawingml/2006/main">
              <a:ext uri="{FF2B5EF4-FFF2-40B4-BE49-F238E27FC236}">
                <a16:creationId xmlns:a16="http://schemas.microsoft.com/office/drawing/2014/main" id="{EE231464-1C18-4CD0-B3A8-5136B70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6328019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D7E1D384-4B74-42E1-B9F9-DCA139ED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6320876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Analytics</a:t>
            </a:r>
          </a:p>
        </p:txBody>
      </p:sp>
      <p:sp>
        <p:nvSpPr>
          <p:cNvPr id="102" name="Freeform 102">
            <a:extLst xmlns:a="http://schemas.openxmlformats.org/drawingml/2006/main">
              <a:ext uri="{FF2B5EF4-FFF2-40B4-BE49-F238E27FC236}">
                <a16:creationId xmlns:a16="http://schemas.microsoft.com/office/drawing/2014/main" id="{63F675A8-3C77-4BA0-9390-10A90EBF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6698637"/>
            <a:ext cx="5765224" cy="425527"/>
          </a:xfrm>
          <a:custGeom xmlns:a="http://schemas.openxmlformats.org/drawingml/2006/main">
            <a:rect l="l" t="t" r="r" b="b"/>
            <a:pathLst>
              <a:path w="7686966" h="567370">
                <a:moveTo>
                  <a:pt x="0" y="0"/>
                </a:moveTo>
                <a:lnTo>
                  <a:pt x="7686966" y="0"/>
                </a:lnTo>
                <a:lnTo>
                  <a:pt x="7686966" y="567370"/>
                </a:lnTo>
                <a:lnTo>
                  <a:pt x="0" y="5673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213991" r="0" b="-213991"/>
            </a:stretch>
          </a:blipFill>
        </p:spPr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8C5B568A-8AB4-4151-9969-27244958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6691494"/>
            <a:ext cx="5765225" cy="432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Dự báo giờ cao điểm và đề xuất khuyến mãi.</a:t>
            </a:r>
          </a:p>
        </p:txBody>
      </p:sp>
      <p:sp>
        <p:nvSpPr>
          <p:cNvPr id="105" name="Freeform 105">
            <a:extLst xmlns:a="http://schemas.openxmlformats.org/drawingml/2006/main">
              <a:ext uri="{FF2B5EF4-FFF2-40B4-BE49-F238E27FC236}">
                <a16:creationId xmlns:a16="http://schemas.microsoft.com/office/drawing/2014/main" id="{25036073-13AC-46AF-8BD5-74D3B920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7595073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07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C3F6DF68-1DE9-4E12-B298-D50FE8C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7810510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F479E94D-2C6E-4099-A349-8468CEC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9814" y="7803367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10" name="Freeform 110">
            <a:extLst xmlns:a="http://schemas.openxmlformats.org/drawingml/2006/main">
              <a:ext uri="{FF2B5EF4-FFF2-40B4-BE49-F238E27FC236}">
                <a16:creationId xmlns:a16="http://schemas.microsoft.com/office/drawing/2014/main" id="{930005B0-A55D-4227-8C81-EF885F5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7769323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BBD84EAA-A4CA-4569-99CA-B2749D1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7762180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Hủy &amp; hoàn tiền</a:t>
            </a:r>
          </a:p>
        </p:txBody>
      </p:sp>
      <p:sp>
        <p:nvSpPr>
          <p:cNvPr id="113" name="Freeform 113">
            <a:extLst xmlns:a="http://schemas.openxmlformats.org/drawingml/2006/main">
              <a:ext uri="{FF2B5EF4-FFF2-40B4-BE49-F238E27FC236}">
                <a16:creationId xmlns:a16="http://schemas.microsoft.com/office/drawing/2014/main" id="{6AEB4FED-F273-43DB-A78C-1EBB37FB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8139951"/>
            <a:ext cx="5765224" cy="425527"/>
          </a:xfrm>
          <a:custGeom xmlns:a="http://schemas.openxmlformats.org/drawingml/2006/main">
            <a:rect l="l" t="t" r="r" b="b"/>
            <a:pathLst>
              <a:path w="7686966" h="567370">
                <a:moveTo>
                  <a:pt x="0" y="0"/>
                </a:moveTo>
                <a:lnTo>
                  <a:pt x="7686966" y="0"/>
                </a:lnTo>
                <a:lnTo>
                  <a:pt x="7686966" y="567370"/>
                </a:lnTo>
                <a:lnTo>
                  <a:pt x="0" y="5673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213991" r="0" b="-213991"/>
            </a:stretch>
          </a:blipFill>
        </p:spPr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6A7E98DB-1678-4816-9173-641ACE71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1059" y="8132808"/>
            <a:ext cx="5765225" cy="432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Áp dụng mức 100% / 70% / 0%.</a:t>
            </a:r>
          </a:p>
        </p:txBody>
      </p:sp>
      <p:sp>
        <p:nvSpPr>
          <p:cNvPr id="116" name="Freeform 116">
            <a:extLst xmlns:a="http://schemas.openxmlformats.org/drawingml/2006/main">
              <a:ext uri="{FF2B5EF4-FFF2-40B4-BE49-F238E27FC236}">
                <a16:creationId xmlns:a16="http://schemas.microsoft.com/office/drawing/2014/main" id="{72F37D89-BA39-4A10-A8B3-ADCC593B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6445" y="7595073"/>
            <a:ext cx="7129557" cy="1144713"/>
          </a:xfrm>
          <a:custGeom xmlns:a="http://schemas.openxmlformats.org/drawingml/2006/main">
            <a:rect l="l" t="t" r="r" b="b"/>
            <a:pathLst>
              <a:path w="9506077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9282684" y="0"/>
                </a:lnTo>
                <a:cubicBezTo>
                  <a:pt x="9406001" y="0"/>
                  <a:pt x="9506077" y="99949"/>
                  <a:pt x="9506077" y="223393"/>
                </a:cubicBezTo>
                <a:lnTo>
                  <a:pt x="9506077" y="1302893"/>
                </a:lnTo>
                <a:cubicBezTo>
                  <a:pt x="9506077" y="1426210"/>
                  <a:pt x="9406127" y="1526286"/>
                  <a:pt x="9282684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18" name="Freeform 118">
            <a:extLst xmlns:a="http://schemas.openxmlformats.org/drawingml/2006/main">
              <a:ext uri="{FF2B5EF4-FFF2-40B4-BE49-F238E27FC236}">
                <a16:creationId xmlns:a16="http://schemas.microsoft.com/office/drawing/2014/main" id="{D61F93DE-BB6F-42B8-B3AE-D4D205EB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7810510"/>
            <a:ext cx="576548" cy="396216"/>
          </a:xfrm>
          <a:custGeom xmlns:a="http://schemas.openxmlformats.org/drawingml/2006/main">
            <a:rect l="l" t="t" r="r" b="b"/>
            <a:pathLst>
              <a:path w="768731" h="528289">
                <a:moveTo>
                  <a:pt x="0" y="0"/>
                </a:moveTo>
                <a:lnTo>
                  <a:pt x="768731" y="0"/>
                </a:lnTo>
                <a:lnTo>
                  <a:pt x="768731" y="528289"/>
                </a:lnTo>
                <a:lnTo>
                  <a:pt x="0" y="528289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38061F79-782A-455A-835E-3ECB8DBC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8147" y="7803367"/>
            <a:ext cx="576520" cy="4033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04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1" name="Freeform 121">
            <a:extLst xmlns:a="http://schemas.openxmlformats.org/drawingml/2006/main">
              <a:ext uri="{FF2B5EF4-FFF2-40B4-BE49-F238E27FC236}">
                <a16:creationId xmlns:a16="http://schemas.microsoft.com/office/drawing/2014/main" id="{F5B20A22-9006-4C24-88D8-4BC09130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7769323"/>
            <a:ext cx="2882612" cy="320033"/>
          </a:xfrm>
          <a:custGeom xmlns:a="http://schemas.openxmlformats.org/drawingml/2006/main">
            <a:rect l="l" t="t" r="r" b="b"/>
            <a:pathLst>
              <a:path w="3843483" h="426712">
                <a:moveTo>
                  <a:pt x="0" y="0"/>
                </a:moveTo>
                <a:lnTo>
                  <a:pt x="3843483" y="0"/>
                </a:lnTo>
                <a:lnTo>
                  <a:pt x="3843483" y="426712"/>
                </a:lnTo>
                <a:lnTo>
                  <a:pt x="0" y="42671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128324" r="0" b="-122686"/>
            </a:stretch>
          </a:blipFill>
        </p:spPr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19E61130-C01E-4E90-8BF5-725B8A1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7762180"/>
            <a:ext cx="2882608" cy="3271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Coach hủy lịch</a:t>
            </a:r>
          </a:p>
        </p:txBody>
      </p:sp>
      <p:sp>
        <p:nvSpPr>
          <p:cNvPr id="124" name="Freeform 124">
            <a:extLst xmlns:a="http://schemas.openxmlformats.org/drawingml/2006/main">
              <a:ext uri="{FF2B5EF4-FFF2-40B4-BE49-F238E27FC236}">
                <a16:creationId xmlns:a16="http://schemas.microsoft.com/office/drawing/2014/main" id="{4178B7A7-8E49-4AC1-B963-3771E4EE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8215755"/>
            <a:ext cx="6122117" cy="425527"/>
          </a:xfrm>
          <a:custGeom xmlns:a="http://schemas.openxmlformats.org/drawingml/2006/main">
            <a:rect l="l" t="t" r="r" b="b"/>
            <a:pathLst>
              <a:path w="8162822" h="567370">
                <a:moveTo>
                  <a:pt x="0" y="0"/>
                </a:moveTo>
                <a:lnTo>
                  <a:pt x="8162822" y="0"/>
                </a:lnTo>
                <a:lnTo>
                  <a:pt x="8162822" y="567370"/>
                </a:lnTo>
                <a:lnTo>
                  <a:pt x="0" y="56737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85418c81ad4c96">
              <a:alphaModFix amt="0"/>
            </a:blip>
            <a:stretch>
              <a:fillRect l="0" t="-213991" r="5829" b="-213991"/>
            </a:stretch>
          </a:blipFill>
        </p:spPr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19CA1944-C066-483C-A2A1-E0EF5D53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392" y="8208612"/>
            <a:ext cx="6122118" cy="432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0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 được hoàn 100%; xử lý trong 24 giờ.</a:t>
            </a:r>
          </a:p>
        </p:txBody>
      </p:sp>
      <p:sp>
        <p:nvSpPr>
          <p:cNvPr id="127" name="Freeform 127">
            <a:extLst xmlns:a="http://schemas.openxmlformats.org/drawingml/2006/main">
              <a:ext uri="{FF2B5EF4-FFF2-40B4-BE49-F238E27FC236}">
                <a16:creationId xmlns:a16="http://schemas.microsoft.com/office/drawing/2014/main" id="{DBC82B86-51B3-48D7-A520-E202CC2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26FE2243-F1D1-4D8D-90D9-7FD93A36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900246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15330FE-3677-4F67-8CAA-FB6A677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043D912-C158-4F1F-89E2-EFC90DC6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8658AB5F-B6E5-4488-B456-2FBBE265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6380F98-0721-4DBA-A8AE-5C7B15ED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AFBCAC3-3F18-4CB4-8776-4DF9B22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550993F-CD2B-4909-A15C-2D7E56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801"/>
          </a:xfrm>
          <a:custGeom xmlns:a="http://schemas.openxmlformats.org/drawingml/2006/main">
            <a:rect l="l" t="t" r="r" b="b"/>
            <a:pathLst>
              <a:path w="19400436" h="549069">
                <a:moveTo>
                  <a:pt x="0" y="0"/>
                </a:moveTo>
                <a:lnTo>
                  <a:pt x="19400436" y="0"/>
                </a:lnTo>
                <a:lnTo>
                  <a:pt x="19400436" y="549069"/>
                </a:lnTo>
                <a:lnTo>
                  <a:pt x="0" y="54906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638470" r="0" b="-63847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5A36185-1243-4549-8CCC-ADD6F11C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Kiến trúc đa lớp · Realtime &lt; 5 giây · AI Service chạy độc lập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D24D8C30-01E4-4424-9A8D-00BDD2BD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02E054C-A2B9-4CAB-B475-1D431D88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674" y="3725786"/>
            <a:ext cx="1179992" cy="20287"/>
          </a:xfrm>
          <a:custGeom xmlns:a="http://schemas.openxmlformats.org/drawingml/2006/main">
            <a:rect l="l" t="t" r="r" b="b"/>
            <a:pathLst>
              <a:path w="1477442" h="25400">
                <a:moveTo>
                  <a:pt x="0" y="0"/>
                </a:moveTo>
                <a:lnTo>
                  <a:pt x="1477442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1022464" r="5370" b="-1022564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40DD2DC-3927-4DFC-B2B0-5AF0B14A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6768" y="3725786"/>
            <a:ext cx="1179992" cy="20287"/>
          </a:xfrm>
          <a:custGeom xmlns:a="http://schemas.openxmlformats.org/drawingml/2006/main">
            <a:rect l="l" t="t" r="r" b="b"/>
            <a:pathLst>
              <a:path w="1477442" h="25400">
                <a:moveTo>
                  <a:pt x="0" y="0"/>
                </a:moveTo>
                <a:lnTo>
                  <a:pt x="1477442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1022464" r="5370" b="-1022564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A7B61B1-0D3C-4C3A-A617-A15C2F29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852" y="3725786"/>
            <a:ext cx="1179992" cy="20287"/>
          </a:xfrm>
          <a:custGeom xmlns:a="http://schemas.openxmlformats.org/drawingml/2006/main">
            <a:rect l="l" t="t" r="r" b="b"/>
            <a:pathLst>
              <a:path w="1477442" h="25400">
                <a:moveTo>
                  <a:pt x="0" y="0"/>
                </a:moveTo>
                <a:lnTo>
                  <a:pt x="1477442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1022464" r="5370" b="-1022564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AEA49A0-3F74-4C1A-9F3E-B60D0E86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9437" y="2454069"/>
            <a:ext cx="3033538" cy="2388304"/>
          </a:xfrm>
          <a:custGeom xmlns:a="http://schemas.openxmlformats.org/drawingml/2006/main">
            <a:rect l="l" t="t" r="r" b="b"/>
            <a:pathLst>
              <a:path w="3798224" h="2990342">
                <a:moveTo>
                  <a:pt x="0" y="221488"/>
                </a:moveTo>
                <a:cubicBezTo>
                  <a:pt x="0" y="99187"/>
                  <a:pt x="104813" y="0"/>
                  <a:pt x="234051" y="0"/>
                </a:cubicBezTo>
                <a:lnTo>
                  <a:pt x="3564173" y="0"/>
                </a:lnTo>
                <a:cubicBezTo>
                  <a:pt x="3693411" y="0"/>
                  <a:pt x="3798224" y="99187"/>
                  <a:pt x="3798224" y="221488"/>
                </a:cubicBezTo>
                <a:lnTo>
                  <a:pt x="3798224" y="2768854"/>
                </a:lnTo>
                <a:cubicBezTo>
                  <a:pt x="3798224" y="2891155"/>
                  <a:pt x="3693411" y="2990342"/>
                  <a:pt x="3564173" y="2990342"/>
                </a:cubicBezTo>
                <a:lnTo>
                  <a:pt x="234051" y="2990342"/>
                </a:lnTo>
                <a:cubicBezTo>
                  <a:pt x="104813" y="2990342"/>
                  <a:pt x="0" y="2891282"/>
                  <a:pt x="0" y="2768854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EBDFDA6-13B9-4616-B65B-64858A90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905" y="2794341"/>
            <a:ext cx="817398" cy="561323"/>
          </a:xfrm>
          <a:custGeom xmlns:a="http://schemas.openxmlformats.org/drawingml/2006/main">
            <a:rect l="l" t="t" r="r" b="b"/>
            <a:pathLst>
              <a:path w="1023445" h="702821">
                <a:moveTo>
                  <a:pt x="0" y="0"/>
                </a:moveTo>
                <a:lnTo>
                  <a:pt x="1023445" y="0"/>
                </a:lnTo>
                <a:lnTo>
                  <a:pt x="1023445" y="702821"/>
                </a:lnTo>
                <a:lnTo>
                  <a:pt x="0" y="702821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C3210B0F-C9F2-4EA1-B39B-19960F30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3905" y="2794341"/>
            <a:ext cx="817419" cy="561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564C33CA-7B51-4C30-B853-73DD9E65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9984" y="3443592"/>
            <a:ext cx="2347890" cy="613939"/>
          </a:xfrm>
          <a:custGeom xmlns:a="http://schemas.openxmlformats.org/drawingml/2006/main">
            <a:rect l="l" t="t" r="r" b="b"/>
            <a:pathLst>
              <a:path w="2939740" h="768700">
                <a:moveTo>
                  <a:pt x="0" y="0"/>
                </a:moveTo>
                <a:lnTo>
                  <a:pt x="2939740" y="0"/>
                </a:lnTo>
                <a:lnTo>
                  <a:pt x="2939740" y="768700"/>
                </a:lnTo>
                <a:lnTo>
                  <a:pt x="0" y="76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20517" r="5367" b="-20516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C7B86E1F-73E7-4A1A-B928-E5FF2C4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9984" y="3443592"/>
            <a:ext cx="2347889" cy="6139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Frontend · ReactJS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88F276FF-D842-44FF-AB0E-DAF62CE0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7521" y="2454069"/>
            <a:ext cx="3033538" cy="2388304"/>
          </a:xfrm>
          <a:custGeom xmlns:a="http://schemas.openxmlformats.org/drawingml/2006/main">
            <a:rect l="l" t="t" r="r" b="b"/>
            <a:pathLst>
              <a:path w="3798224" h="2990342">
                <a:moveTo>
                  <a:pt x="0" y="221488"/>
                </a:moveTo>
                <a:cubicBezTo>
                  <a:pt x="0" y="99187"/>
                  <a:pt x="104813" y="0"/>
                  <a:pt x="234051" y="0"/>
                </a:cubicBezTo>
                <a:lnTo>
                  <a:pt x="3564173" y="0"/>
                </a:lnTo>
                <a:cubicBezTo>
                  <a:pt x="3693411" y="0"/>
                  <a:pt x="3798224" y="99187"/>
                  <a:pt x="3798224" y="221488"/>
                </a:cubicBezTo>
                <a:lnTo>
                  <a:pt x="3798224" y="2768854"/>
                </a:lnTo>
                <a:cubicBezTo>
                  <a:pt x="3798224" y="2891155"/>
                  <a:pt x="3693411" y="2990342"/>
                  <a:pt x="3564173" y="2990342"/>
                </a:cubicBezTo>
                <a:lnTo>
                  <a:pt x="234051" y="2990342"/>
                </a:lnTo>
                <a:cubicBezTo>
                  <a:pt x="104813" y="2990342"/>
                  <a:pt x="0" y="2891282"/>
                  <a:pt x="0" y="276885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98F082D-A7EE-44BD-A1FC-F5F7AE8A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751" y="2724393"/>
            <a:ext cx="849544" cy="561323"/>
          </a:xfrm>
          <a:custGeom xmlns:a="http://schemas.openxmlformats.org/drawingml/2006/main">
            <a:rect l="l" t="t" r="r" b="b"/>
            <a:pathLst>
              <a:path w="1063696" h="702821">
                <a:moveTo>
                  <a:pt x="0" y="0"/>
                </a:moveTo>
                <a:lnTo>
                  <a:pt x="1063696" y="0"/>
                </a:lnTo>
                <a:lnTo>
                  <a:pt x="1063696" y="702821"/>
                </a:lnTo>
                <a:lnTo>
                  <a:pt x="0" y="702821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6889DFC8-601E-4B70-B39B-C092CE3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0751" y="2724393"/>
            <a:ext cx="849566" cy="561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8F6DF9D3-9546-4DC7-BBFC-02007DD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8079" y="3443592"/>
            <a:ext cx="2347890" cy="613939"/>
          </a:xfrm>
          <a:custGeom xmlns:a="http://schemas.openxmlformats.org/drawingml/2006/main">
            <a:rect l="l" t="t" r="r" b="b"/>
            <a:pathLst>
              <a:path w="2939740" h="768700">
                <a:moveTo>
                  <a:pt x="0" y="0"/>
                </a:moveTo>
                <a:lnTo>
                  <a:pt x="2939740" y="0"/>
                </a:lnTo>
                <a:lnTo>
                  <a:pt x="2939740" y="768700"/>
                </a:lnTo>
                <a:lnTo>
                  <a:pt x="0" y="76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20517" r="5367" b="-20516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14EFA892-B441-43F2-8A71-12BEA39B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8079" y="3443592"/>
            <a:ext cx="2347889" cy="6139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Backend · Node.js + Next.js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3E9DEC38-AF32-47CE-9E00-A9467423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5615" y="2454069"/>
            <a:ext cx="3033538" cy="2388304"/>
          </a:xfrm>
          <a:custGeom xmlns:a="http://schemas.openxmlformats.org/drawingml/2006/main">
            <a:rect l="l" t="t" r="r" b="b"/>
            <a:pathLst>
              <a:path w="3798224" h="2990342">
                <a:moveTo>
                  <a:pt x="0" y="221488"/>
                </a:moveTo>
                <a:cubicBezTo>
                  <a:pt x="0" y="99187"/>
                  <a:pt x="104813" y="0"/>
                  <a:pt x="234051" y="0"/>
                </a:cubicBezTo>
                <a:lnTo>
                  <a:pt x="3564173" y="0"/>
                </a:lnTo>
                <a:cubicBezTo>
                  <a:pt x="3693411" y="0"/>
                  <a:pt x="3798224" y="99187"/>
                  <a:pt x="3798224" y="221488"/>
                </a:cubicBezTo>
                <a:lnTo>
                  <a:pt x="3798224" y="2768854"/>
                </a:lnTo>
                <a:cubicBezTo>
                  <a:pt x="3798224" y="2891155"/>
                  <a:pt x="3693411" y="2990342"/>
                  <a:pt x="3564173" y="2990342"/>
                </a:cubicBezTo>
                <a:lnTo>
                  <a:pt x="234051" y="2990342"/>
                </a:lnTo>
                <a:cubicBezTo>
                  <a:pt x="104813" y="2990342"/>
                  <a:pt x="0" y="2891282"/>
                  <a:pt x="0" y="276885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8E4C548C-429B-49D7-88BC-E18AB0AE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845" y="2724393"/>
            <a:ext cx="849544" cy="561323"/>
          </a:xfrm>
          <a:custGeom xmlns:a="http://schemas.openxmlformats.org/drawingml/2006/main">
            <a:rect l="l" t="t" r="r" b="b"/>
            <a:pathLst>
              <a:path w="1063696" h="702821">
                <a:moveTo>
                  <a:pt x="0" y="0"/>
                </a:moveTo>
                <a:lnTo>
                  <a:pt x="1063696" y="0"/>
                </a:lnTo>
                <a:lnTo>
                  <a:pt x="1063696" y="702821"/>
                </a:lnTo>
                <a:lnTo>
                  <a:pt x="0" y="702821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B8742B6E-4C2E-4FA2-9C2E-8B0E1775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8845" y="2724393"/>
            <a:ext cx="849566" cy="561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FD0E9A1D-F682-4FBA-A4D1-9D2019E9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163" y="3443592"/>
            <a:ext cx="2347890" cy="613939"/>
          </a:xfrm>
          <a:custGeom xmlns:a="http://schemas.openxmlformats.org/drawingml/2006/main">
            <a:rect l="l" t="t" r="r" b="b"/>
            <a:pathLst>
              <a:path w="2939740" h="768700">
                <a:moveTo>
                  <a:pt x="0" y="0"/>
                </a:moveTo>
                <a:lnTo>
                  <a:pt x="2939740" y="0"/>
                </a:lnTo>
                <a:lnTo>
                  <a:pt x="2939740" y="768700"/>
                </a:lnTo>
                <a:lnTo>
                  <a:pt x="0" y="76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20517" r="5367" b="-20516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F2B7885E-CA3F-4DE6-9A17-7CCAD949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6163" y="3443592"/>
            <a:ext cx="2347889" cy="6139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AI Service · Python FastAPI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57E0D9CE-6F84-4CD4-8648-F2C5DFBE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03699" y="2454069"/>
            <a:ext cx="3033538" cy="2388304"/>
          </a:xfrm>
          <a:custGeom xmlns:a="http://schemas.openxmlformats.org/drawingml/2006/main">
            <a:rect l="l" t="t" r="r" b="b"/>
            <a:pathLst>
              <a:path w="3798224" h="2990342">
                <a:moveTo>
                  <a:pt x="0" y="221488"/>
                </a:moveTo>
                <a:cubicBezTo>
                  <a:pt x="0" y="99187"/>
                  <a:pt x="104813" y="0"/>
                  <a:pt x="234051" y="0"/>
                </a:cubicBezTo>
                <a:lnTo>
                  <a:pt x="3564173" y="0"/>
                </a:lnTo>
                <a:cubicBezTo>
                  <a:pt x="3693411" y="0"/>
                  <a:pt x="3798224" y="99187"/>
                  <a:pt x="3798224" y="221488"/>
                </a:cubicBezTo>
                <a:lnTo>
                  <a:pt x="3798224" y="2768854"/>
                </a:lnTo>
                <a:cubicBezTo>
                  <a:pt x="3798224" y="2891155"/>
                  <a:pt x="3693411" y="2990342"/>
                  <a:pt x="3564173" y="2990342"/>
                </a:cubicBezTo>
                <a:lnTo>
                  <a:pt x="234051" y="2990342"/>
                </a:lnTo>
                <a:cubicBezTo>
                  <a:pt x="104813" y="2990342"/>
                  <a:pt x="0" y="2891282"/>
                  <a:pt x="0" y="276885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CCD9988-395A-42B5-BC2B-43337842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6929" y="2724393"/>
            <a:ext cx="849544" cy="561323"/>
          </a:xfrm>
          <a:custGeom xmlns:a="http://schemas.openxmlformats.org/drawingml/2006/main">
            <a:rect l="l" t="t" r="r" b="b"/>
            <a:pathLst>
              <a:path w="1063696" h="702821">
                <a:moveTo>
                  <a:pt x="0" y="0"/>
                </a:moveTo>
                <a:lnTo>
                  <a:pt x="1063696" y="0"/>
                </a:lnTo>
                <a:lnTo>
                  <a:pt x="1063696" y="702821"/>
                </a:lnTo>
                <a:lnTo>
                  <a:pt x="0" y="702821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53E61632-32C1-4051-A165-F7B1FABD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6929" y="2724393"/>
            <a:ext cx="849566" cy="561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82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9F22D74C-20BB-4CA3-86ED-DCAFA575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257" y="3443592"/>
            <a:ext cx="2347890" cy="613939"/>
          </a:xfrm>
          <a:custGeom xmlns:a="http://schemas.openxmlformats.org/drawingml/2006/main">
            <a:rect l="l" t="t" r="r" b="b"/>
            <a:pathLst>
              <a:path w="2939740" h="768700">
                <a:moveTo>
                  <a:pt x="0" y="0"/>
                </a:moveTo>
                <a:lnTo>
                  <a:pt x="2939740" y="0"/>
                </a:lnTo>
                <a:lnTo>
                  <a:pt x="2939740" y="768700"/>
                </a:lnTo>
                <a:lnTo>
                  <a:pt x="0" y="76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20517" r="5367" b="-20516"/>
            </a:stretch>
          </a:blip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15BF5BEB-9D81-4220-87C2-C075C17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4257" y="3443592"/>
            <a:ext cx="2347889" cy="6139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Database</a:t>
            </a:r>
          </a:p>
          <a:p xmlns:a="http://schemas.openxmlformats.org/drawingml/2006/main">
            <a:pPr algn="ctr">
              <a:lnSpc>
                <a:spcPts val="183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F2A925A7-0462-4CC6-B7D7-C3C9B092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5809" y="5728240"/>
            <a:ext cx="5784246" cy="1693735"/>
          </a:xfrm>
          <a:custGeom xmlns:a="http://schemas.openxmlformats.org/drawingml/2006/main">
            <a:rect l="l" t="t" r="r" b="b"/>
            <a:pathLst>
              <a:path w="7712329" h="2258314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7490206" y="0"/>
                </a:lnTo>
                <a:cubicBezTo>
                  <a:pt x="7612888" y="0"/>
                  <a:pt x="7712329" y="99441"/>
                  <a:pt x="7712329" y="222123"/>
                </a:cubicBezTo>
                <a:lnTo>
                  <a:pt x="7712329" y="2036191"/>
                </a:lnTo>
                <a:cubicBezTo>
                  <a:pt x="7712329" y="2158873"/>
                  <a:pt x="7612888" y="2258314"/>
                  <a:pt x="7490206" y="2258314"/>
                </a:cubicBezTo>
                <a:lnTo>
                  <a:pt x="222123" y="2258314"/>
                </a:lnTo>
                <a:cubicBezTo>
                  <a:pt x="99441" y="2258314"/>
                  <a:pt x="0" y="2158873"/>
                  <a:pt x="0" y="2036191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D840B99B-F38A-4D3A-838E-2CBB5E0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2422" y="5902490"/>
            <a:ext cx="5271062" cy="343169"/>
          </a:xfrm>
          <a:custGeom xmlns:a="http://schemas.openxmlformats.org/drawingml/2006/main">
            <a:rect l="l" t="t" r="r" b="b"/>
            <a:pathLst>
              <a:path w="7028083" h="457559">
                <a:moveTo>
                  <a:pt x="0" y="0"/>
                </a:moveTo>
                <a:lnTo>
                  <a:pt x="7028083" y="0"/>
                </a:lnTo>
                <a:lnTo>
                  <a:pt x="7028083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249289" r="0" b="-249288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F43B08-778A-485B-B03F-96A0ECB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2422" y="5902490"/>
            <a:ext cx="5271059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0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Database Entities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D688441C-EC9B-46E4-BB71-0E03CE65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2422" y="6355471"/>
            <a:ext cx="5271062" cy="878510"/>
          </a:xfrm>
          <a:custGeom xmlns:a="http://schemas.openxmlformats.org/drawingml/2006/main">
            <a:rect l="l" t="t" r="r" b="b"/>
            <a:pathLst>
              <a:path w="7028083" h="1171348">
                <a:moveTo>
                  <a:pt x="0" y="0"/>
                </a:moveTo>
                <a:lnTo>
                  <a:pt x="7028083" y="0"/>
                </a:lnTo>
                <a:lnTo>
                  <a:pt x="7028083" y="1171348"/>
                </a:lnTo>
                <a:lnTo>
                  <a:pt x="0" y="117134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66910" r="0" b="-66910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C6864F9A-07E5-4563-A7B6-9B678A8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2422" y="6355471"/>
            <a:ext cx="5271059" cy="878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51">
                <a:solidFill>
                  <a:srgbClr val="EEF4F7"/>
                </a:solidFill>
                <a:latin typeface="Arial"/>
                <a:ea typeface="Arial"/>
                <a:cs typeface="Arial"/>
              </a:rPr>
              <a:t>Users · Courts · Bookings · Payments · Reviews · Matching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F59B62A0-1E73-41CD-90E9-7DC571A5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8740" y="5728240"/>
            <a:ext cx="6813803" cy="1693735"/>
          </a:xfrm>
          <a:custGeom xmlns:a="http://schemas.openxmlformats.org/drawingml/2006/main">
            <a:rect l="l" t="t" r="r" b="b"/>
            <a:pathLst>
              <a:path w="9085072" h="2258314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8862949" y="0"/>
                </a:lnTo>
                <a:cubicBezTo>
                  <a:pt x="8985631" y="0"/>
                  <a:pt x="9085072" y="99441"/>
                  <a:pt x="9085072" y="222123"/>
                </a:cubicBezTo>
                <a:lnTo>
                  <a:pt x="9085072" y="2036191"/>
                </a:lnTo>
                <a:cubicBezTo>
                  <a:pt x="9085072" y="2158873"/>
                  <a:pt x="8985631" y="2258314"/>
                  <a:pt x="8862949" y="2258314"/>
                </a:cubicBezTo>
                <a:lnTo>
                  <a:pt x="222123" y="2258314"/>
                </a:lnTo>
                <a:cubicBezTo>
                  <a:pt x="99441" y="2258314"/>
                  <a:pt x="0" y="2158873"/>
                  <a:pt x="0" y="2036191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65" name="Freeform 65">
            <a:extLst xmlns:a="http://schemas.openxmlformats.org/drawingml/2006/main">
              <a:ext uri="{FF2B5EF4-FFF2-40B4-BE49-F238E27FC236}">
                <a16:creationId xmlns:a16="http://schemas.microsoft.com/office/drawing/2014/main" id="{83D5E11A-0AE0-425F-8CF5-CDFF409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353" y="5902490"/>
            <a:ext cx="6300565" cy="343167"/>
          </a:xfrm>
          <a:custGeom xmlns:a="http://schemas.openxmlformats.org/drawingml/2006/main">
            <a:rect l="l" t="t" r="r" b="b"/>
            <a:pathLst>
              <a:path w="8400755" h="457557">
                <a:moveTo>
                  <a:pt x="0" y="0"/>
                </a:moveTo>
                <a:lnTo>
                  <a:pt x="8400755" y="0"/>
                </a:lnTo>
                <a:lnTo>
                  <a:pt x="8400755" y="457557"/>
                </a:lnTo>
                <a:lnTo>
                  <a:pt x="0" y="45755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307745" r="0" b="-307745"/>
            </a:stretch>
          </a:blipFill>
        </p:spPr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2B3C6404-A872-4081-A65A-E360DEB1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353" y="5902490"/>
            <a:ext cx="6300568" cy="343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80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EXTERNAL SERVICES</a:t>
            </a:r>
          </a:p>
        </p:txBody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FA43E4A4-44E5-4345-ACE0-882F3FD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353" y="6355471"/>
            <a:ext cx="6300565" cy="890699"/>
          </a:xfrm>
          <a:custGeom xmlns:a="http://schemas.openxmlformats.org/drawingml/2006/main">
            <a:rect l="l" t="t" r="r" b="b"/>
            <a:pathLst>
              <a:path w="8400755" h="1187599">
                <a:moveTo>
                  <a:pt x="0" y="0"/>
                </a:moveTo>
                <a:lnTo>
                  <a:pt x="8400755" y="0"/>
                </a:lnTo>
                <a:lnTo>
                  <a:pt x="8400755" y="1187599"/>
                </a:lnTo>
                <a:lnTo>
                  <a:pt x="0" y="118759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88516" r="0" b="-87147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BEF9530D-6A51-48CF-B41B-CDEEB314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5353" y="6355471"/>
            <a:ext cx="6300568" cy="8906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307898" indent="-153949" algn="l">
              <a:lnSpc>
                <a:spcPts val="1711"/>
              </a:lnSpc>
              <a:buChar char="•"/>
              <a:defRPr sz="15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Payment Gateway: PayOS/MoMo/VNPAY</a:t>
            </a:r>
          </a:p>
          <a:p xmlns:a="http://schemas.openxmlformats.org/drawingml/2006/main">
            <a:pPr marL="307899" indent="-153949" algn="l">
              <a:lnSpc>
                <a:spcPts val="1711"/>
              </a:lnSpc>
              <a:buChar char="•"/>
              <a:defRPr sz="15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Email Service · Socket.IO · AI Internal API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AE5D3C92-2471-444A-92A5-16E4B667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FB07ED41-DD1F-4C87-A3B0-B06DD12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8F03FBE9-8ADF-47D8-9E5F-C2B55993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3455" y="8119589"/>
            <a:ext cx="5554258" cy="1626391"/>
          </a:xfrm>
          <a:custGeom xmlns:a="http://schemas.openxmlformats.org/drawingml/2006/main">
            <a:rect l="l" t="t" r="r" b="b"/>
            <a:pathLst>
              <a:path w="7712329" h="2258314">
                <a:moveTo>
                  <a:pt x="0" y="222123"/>
                </a:moveTo>
                <a:cubicBezTo>
                  <a:pt x="0" y="99441"/>
                  <a:pt x="99441" y="0"/>
                  <a:pt x="222123" y="0"/>
                </a:cubicBezTo>
                <a:lnTo>
                  <a:pt x="7490206" y="0"/>
                </a:lnTo>
                <a:cubicBezTo>
                  <a:pt x="7612888" y="0"/>
                  <a:pt x="7712329" y="99441"/>
                  <a:pt x="7712329" y="222123"/>
                </a:cubicBezTo>
                <a:lnTo>
                  <a:pt x="7712329" y="2036191"/>
                </a:lnTo>
                <a:cubicBezTo>
                  <a:pt x="7712329" y="2158873"/>
                  <a:pt x="7612888" y="2258314"/>
                  <a:pt x="7490206" y="2258314"/>
                </a:cubicBezTo>
                <a:lnTo>
                  <a:pt x="222123" y="2258314"/>
                </a:lnTo>
                <a:cubicBezTo>
                  <a:pt x="99441" y="2258314"/>
                  <a:pt x="0" y="2158873"/>
                  <a:pt x="0" y="2036191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27314E33-EEA9-47DC-90EB-3C4715CA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221" y="8643464"/>
            <a:ext cx="3533367" cy="1157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410077" indent="-205038" algn="l">
              <a:lnSpc>
                <a:spcPts val="2279"/>
              </a:lnSpc>
              <a:buChar char="•"/>
              <a:defRPr sz="157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EEF4F7"/>
                </a:solidFill>
                <a:latin typeface="Arial"/>
                <a:ea typeface="Arial"/>
                <a:cs typeface="Arial"/>
              </a:rPr>
              <a:t>Multi-layer · Realtime &lt; 5 giây · AI Service độc lập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79820C2B-C2E5-4999-8A31-B8960641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538" y="8243146"/>
            <a:ext cx="2009434" cy="343169"/>
          </a:xfrm>
          <a:custGeom xmlns:a="http://schemas.openxmlformats.org/drawingml/2006/main">
            <a:rect l="l" t="t" r="r" b="b"/>
            <a:pathLst>
              <a:path w="2679247" h="457559">
                <a:moveTo>
                  <a:pt x="0" y="0"/>
                </a:moveTo>
                <a:lnTo>
                  <a:pt x="2679247" y="0"/>
                </a:lnTo>
                <a:lnTo>
                  <a:pt x="2679247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cd18add18749c5">
              <a:alphaModFix amt="0"/>
            </a:blip>
            <a:stretch>
              <a:fillRect l="0" t="-249289" r="-162315" b="-249288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36F6B2E3-6BCF-4D52-820E-30F24747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9538" y="8243146"/>
            <a:ext cx="2009432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0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</p:spTree>
    <p:extLst>
      <p:ext uri="{BB962C8B-B14F-4D97-AF65-F5344CB8AC3E}">
        <p14:creationId xmlns:p14="http://schemas.microsoft.com/office/powerpoint/2010/main" val="1374738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1318669-6D33-470E-8B06-B8DB6576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628B760-E325-4B25-AA70-9D9B8863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6CC090E-E9C4-411D-9F33-1AC8023B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96ED2B5-ECD9-423E-AAFA-1C2B358B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F183B1-060F-4EF2-AAA0-84876A1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Package Diagram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B9EBD90-8A72-4F05-A1DE-E2E73170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DDDB24CC-96E6-4B40-922C-3CFA26E4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Nghiệp vụ tách lớp rõ ràng; AI Service hoạt động độc lập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8FCF3A1-B57B-4D80-A307-688269D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9453" y="1516370"/>
            <a:ext cx="4755288" cy="1567001"/>
          </a:xfrm>
          <a:custGeom xmlns:a="http://schemas.openxmlformats.org/drawingml/2006/main">
            <a:rect l="l" t="t" r="r" b="b"/>
            <a:pathLst>
              <a:path w="6340385" h="2089335">
                <a:moveTo>
                  <a:pt x="0" y="143261"/>
                </a:moveTo>
                <a:cubicBezTo>
                  <a:pt x="0" y="64110"/>
                  <a:pt x="69837" y="0"/>
                  <a:pt x="156059" y="0"/>
                </a:cubicBezTo>
                <a:lnTo>
                  <a:pt x="6184326" y="0"/>
                </a:lnTo>
                <a:cubicBezTo>
                  <a:pt x="6270548" y="0"/>
                  <a:pt x="6340385" y="64110"/>
                  <a:pt x="6340385" y="143261"/>
                </a:cubicBezTo>
                <a:lnTo>
                  <a:pt x="6340385" y="1946069"/>
                </a:lnTo>
                <a:cubicBezTo>
                  <a:pt x="6340385" y="2025221"/>
                  <a:pt x="6270548" y="2089335"/>
                  <a:pt x="6184326" y="2089335"/>
                </a:cubicBezTo>
                <a:lnTo>
                  <a:pt x="156059" y="2089335"/>
                </a:lnTo>
                <a:cubicBezTo>
                  <a:pt x="69837" y="2089335"/>
                  <a:pt x="0" y="2025138"/>
                  <a:pt x="0" y="194606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CEEA013A-D53D-4B5F-8BA3-1EDCD4FC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1629143"/>
            <a:ext cx="4393489" cy="447520"/>
          </a:xfrm>
          <a:custGeom xmlns:a="http://schemas.openxmlformats.org/drawingml/2006/main">
            <a:rect l="l" t="t" r="r" b="b"/>
            <a:pathLst>
              <a:path w="5857985" h="596694">
                <a:moveTo>
                  <a:pt x="0" y="0"/>
                </a:moveTo>
                <a:lnTo>
                  <a:pt x="5857985" y="0"/>
                </a:lnTo>
                <a:lnTo>
                  <a:pt x="5857985" y="596694"/>
                </a:lnTo>
                <a:lnTo>
                  <a:pt x="0" y="5966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232997" r="-41844" b="-209679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A8C552F-B9F3-4418-900B-53E8B338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1629143"/>
            <a:ext cx="4393487" cy="447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9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Presentation Layer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0EC0DAB1-6F7F-434A-A885-9CC82032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1922304"/>
            <a:ext cx="4393489" cy="1039395"/>
          </a:xfrm>
          <a:custGeom xmlns:a="http://schemas.openxmlformats.org/drawingml/2006/main">
            <a:rect l="l" t="t" r="r" b="b"/>
            <a:pathLst>
              <a:path w="5857985" h="1385860">
                <a:moveTo>
                  <a:pt x="0" y="0"/>
                </a:moveTo>
                <a:lnTo>
                  <a:pt x="5857985" y="0"/>
                </a:lnTo>
                <a:lnTo>
                  <a:pt x="5857985" y="1385860"/>
                </a:lnTo>
                <a:lnTo>
                  <a:pt x="0" y="138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39569" r="-41844" b="-94084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8EB8BA4-F393-41C6-BFA6-28672EEA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1922304"/>
            <a:ext cx="4393487" cy="1039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EEF4F7"/>
                </a:solidFill>
                <a:latin typeface="Arial"/>
                <a:ea typeface="Arial"/>
                <a:cs typeface="Arial"/>
              </a:rPr>
              <a:t>Giao diện, routing, shared components, providers và API client.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DE6BABC5-7D1E-4396-9303-F90FC443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9453" y="3454290"/>
            <a:ext cx="4755288" cy="1567001"/>
          </a:xfrm>
          <a:custGeom xmlns:a="http://schemas.openxmlformats.org/drawingml/2006/main">
            <a:rect l="l" t="t" r="r" b="b"/>
            <a:pathLst>
              <a:path w="6340385" h="2089335">
                <a:moveTo>
                  <a:pt x="0" y="143261"/>
                </a:moveTo>
                <a:cubicBezTo>
                  <a:pt x="0" y="64110"/>
                  <a:pt x="69837" y="0"/>
                  <a:pt x="156059" y="0"/>
                </a:cubicBezTo>
                <a:lnTo>
                  <a:pt x="6184326" y="0"/>
                </a:lnTo>
                <a:cubicBezTo>
                  <a:pt x="6270548" y="0"/>
                  <a:pt x="6340385" y="64110"/>
                  <a:pt x="6340385" y="143261"/>
                </a:cubicBezTo>
                <a:lnTo>
                  <a:pt x="6340385" y="1946069"/>
                </a:lnTo>
                <a:cubicBezTo>
                  <a:pt x="6340385" y="2025221"/>
                  <a:pt x="6270548" y="2089335"/>
                  <a:pt x="6184326" y="2089335"/>
                </a:cubicBezTo>
                <a:lnTo>
                  <a:pt x="156059" y="2089335"/>
                </a:lnTo>
                <a:cubicBezTo>
                  <a:pt x="69837" y="2089335"/>
                  <a:pt x="0" y="2025138"/>
                  <a:pt x="0" y="194606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07A18B6-6F76-463D-83E2-9764D55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3567062"/>
            <a:ext cx="4393489" cy="447520"/>
          </a:xfrm>
          <a:custGeom xmlns:a="http://schemas.openxmlformats.org/drawingml/2006/main">
            <a:rect l="l" t="t" r="r" b="b"/>
            <a:pathLst>
              <a:path w="5857985" h="596694">
                <a:moveTo>
                  <a:pt x="0" y="0"/>
                </a:moveTo>
                <a:lnTo>
                  <a:pt x="5857985" y="0"/>
                </a:lnTo>
                <a:lnTo>
                  <a:pt x="5857985" y="596694"/>
                </a:lnTo>
                <a:lnTo>
                  <a:pt x="0" y="5966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232997" r="-41844" b="-20967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C2CB822-BBFF-48B4-A51C-3D66C7A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3567062"/>
            <a:ext cx="4393487" cy="447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9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Business Layer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EA146D9-A025-4845-B577-4DE19E8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3780302"/>
            <a:ext cx="4393489" cy="1231002"/>
          </a:xfrm>
          <a:custGeom xmlns:a="http://schemas.openxmlformats.org/drawingml/2006/main">
            <a:rect l="l" t="t" r="r" b="b"/>
            <a:pathLst>
              <a:path w="5857985" h="1641337">
                <a:moveTo>
                  <a:pt x="0" y="0"/>
                </a:moveTo>
                <a:lnTo>
                  <a:pt x="5857985" y="0"/>
                </a:lnTo>
                <a:lnTo>
                  <a:pt x="5857985" y="1641337"/>
                </a:lnTo>
                <a:lnTo>
                  <a:pt x="0" y="16413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33410" r="-41844" b="-63875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29008D7-C72D-4488-A40E-A7642A6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3780302"/>
            <a:ext cx="4393487" cy="12310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Auth; User &amp; Role; Booking; Court &amp; Coach; Payment &amp; Refund; Matching; Promotion; Review &amp; Notification; Maintenance; Report &amp; Log.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06E58BC-9355-48E1-B0F2-9531910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9453" y="5353494"/>
            <a:ext cx="4755288" cy="1567001"/>
          </a:xfrm>
          <a:custGeom xmlns:a="http://schemas.openxmlformats.org/drawingml/2006/main">
            <a:rect l="l" t="t" r="r" b="b"/>
            <a:pathLst>
              <a:path w="6340385" h="2089335">
                <a:moveTo>
                  <a:pt x="0" y="143261"/>
                </a:moveTo>
                <a:cubicBezTo>
                  <a:pt x="0" y="64110"/>
                  <a:pt x="69837" y="0"/>
                  <a:pt x="156059" y="0"/>
                </a:cubicBezTo>
                <a:lnTo>
                  <a:pt x="6184326" y="0"/>
                </a:lnTo>
                <a:cubicBezTo>
                  <a:pt x="6270548" y="0"/>
                  <a:pt x="6340385" y="64110"/>
                  <a:pt x="6340385" y="143261"/>
                </a:cubicBezTo>
                <a:lnTo>
                  <a:pt x="6340385" y="1946069"/>
                </a:lnTo>
                <a:cubicBezTo>
                  <a:pt x="6340385" y="2025221"/>
                  <a:pt x="6270548" y="2089335"/>
                  <a:pt x="6184326" y="2089335"/>
                </a:cubicBezTo>
                <a:lnTo>
                  <a:pt x="156059" y="2089335"/>
                </a:lnTo>
                <a:cubicBezTo>
                  <a:pt x="69837" y="2089335"/>
                  <a:pt x="0" y="2025138"/>
                  <a:pt x="0" y="194606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04B1331-A02E-41D2-8205-720C10CA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5466266"/>
            <a:ext cx="4393489" cy="447520"/>
          </a:xfrm>
          <a:custGeom xmlns:a="http://schemas.openxmlformats.org/drawingml/2006/main">
            <a:rect l="l" t="t" r="r" b="b"/>
            <a:pathLst>
              <a:path w="5857985" h="596694">
                <a:moveTo>
                  <a:pt x="0" y="0"/>
                </a:moveTo>
                <a:lnTo>
                  <a:pt x="5857985" y="0"/>
                </a:lnTo>
                <a:lnTo>
                  <a:pt x="5857985" y="596694"/>
                </a:lnTo>
                <a:lnTo>
                  <a:pt x="0" y="5966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232997" r="-41844" b="-209679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4EDF1210-3801-4A4B-B17E-65640EE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5466266"/>
            <a:ext cx="4393487" cy="447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95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Data Layer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5931B825-774E-4D87-91C7-7224CA3C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5759434"/>
            <a:ext cx="4393489" cy="1039395"/>
          </a:xfrm>
          <a:custGeom xmlns:a="http://schemas.openxmlformats.org/drawingml/2006/main">
            <a:rect l="l" t="t" r="r" b="b"/>
            <a:pathLst>
              <a:path w="5857985" h="1385860">
                <a:moveTo>
                  <a:pt x="0" y="0"/>
                </a:moveTo>
                <a:lnTo>
                  <a:pt x="5857985" y="0"/>
                </a:lnTo>
                <a:lnTo>
                  <a:pt x="5857985" y="1385860"/>
                </a:lnTo>
                <a:lnTo>
                  <a:pt x="0" y="138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39569" r="-41844" b="-94084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F6F818F5-3C65-4DC5-BD31-AD9A4230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5759434"/>
            <a:ext cx="4393487" cy="1039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EEF4F7"/>
                </a:solidFill>
                <a:latin typeface="Arial"/>
                <a:ea typeface="Arial"/>
                <a:cs typeface="Arial"/>
              </a:rPr>
              <a:t>Quản lý kết nối và lưu trữ; mọi package nghiệp vụ truy cập qua Database Package.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5C7773AB-0BA0-4D6F-ACCF-9E6582F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9453" y="7366895"/>
            <a:ext cx="4755288" cy="1567001"/>
          </a:xfrm>
          <a:custGeom xmlns:a="http://schemas.openxmlformats.org/drawingml/2006/main">
            <a:rect l="l" t="t" r="r" b="b"/>
            <a:pathLst>
              <a:path w="6340385" h="2089335">
                <a:moveTo>
                  <a:pt x="0" y="143261"/>
                </a:moveTo>
                <a:cubicBezTo>
                  <a:pt x="0" y="64110"/>
                  <a:pt x="69837" y="0"/>
                  <a:pt x="156059" y="0"/>
                </a:cubicBezTo>
                <a:lnTo>
                  <a:pt x="6184326" y="0"/>
                </a:lnTo>
                <a:cubicBezTo>
                  <a:pt x="6270548" y="0"/>
                  <a:pt x="6340385" y="64110"/>
                  <a:pt x="6340385" y="143261"/>
                </a:cubicBezTo>
                <a:lnTo>
                  <a:pt x="6340385" y="1946069"/>
                </a:lnTo>
                <a:cubicBezTo>
                  <a:pt x="6340385" y="2025221"/>
                  <a:pt x="6270548" y="2089335"/>
                  <a:pt x="6184326" y="2089335"/>
                </a:cubicBezTo>
                <a:lnTo>
                  <a:pt x="156059" y="2089335"/>
                </a:lnTo>
                <a:cubicBezTo>
                  <a:pt x="69837" y="2089335"/>
                  <a:pt x="0" y="2025138"/>
                  <a:pt x="0" y="1946069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A0BDA57F-5477-41E9-A84A-20FD6ADD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7479667"/>
            <a:ext cx="4393489" cy="447520"/>
          </a:xfrm>
          <a:custGeom xmlns:a="http://schemas.openxmlformats.org/drawingml/2006/main">
            <a:rect l="l" t="t" r="r" b="b"/>
            <a:pathLst>
              <a:path w="5857985" h="596694">
                <a:moveTo>
                  <a:pt x="0" y="0"/>
                </a:moveTo>
                <a:lnTo>
                  <a:pt x="5857985" y="0"/>
                </a:lnTo>
                <a:lnTo>
                  <a:pt x="5857985" y="596694"/>
                </a:lnTo>
                <a:lnTo>
                  <a:pt x="0" y="59669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232997" r="-41844" b="-209679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9EE0628F-66D1-4609-A59A-C5603850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7479667"/>
            <a:ext cx="4393487" cy="4475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34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9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Service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E6D37A1-EE43-45BB-8479-FF47499C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7772835"/>
            <a:ext cx="4393489" cy="1039395"/>
          </a:xfrm>
          <a:custGeom xmlns:a="http://schemas.openxmlformats.org/drawingml/2006/main">
            <a:rect l="l" t="t" r="r" b="b"/>
            <a:pathLst>
              <a:path w="5857985" h="1385860">
                <a:moveTo>
                  <a:pt x="0" y="0"/>
                </a:moveTo>
                <a:lnTo>
                  <a:pt x="5857985" y="0"/>
                </a:lnTo>
                <a:lnTo>
                  <a:pt x="5857985" y="1385860"/>
                </a:lnTo>
                <a:lnTo>
                  <a:pt x="0" y="138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e4eaca4ae9b4535">
              <a:alphaModFix amt="0"/>
            </a:blip>
            <a:stretch>
              <a:fillRect l="0" t="-39569" r="-41844" b="-94084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7AD8AB0A-0E4A-4622-BEC4-228DC4B9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0364" y="7772835"/>
            <a:ext cx="4393487" cy="10393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EEF4F7"/>
                </a:solidFill>
                <a:latin typeface="Arial"/>
                <a:ea typeface="Arial"/>
                <a:cs typeface="Arial"/>
              </a:rPr>
              <a:t>FastAPI độc lập, hỗ trợ matching, gợi ý Coach, lịch học và phân tích dữ liệu.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66B5053D-E2C8-4D32-9B2B-C422D07F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3ECBC0CB-8366-4457-8394-741D5E5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E0792E0-C605-4649-974E-F648F95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2547" y="1516370"/>
            <a:ext cx="11163871" cy="8229600"/>
          </a:xfrm>
          <a:custGeom xmlns:a="http://schemas.openxmlformats.org/drawingml/2006/main">
            <a:rect l="l" t="t" r="r" b="b"/>
            <a:pathLst>
              <a:path w="14885163" h="10972800">
                <a:moveTo>
                  <a:pt x="0" y="0"/>
                </a:moveTo>
                <a:lnTo>
                  <a:pt x="14885163" y="0"/>
                </a:lnTo>
                <a:lnTo>
                  <a:pt x="14885163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e80db87d10842f8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919636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4319D9E-94DC-4EE3-AEEE-4C00E10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67CED44-2445-47CB-A96E-5CC2B9F2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9371D3DC-0064-4968-B1E9-E543B98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626E624-63F6-46A3-9A38-054D7928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0B58C7BC-0862-4538-81EB-B4CDA0A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Class Diagram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169AEE1-143A-4FCF-9043-D7081AA9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5BEF70B-FC81-4E9B-86BC-3B08E457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4 nhóm lớp liên kết người dùng, sân, booking và matching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802829C-3C84-4728-99B3-C0614E12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DDF3820-92F4-4BC6-8760-917C8FF0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916715"/>
            <a:ext cx="7499579" cy="2612320"/>
          </a:xfrm>
          <a:custGeom xmlns:a="http://schemas.openxmlformats.org/drawingml/2006/main">
            <a:rect l="l" t="t" r="r" b="b"/>
            <a:pathLst>
              <a:path w="9268079" h="3228340">
                <a:moveTo>
                  <a:pt x="0" y="221361"/>
                </a:moveTo>
                <a:cubicBezTo>
                  <a:pt x="0" y="99060"/>
                  <a:pt x="99060" y="0"/>
                  <a:pt x="221361" y="0"/>
                </a:cubicBezTo>
                <a:lnTo>
                  <a:pt x="9046718" y="0"/>
                </a:lnTo>
                <a:cubicBezTo>
                  <a:pt x="9169019" y="0"/>
                  <a:pt x="9268079" y="99060"/>
                  <a:pt x="9268079" y="221361"/>
                </a:cubicBezTo>
                <a:lnTo>
                  <a:pt x="9268079" y="3006979"/>
                </a:lnTo>
                <a:cubicBezTo>
                  <a:pt x="9268079" y="3129280"/>
                  <a:pt x="9169019" y="3228340"/>
                  <a:pt x="9046718" y="3228340"/>
                </a:cubicBezTo>
                <a:lnTo>
                  <a:pt x="221361" y="3228340"/>
                </a:lnTo>
                <a:cubicBezTo>
                  <a:pt x="99060" y="3228340"/>
                  <a:pt x="0" y="3129153"/>
                  <a:pt x="0" y="300697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7F7295BB-4E14-4E0A-AF08-6582BC34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745" y="2512016"/>
            <a:ext cx="6945853" cy="370249"/>
          </a:xfrm>
          <a:custGeom xmlns:a="http://schemas.openxmlformats.org/drawingml/2006/main">
            <a:rect l="l" t="t" r="r" b="b"/>
            <a:pathLst>
              <a:path w="8583778" h="457559">
                <a:moveTo>
                  <a:pt x="0" y="0"/>
                </a:moveTo>
                <a:lnTo>
                  <a:pt x="8583778" y="0"/>
                </a:lnTo>
                <a:lnTo>
                  <a:pt x="8583778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315538" r="0" b="-315537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D01A3A-7D01-4723-B730-FA64C76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6745" y="2512016"/>
            <a:ext cx="6945853" cy="370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User &amp; Role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699FD08-4E11-4A81-A633-0736E454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2753329"/>
            <a:ext cx="7064338" cy="1732757"/>
          </a:xfrm>
          <a:custGeom xmlns:a="http://schemas.openxmlformats.org/drawingml/2006/main">
            <a:rect l="l" t="t" r="r" b="b"/>
            <a:pathLst>
              <a:path w="8730203" h="2141365">
                <a:moveTo>
                  <a:pt x="0" y="0"/>
                </a:moveTo>
                <a:lnTo>
                  <a:pt x="8730203" y="0"/>
                </a:lnTo>
                <a:lnTo>
                  <a:pt x="8730203" y="2141365"/>
                </a:lnTo>
                <a:lnTo>
                  <a:pt x="0" y="21413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28106" r="1677" b="-28106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BF1A3FF-879B-4659-82A5-EBEFC83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2745622"/>
            <a:ext cx="7064338" cy="1740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User · Role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 · CoachSchedule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29F3AF1-63B5-4348-92AB-6DB325E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0553" y="1916715"/>
            <a:ext cx="7499579" cy="2612320"/>
          </a:xfrm>
          <a:custGeom xmlns:a="http://schemas.openxmlformats.org/drawingml/2006/main">
            <a:rect l="l" t="t" r="r" b="b"/>
            <a:pathLst>
              <a:path w="9268079" h="3228340">
                <a:moveTo>
                  <a:pt x="0" y="221361"/>
                </a:moveTo>
                <a:cubicBezTo>
                  <a:pt x="0" y="99060"/>
                  <a:pt x="99060" y="0"/>
                  <a:pt x="221361" y="0"/>
                </a:cubicBezTo>
                <a:lnTo>
                  <a:pt x="9046718" y="0"/>
                </a:lnTo>
                <a:cubicBezTo>
                  <a:pt x="9169019" y="0"/>
                  <a:pt x="9268079" y="99060"/>
                  <a:pt x="9268079" y="221361"/>
                </a:cubicBezTo>
                <a:lnTo>
                  <a:pt x="9268079" y="3006979"/>
                </a:lnTo>
                <a:cubicBezTo>
                  <a:pt x="9268079" y="3129280"/>
                  <a:pt x="9169019" y="3228340"/>
                  <a:pt x="9046718" y="3228340"/>
                </a:cubicBezTo>
                <a:lnTo>
                  <a:pt x="221361" y="3228340"/>
                </a:lnTo>
                <a:cubicBezTo>
                  <a:pt x="99060" y="3228340"/>
                  <a:pt x="0" y="3129153"/>
                  <a:pt x="0" y="300697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D1E110F-8DC3-4D06-89AE-78A92744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00" y="2512016"/>
            <a:ext cx="6945853" cy="370249"/>
          </a:xfrm>
          <a:custGeom xmlns:a="http://schemas.openxmlformats.org/drawingml/2006/main">
            <a:rect l="l" t="t" r="r" b="b"/>
            <a:pathLst>
              <a:path w="8583778" h="457559">
                <a:moveTo>
                  <a:pt x="0" y="0"/>
                </a:moveTo>
                <a:lnTo>
                  <a:pt x="8583778" y="0"/>
                </a:lnTo>
                <a:lnTo>
                  <a:pt x="8583778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315538" r="0" b="-315537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9730382-D615-41E8-A0E0-9D9CD19E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2200" y="2512016"/>
            <a:ext cx="6945853" cy="370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Court &amp; Maintenance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6148B01-3F3D-4BEE-BB8E-898C279B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416" y="2593451"/>
            <a:ext cx="7136336" cy="1732757"/>
          </a:xfrm>
          <a:custGeom xmlns:a="http://schemas.openxmlformats.org/drawingml/2006/main">
            <a:rect l="l" t="t" r="r" b="b"/>
            <a:pathLst>
              <a:path w="8819180" h="2141365">
                <a:moveTo>
                  <a:pt x="0" y="0"/>
                </a:moveTo>
                <a:lnTo>
                  <a:pt x="8819180" y="0"/>
                </a:lnTo>
                <a:lnTo>
                  <a:pt x="8819180" y="2141365"/>
                </a:lnTo>
                <a:lnTo>
                  <a:pt x="0" y="21413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28106" r="2669" b="-28106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E7CC2D-F51C-447C-BD49-B7034589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416" y="2585744"/>
            <a:ext cx="7136336" cy="1740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Court · MaintenanceSchedule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Promotion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549EBD1C-4FC9-4213-BAE8-107840D6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5100858"/>
            <a:ext cx="7499579" cy="2612320"/>
          </a:xfrm>
          <a:custGeom xmlns:a="http://schemas.openxmlformats.org/drawingml/2006/main">
            <a:rect l="l" t="t" r="r" b="b"/>
            <a:pathLst>
              <a:path w="9268079" h="3228340">
                <a:moveTo>
                  <a:pt x="0" y="221361"/>
                </a:moveTo>
                <a:cubicBezTo>
                  <a:pt x="0" y="99060"/>
                  <a:pt x="99060" y="0"/>
                  <a:pt x="221361" y="0"/>
                </a:cubicBezTo>
                <a:lnTo>
                  <a:pt x="9046718" y="0"/>
                </a:lnTo>
                <a:cubicBezTo>
                  <a:pt x="9169019" y="0"/>
                  <a:pt x="9268079" y="99060"/>
                  <a:pt x="9268079" y="221361"/>
                </a:cubicBezTo>
                <a:lnTo>
                  <a:pt x="9268079" y="3006979"/>
                </a:lnTo>
                <a:cubicBezTo>
                  <a:pt x="9268079" y="3129280"/>
                  <a:pt x="9169019" y="3228340"/>
                  <a:pt x="9046718" y="3228340"/>
                </a:cubicBezTo>
                <a:lnTo>
                  <a:pt x="221361" y="3228340"/>
                </a:lnTo>
                <a:cubicBezTo>
                  <a:pt x="99060" y="3228340"/>
                  <a:pt x="0" y="3129153"/>
                  <a:pt x="0" y="3006979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23EBCAB-A22A-487E-80E3-969D67D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5288858"/>
            <a:ext cx="6945853" cy="370249"/>
          </a:xfrm>
          <a:custGeom xmlns:a="http://schemas.openxmlformats.org/drawingml/2006/main">
            <a:rect l="l" t="t" r="r" b="b"/>
            <a:pathLst>
              <a:path w="8583778" h="457559">
                <a:moveTo>
                  <a:pt x="0" y="0"/>
                </a:moveTo>
                <a:lnTo>
                  <a:pt x="8583778" y="0"/>
                </a:lnTo>
                <a:lnTo>
                  <a:pt x="8583778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315538" r="0" b="-315537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DDEED9E-F392-4893-8B73-3E1C485B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5288858"/>
            <a:ext cx="6945853" cy="370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Booking &amp; Payment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043DB934-BEF8-49DD-814F-A117F72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5777584"/>
            <a:ext cx="6945853" cy="1732757"/>
          </a:xfrm>
          <a:custGeom xmlns:a="http://schemas.openxmlformats.org/drawingml/2006/main">
            <a:rect l="l" t="t" r="r" b="b"/>
            <a:pathLst>
              <a:path w="8583778" h="2141365">
                <a:moveTo>
                  <a:pt x="0" y="0"/>
                </a:moveTo>
                <a:lnTo>
                  <a:pt x="8583778" y="0"/>
                </a:lnTo>
                <a:lnTo>
                  <a:pt x="8583778" y="2141365"/>
                </a:lnTo>
                <a:lnTo>
                  <a:pt x="0" y="21413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28106" r="0" b="-28106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49D5BD76-DECA-4FF4-ABB9-20A1923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5769877"/>
            <a:ext cx="6945853" cy="1740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Booking · BookingDetail · Payment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Refund · Review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AF9AE05-8A06-413D-AE66-D3F9BF28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0553" y="5023722"/>
            <a:ext cx="7499579" cy="2612320"/>
          </a:xfrm>
          <a:custGeom xmlns:a="http://schemas.openxmlformats.org/drawingml/2006/main">
            <a:rect l="l" t="t" r="r" b="b"/>
            <a:pathLst>
              <a:path w="9268079" h="3228340">
                <a:moveTo>
                  <a:pt x="0" y="221361"/>
                </a:moveTo>
                <a:cubicBezTo>
                  <a:pt x="0" y="99060"/>
                  <a:pt x="99060" y="0"/>
                  <a:pt x="221361" y="0"/>
                </a:cubicBezTo>
                <a:lnTo>
                  <a:pt x="9046718" y="0"/>
                </a:lnTo>
                <a:cubicBezTo>
                  <a:pt x="9169019" y="0"/>
                  <a:pt x="9268079" y="99060"/>
                  <a:pt x="9268079" y="221361"/>
                </a:cubicBezTo>
                <a:lnTo>
                  <a:pt x="9268079" y="3006979"/>
                </a:lnTo>
                <a:cubicBezTo>
                  <a:pt x="9268079" y="3129280"/>
                  <a:pt x="9169019" y="3228340"/>
                  <a:pt x="9046718" y="3228340"/>
                </a:cubicBezTo>
                <a:lnTo>
                  <a:pt x="221361" y="3228340"/>
                </a:lnTo>
                <a:cubicBezTo>
                  <a:pt x="99060" y="3228340"/>
                  <a:pt x="0" y="3129153"/>
                  <a:pt x="0" y="300697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02CCB5D-63C5-40CC-81BC-18C5AF13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416" y="5288858"/>
            <a:ext cx="6945853" cy="370249"/>
          </a:xfrm>
          <a:custGeom xmlns:a="http://schemas.openxmlformats.org/drawingml/2006/main">
            <a:rect l="l" t="t" r="r" b="b"/>
            <a:pathLst>
              <a:path w="8583778" h="457559">
                <a:moveTo>
                  <a:pt x="0" y="0"/>
                </a:moveTo>
                <a:lnTo>
                  <a:pt x="8583778" y="0"/>
                </a:lnTo>
                <a:lnTo>
                  <a:pt x="8583778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315538" r="0" b="-315537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F056D404-9FF7-4776-9A8F-B6181189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416" y="5288858"/>
            <a:ext cx="6945853" cy="3702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726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Player Matching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7E6C538-1526-4190-9026-E419F1F7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416" y="5777584"/>
            <a:ext cx="6945853" cy="1732757"/>
          </a:xfrm>
          <a:custGeom xmlns:a="http://schemas.openxmlformats.org/drawingml/2006/main">
            <a:rect l="l" t="t" r="r" b="b"/>
            <a:pathLst>
              <a:path w="8583778" h="2141365">
                <a:moveTo>
                  <a:pt x="0" y="0"/>
                </a:moveTo>
                <a:lnTo>
                  <a:pt x="8583778" y="0"/>
                </a:lnTo>
                <a:lnTo>
                  <a:pt x="8583778" y="2141365"/>
                </a:lnTo>
                <a:lnTo>
                  <a:pt x="0" y="21413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28106" r="0" b="-28106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1EDD280F-20AA-4386-B6E0-06B38D18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7416" y="5769877"/>
            <a:ext cx="6945853" cy="17404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PlayerProfile · PlayGroup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PlayInvitation · PlayerMatch (AI Match Score)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FFDEB8A-1AE7-4A0D-BF6B-2E539842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9008567"/>
            <a:ext cx="13863990" cy="439255"/>
          </a:xfrm>
          <a:custGeom xmlns:a="http://schemas.openxmlformats.org/drawingml/2006/main">
            <a:rect l="l" t="t" r="r" b="b"/>
            <a:pathLst>
              <a:path w="18485321" h="585674">
                <a:moveTo>
                  <a:pt x="0" y="0"/>
                </a:moveTo>
                <a:lnTo>
                  <a:pt x="18485321" y="0"/>
                </a:lnTo>
                <a:lnTo>
                  <a:pt x="18485321" y="585674"/>
                </a:lnTo>
                <a:lnTo>
                  <a:pt x="0" y="5856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70cd046ac0f4bb5">
              <a:alphaModFix amt="0"/>
            </a:blip>
            <a:stretch>
              <a:fillRect l="0" t="-564996" r="0" b="-564996"/>
            </a:stretch>
          </a:blip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8F3EB2A6-4A85-4F42-8EDC-BDBCC366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1961" y="9001424"/>
            <a:ext cx="13863990" cy="4463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Booking ↔ BookingDetail · Booking ↔ Payment (1–1) · User ↔ Coach (1–1) · PlayGroup ↔ GroupMember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6760F081-70AF-4A88-B9BF-9BD81A1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6BF24296-E3D3-4E97-B3F5-B077894D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5686324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E769707-5033-4EA3-95E1-EFC141CE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D8639B9-BDB2-4DFB-B24B-5CE6C22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2F2A7D7-CE88-4310-B65E-7AA99D64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B3CC629-5C0A-4254-B784-4D909A96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7A7138-68B7-40EC-945C-74C210C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18544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Database Design · SQL Server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3109DF8-9997-46BC-8A7A-BE2D763F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9982" y="1015775"/>
            <a:ext cx="14550326" cy="444615"/>
          </a:xfrm>
          <a:custGeom xmlns:a="http://schemas.openxmlformats.org/drawingml/2006/main">
            <a:rect l="l" t="t" r="r" b="b"/>
            <a:pathLst>
              <a:path w="19400436" h="592821">
                <a:moveTo>
                  <a:pt x="0" y="0"/>
                </a:moveTo>
                <a:lnTo>
                  <a:pt x="19400436" y="0"/>
                </a:lnTo>
                <a:lnTo>
                  <a:pt x="19400436" y="592821"/>
                </a:lnTo>
                <a:lnTo>
                  <a:pt x="0" y="5928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591349" r="0" b="-583969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A17B9AE-1CD1-411C-9F02-DE69C14D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9982" y="1015775"/>
            <a:ext cx="14550323" cy="4446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19+ bảng chính · 4 nhóm · Soft Delete · Audit Log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B16D3FC-ABFB-4202-98CB-A09A343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850493"/>
            <a:ext cx="14843950" cy="47577"/>
          </a:xfrm>
          <a:custGeom xmlns:a="http://schemas.openxmlformats.org/drawingml/2006/main">
            <a:rect l="l" t="t" r="r" b="b"/>
            <a:pathLst>
              <a:path w="19791935" h="63437">
                <a:moveTo>
                  <a:pt x="0" y="0"/>
                </a:moveTo>
                <a:lnTo>
                  <a:pt x="19791935" y="63437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6059199" r="0" b="-5999279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913CD17-3A2B-4352-85F0-061D539C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611591"/>
            <a:ext cx="7579209" cy="3718801"/>
          </a:xfrm>
          <a:custGeom xmlns:a="http://schemas.openxmlformats.org/drawingml/2006/main">
            <a:rect l="l" t="t" r="r" b="b"/>
            <a:pathLst>
              <a:path w="9268078" h="4547459">
                <a:moveTo>
                  <a:pt x="0" y="270108"/>
                </a:moveTo>
                <a:cubicBezTo>
                  <a:pt x="0" y="121013"/>
                  <a:pt x="99060" y="0"/>
                  <a:pt x="221107" y="0"/>
                </a:cubicBezTo>
                <a:lnTo>
                  <a:pt x="9046972" y="0"/>
                </a:lnTo>
                <a:cubicBezTo>
                  <a:pt x="9169146" y="0"/>
                  <a:pt x="9268078" y="121013"/>
                  <a:pt x="9268078" y="270108"/>
                </a:cubicBezTo>
                <a:lnTo>
                  <a:pt x="9268078" y="4277354"/>
                </a:lnTo>
                <a:cubicBezTo>
                  <a:pt x="9268078" y="4426604"/>
                  <a:pt x="9169019" y="4547459"/>
                  <a:pt x="9046972" y="4547459"/>
                </a:cubicBezTo>
                <a:lnTo>
                  <a:pt x="221107" y="4547459"/>
                </a:lnTo>
                <a:cubicBezTo>
                  <a:pt x="99060" y="4547459"/>
                  <a:pt x="0" y="4426448"/>
                  <a:pt x="0" y="427735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97A7F6F-23F7-4F68-8E17-65C651E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71" y="1750863"/>
            <a:ext cx="7019605" cy="509969"/>
          </a:xfrm>
          <a:custGeom xmlns:a="http://schemas.openxmlformats.org/drawingml/2006/main">
            <a:rect l="l" t="t" r="r" b="b"/>
            <a:pathLst>
              <a:path w="8583778" h="623606">
                <a:moveTo>
                  <a:pt x="0" y="0"/>
                </a:moveTo>
                <a:lnTo>
                  <a:pt x="8583778" y="0"/>
                </a:lnTo>
                <a:lnTo>
                  <a:pt x="8583778" y="623606"/>
                </a:lnTo>
                <a:lnTo>
                  <a:pt x="0" y="62360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231520" r="0" b="-204892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5BE21CD-0452-49E3-A79D-54516578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71" y="1758652"/>
            <a:ext cx="7019605" cy="502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499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Users &amp; Roles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3BF7245F-9020-4AE6-9C76-84B6A54A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649" y="2308456"/>
            <a:ext cx="7019605" cy="2425442"/>
          </a:xfrm>
          <a:custGeom xmlns:a="http://schemas.openxmlformats.org/drawingml/2006/main">
            <a:rect l="l" t="t" r="r" b="b"/>
            <a:pathLst>
              <a:path w="8583778" h="2965902">
                <a:moveTo>
                  <a:pt x="0" y="0"/>
                </a:moveTo>
                <a:lnTo>
                  <a:pt x="8583778" y="0"/>
                </a:lnTo>
                <a:lnTo>
                  <a:pt x="8583778" y="2965902"/>
                </a:lnTo>
                <a:lnTo>
                  <a:pt x="0" y="296590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11962" r="0" b="-823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BFEA0550-EA8F-4167-BB39-4745B5CF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7649" y="2300667"/>
            <a:ext cx="7019605" cy="2433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User · Roles · UserRole</a:t>
            </a:r>
          </a:p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Tài khoản, trạng thái và phân quyền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DE062DF-79AC-4A44-AB51-6F5DCEA4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0057" y="1611591"/>
            <a:ext cx="7579209" cy="3718801"/>
          </a:xfrm>
          <a:custGeom xmlns:a="http://schemas.openxmlformats.org/drawingml/2006/main">
            <a:rect l="l" t="t" r="r" b="b"/>
            <a:pathLst>
              <a:path w="9268078" h="4547459">
                <a:moveTo>
                  <a:pt x="0" y="270108"/>
                </a:moveTo>
                <a:cubicBezTo>
                  <a:pt x="0" y="121013"/>
                  <a:pt x="99060" y="0"/>
                  <a:pt x="221107" y="0"/>
                </a:cubicBezTo>
                <a:lnTo>
                  <a:pt x="9046972" y="0"/>
                </a:lnTo>
                <a:cubicBezTo>
                  <a:pt x="9169146" y="0"/>
                  <a:pt x="9268078" y="121013"/>
                  <a:pt x="9268078" y="270108"/>
                </a:cubicBezTo>
                <a:lnTo>
                  <a:pt x="9268078" y="4277354"/>
                </a:lnTo>
                <a:cubicBezTo>
                  <a:pt x="9268078" y="4426604"/>
                  <a:pt x="9169019" y="4547459"/>
                  <a:pt x="9046972" y="4547459"/>
                </a:cubicBezTo>
                <a:lnTo>
                  <a:pt x="221107" y="4547459"/>
                </a:lnTo>
                <a:cubicBezTo>
                  <a:pt x="99060" y="4547459"/>
                  <a:pt x="0" y="4426448"/>
                  <a:pt x="0" y="427735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74330A26-1A3E-4BA1-AF8E-374BF0C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6284" y="1798488"/>
            <a:ext cx="7019605" cy="509969"/>
          </a:xfrm>
          <a:custGeom xmlns:a="http://schemas.openxmlformats.org/drawingml/2006/main">
            <a:rect l="l" t="t" r="r" b="b"/>
            <a:pathLst>
              <a:path w="8583778" h="623606">
                <a:moveTo>
                  <a:pt x="0" y="0"/>
                </a:moveTo>
                <a:lnTo>
                  <a:pt x="8583778" y="0"/>
                </a:lnTo>
                <a:lnTo>
                  <a:pt x="8583778" y="623606"/>
                </a:lnTo>
                <a:lnTo>
                  <a:pt x="0" y="62360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231520" r="0" b="-204892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F74BF3D-B8E4-4D78-83D2-8E937A3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6284" y="1806277"/>
            <a:ext cx="7019605" cy="502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2499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Courts &amp; Coaches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6C97471-89B7-4CC5-8404-0FFD671B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410" y="2308456"/>
            <a:ext cx="7486590" cy="2676251"/>
          </a:xfrm>
          <a:custGeom xmlns:a="http://schemas.openxmlformats.org/drawingml/2006/main">
            <a:rect l="l" t="t" r="r" b="b"/>
            <a:pathLst>
              <a:path w="9154821" h="3272598">
                <a:moveTo>
                  <a:pt x="0" y="0"/>
                </a:moveTo>
                <a:lnTo>
                  <a:pt x="9154821" y="0"/>
                </a:lnTo>
                <a:lnTo>
                  <a:pt x="9154821" y="3272598"/>
                </a:lnTo>
                <a:lnTo>
                  <a:pt x="0" y="327259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10841" r="6237" b="862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52203BB-2735-490F-A626-241AF068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1410" y="2300667"/>
            <a:ext cx="7486590" cy="2684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Courts · CoachSchedules</a:t>
            </a:r>
          </a:p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MaintenanceSchedules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9161AB0-3EA0-4526-A776-27EC8BB8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5908357"/>
            <a:ext cx="7579209" cy="3718801"/>
          </a:xfrm>
          <a:custGeom xmlns:a="http://schemas.openxmlformats.org/drawingml/2006/main">
            <a:rect l="l" t="t" r="r" b="b"/>
            <a:pathLst>
              <a:path w="9268078" h="4547459">
                <a:moveTo>
                  <a:pt x="0" y="270108"/>
                </a:moveTo>
                <a:cubicBezTo>
                  <a:pt x="0" y="121013"/>
                  <a:pt x="99060" y="0"/>
                  <a:pt x="221107" y="0"/>
                </a:cubicBezTo>
                <a:lnTo>
                  <a:pt x="9046972" y="0"/>
                </a:lnTo>
                <a:cubicBezTo>
                  <a:pt x="9169146" y="0"/>
                  <a:pt x="9268078" y="121013"/>
                  <a:pt x="9268078" y="270108"/>
                </a:cubicBezTo>
                <a:lnTo>
                  <a:pt x="9268078" y="4277354"/>
                </a:lnTo>
                <a:cubicBezTo>
                  <a:pt x="9268078" y="4426604"/>
                  <a:pt x="9169019" y="4547459"/>
                  <a:pt x="9046972" y="4547459"/>
                </a:cubicBezTo>
                <a:lnTo>
                  <a:pt x="221107" y="4547459"/>
                </a:lnTo>
                <a:cubicBezTo>
                  <a:pt x="99060" y="4547459"/>
                  <a:pt x="0" y="4426448"/>
                  <a:pt x="0" y="4277354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2213C8B-2ABC-4FBE-B103-C52F0D3C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0214" y="6003249"/>
            <a:ext cx="7019605" cy="464066"/>
          </a:xfrm>
          <a:custGeom xmlns:a="http://schemas.openxmlformats.org/drawingml/2006/main">
            <a:rect l="l" t="t" r="r" b="b"/>
            <a:pathLst>
              <a:path w="8583778" h="567474">
                <a:moveTo>
                  <a:pt x="0" y="0"/>
                </a:moveTo>
                <a:lnTo>
                  <a:pt x="8583778" y="0"/>
                </a:lnTo>
                <a:lnTo>
                  <a:pt x="8583778" y="567474"/>
                </a:lnTo>
                <a:lnTo>
                  <a:pt x="0" y="5674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254421" r="0" b="-23505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AA6669B3-210D-47E6-A780-DB1A2F8A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0214" y="6011038"/>
            <a:ext cx="7019605" cy="45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2499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Booking, Payment &amp; Reviews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C3D4B28-A0CC-4BE3-BF22-61DA25AC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71" y="6467314"/>
            <a:ext cx="7337052" cy="3001156"/>
          </a:xfrm>
          <a:custGeom xmlns:a="http://schemas.openxmlformats.org/drawingml/2006/main">
            <a:rect l="l" t="t" r="r" b="b"/>
            <a:pathLst>
              <a:path w="8924808" h="3650615">
                <a:moveTo>
                  <a:pt x="0" y="0"/>
                </a:moveTo>
                <a:lnTo>
                  <a:pt x="8924808" y="0"/>
                </a:lnTo>
                <a:lnTo>
                  <a:pt x="8924808" y="3650615"/>
                </a:lnTo>
                <a:lnTo>
                  <a:pt x="0" y="36506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9718" r="3821" b="18087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61839534-529B-4A80-9580-8D627C4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0271" y="6467314"/>
            <a:ext cx="7337052" cy="3001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Bookings · Payments · Refunds · Reviews</a:t>
            </a:r>
          </a:p>
          <a:p xmlns:a="http://schemas.openxmlformats.org/drawingml/2006/main">
            <a:pPr algn="l">
              <a:lnSpc>
                <a:spcPts val="216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Theo dõi trạng thái giao dịch và đánh giá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9362BE7F-F6D6-4D18-8837-56D67723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0057" y="5908357"/>
            <a:ext cx="7579209" cy="3718801"/>
          </a:xfrm>
          <a:custGeom xmlns:a="http://schemas.openxmlformats.org/drawingml/2006/main">
            <a:rect l="l" t="t" r="r" b="b"/>
            <a:pathLst>
              <a:path w="9268078" h="4547459">
                <a:moveTo>
                  <a:pt x="0" y="270108"/>
                </a:moveTo>
                <a:cubicBezTo>
                  <a:pt x="0" y="121013"/>
                  <a:pt x="99060" y="0"/>
                  <a:pt x="221107" y="0"/>
                </a:cubicBezTo>
                <a:lnTo>
                  <a:pt x="9046972" y="0"/>
                </a:lnTo>
                <a:cubicBezTo>
                  <a:pt x="9169146" y="0"/>
                  <a:pt x="9268078" y="121013"/>
                  <a:pt x="9268078" y="270108"/>
                </a:cubicBezTo>
                <a:lnTo>
                  <a:pt x="9268078" y="4277354"/>
                </a:lnTo>
                <a:cubicBezTo>
                  <a:pt x="9268078" y="4426604"/>
                  <a:pt x="9169019" y="4547459"/>
                  <a:pt x="9046972" y="4547459"/>
                </a:cubicBezTo>
                <a:lnTo>
                  <a:pt x="221107" y="4547459"/>
                </a:lnTo>
                <a:cubicBezTo>
                  <a:pt x="99060" y="4547459"/>
                  <a:pt x="0" y="4426448"/>
                  <a:pt x="0" y="427735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94F38B6A-7277-4FBA-AE6F-786F5AF7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6284" y="6003249"/>
            <a:ext cx="7019605" cy="464066"/>
          </a:xfrm>
          <a:custGeom xmlns:a="http://schemas.openxmlformats.org/drawingml/2006/main">
            <a:rect l="l" t="t" r="r" b="b"/>
            <a:pathLst>
              <a:path w="8583778" h="567474">
                <a:moveTo>
                  <a:pt x="0" y="0"/>
                </a:moveTo>
                <a:lnTo>
                  <a:pt x="8583778" y="0"/>
                </a:lnTo>
                <a:lnTo>
                  <a:pt x="8583778" y="567474"/>
                </a:lnTo>
                <a:lnTo>
                  <a:pt x="0" y="5674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254421" r="0" b="-235051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BF5E9B08-EB8E-4237-BE78-F459656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6284" y="6011038"/>
            <a:ext cx="7019605" cy="456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999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499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Player Matching &amp; System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1A0463D8-0D01-4506-8258-DCF9853B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859" y="6648326"/>
            <a:ext cx="7299408" cy="2734383"/>
          </a:xfrm>
          <a:custGeom xmlns:a="http://schemas.openxmlformats.org/drawingml/2006/main">
            <a:rect l="l" t="t" r="r" b="b"/>
            <a:pathLst>
              <a:path w="8925929" h="3343684">
                <a:moveTo>
                  <a:pt x="0" y="0"/>
                </a:moveTo>
                <a:lnTo>
                  <a:pt x="8925929" y="0"/>
                </a:lnTo>
                <a:lnTo>
                  <a:pt x="8925929" y="3343684"/>
                </a:lnTo>
                <a:lnTo>
                  <a:pt x="0" y="33436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267fe9d4f94843">
              <a:alphaModFix amt="0"/>
            </a:blip>
            <a:stretch>
              <a:fillRect l="0" t="-10610" r="3833" b="10568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9B65140-ACE5-4B62-96A9-0EB72601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9859" y="6648326"/>
            <a:ext cx="7299408" cy="27343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PlayerProfiles · PlayGroups · PlayInvitations</a:t>
            </a:r>
          </a:p>
          <a:p xmlns:a="http://schemas.openxmlformats.org/drawingml/2006/main">
            <a:pPr algn="l">
              <a:lnSpc>
                <a:spcPts val="216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Notifications · AuditLogs (lưu ≥ 1 năm)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0BC14914-01EF-4815-B567-31BC001F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DCE8E5B-9BA9-4B2B-A22A-F7DF96F2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1485305758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F7EFCD9-1643-41C2-8303-E6B11D2A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82BB7A9-BD73-4CFE-9F8D-35E27093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B97C4C9-E3D7-4FB4-821A-8D45C68A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4970"/>
          </a:xfrm>
          <a:custGeom xmlns:a="http://schemas.openxmlformats.org/drawingml/2006/main">
            <a:rect l="l" t="t" r="r" b="b"/>
            <a:pathLst>
              <a:path w="18119275" h="979961">
                <a:moveTo>
                  <a:pt x="0" y="0"/>
                </a:moveTo>
                <a:lnTo>
                  <a:pt x="18119275" y="0"/>
                </a:lnTo>
                <a:lnTo>
                  <a:pt x="18119275" y="979961"/>
                </a:lnTo>
                <a:lnTo>
                  <a:pt x="0" y="97996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315450" r="0" b="-305098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855D443-EB09-4ADA-8D8F-0551A955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4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 Technology · Python FastAPI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2E25C08F-0F2B-4B63-A687-6A806B8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C0ACF2-07B6-4ACE-B92E-FFCAE25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AI hỗ trợ ra quyết định · REST API nội bộ · Tự động fallback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223AD5B-3316-4E60-A8BB-5763949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20F1756-8F4D-4BBA-984C-B1C9C1AD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1853108"/>
            <a:ext cx="5696616" cy="6039803"/>
          </a:xfrm>
          <a:custGeom xmlns:a="http://schemas.openxmlformats.org/drawingml/2006/main">
            <a:rect l="l" t="t" r="r" b="b"/>
            <a:pathLst>
              <a:path w="7595489" h="8053070">
                <a:moveTo>
                  <a:pt x="0" y="0"/>
                </a:moveTo>
                <a:lnTo>
                  <a:pt x="7595489" y="0"/>
                </a:lnTo>
                <a:lnTo>
                  <a:pt x="7595489" y="8053070"/>
                </a:lnTo>
                <a:lnTo>
                  <a:pt x="0" y="80530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1c7b730b07d4b09"/>
            <a:stretch>
              <a:fillRect l="-9419" t="0" r="-78967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4EA6DA9-17CA-4B0E-A9C8-E57DBC3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220" y="2118112"/>
            <a:ext cx="3656647" cy="1611344"/>
          </a:xfrm>
          <a:custGeom xmlns:a="http://schemas.openxmlformats.org/drawingml/2006/main">
            <a:rect l="l" t="t" r="r" b="b"/>
            <a:pathLst>
              <a:path w="4875530" h="2148459">
                <a:moveTo>
                  <a:pt x="0" y="222250"/>
                </a:moveTo>
                <a:cubicBezTo>
                  <a:pt x="0" y="99568"/>
                  <a:pt x="99568" y="0"/>
                  <a:pt x="222250" y="0"/>
                </a:cubicBezTo>
                <a:lnTo>
                  <a:pt x="4653280" y="0"/>
                </a:lnTo>
                <a:cubicBezTo>
                  <a:pt x="4776089" y="0"/>
                  <a:pt x="4875530" y="99568"/>
                  <a:pt x="4875530" y="222250"/>
                </a:cubicBezTo>
                <a:lnTo>
                  <a:pt x="4875530" y="1926209"/>
                </a:lnTo>
                <a:cubicBezTo>
                  <a:pt x="4875530" y="2049018"/>
                  <a:pt x="4775962" y="2148459"/>
                  <a:pt x="4653280" y="2148459"/>
                </a:cubicBezTo>
                <a:lnTo>
                  <a:pt x="222250" y="2148459"/>
                </a:lnTo>
                <a:cubicBezTo>
                  <a:pt x="99441" y="2148459"/>
                  <a:pt x="0" y="2048891"/>
                  <a:pt x="0" y="1926209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0427814-095A-4DAF-BAB1-BB4F15B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2292363"/>
            <a:ext cx="3143418" cy="343169"/>
          </a:xfrm>
          <a:custGeom xmlns:a="http://schemas.openxmlformats.org/drawingml/2006/main">
            <a:rect l="l" t="t" r="r" b="b"/>
            <a:pathLst>
              <a:path w="4191226" h="457559">
                <a:moveTo>
                  <a:pt x="0" y="0"/>
                </a:moveTo>
                <a:lnTo>
                  <a:pt x="4191226" y="0"/>
                </a:lnTo>
                <a:lnTo>
                  <a:pt x="419122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128482" r="0" b="-128481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5AA2533-0FDD-4FA8-9BE2-D535387B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2292363"/>
            <a:ext cx="3143421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Coach Recommendation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FC7DEAA5-3163-434B-B419-4135884C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2745343"/>
            <a:ext cx="3143418" cy="796153"/>
          </a:xfrm>
          <a:custGeom xmlns:a="http://schemas.openxmlformats.org/drawingml/2006/main">
            <a:rect l="l" t="t" r="r" b="b"/>
            <a:pathLst>
              <a:path w="4191226" h="1061537">
                <a:moveTo>
                  <a:pt x="0" y="0"/>
                </a:moveTo>
                <a:lnTo>
                  <a:pt x="4191226" y="0"/>
                </a:lnTo>
                <a:lnTo>
                  <a:pt x="4191226" y="1061537"/>
                </a:lnTo>
                <a:lnTo>
                  <a:pt x="0" y="10615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26932" r="0" b="-26931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04575C4-8AF7-4DCC-82D5-F089BDF7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2745343"/>
            <a:ext cx="3143421" cy="79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1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Match Score 0–100 theo trình độ, mục tiêu, ngân sách và rating.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B687BCE8-D9A9-4439-B41B-AADE7372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7877" y="2118112"/>
            <a:ext cx="3656647" cy="1611344"/>
          </a:xfrm>
          <a:custGeom xmlns:a="http://schemas.openxmlformats.org/drawingml/2006/main">
            <a:rect l="l" t="t" r="r" b="b"/>
            <a:pathLst>
              <a:path w="4875530" h="2148459">
                <a:moveTo>
                  <a:pt x="0" y="222250"/>
                </a:moveTo>
                <a:cubicBezTo>
                  <a:pt x="0" y="99568"/>
                  <a:pt x="99568" y="0"/>
                  <a:pt x="222250" y="0"/>
                </a:cubicBezTo>
                <a:lnTo>
                  <a:pt x="4653280" y="0"/>
                </a:lnTo>
                <a:cubicBezTo>
                  <a:pt x="4776089" y="0"/>
                  <a:pt x="4875530" y="99568"/>
                  <a:pt x="4875530" y="222250"/>
                </a:cubicBezTo>
                <a:lnTo>
                  <a:pt x="4875530" y="1926209"/>
                </a:lnTo>
                <a:cubicBezTo>
                  <a:pt x="4875530" y="2049018"/>
                  <a:pt x="4775962" y="2148459"/>
                  <a:pt x="4653280" y="2148459"/>
                </a:cubicBezTo>
                <a:lnTo>
                  <a:pt x="222250" y="2148459"/>
                </a:lnTo>
                <a:cubicBezTo>
                  <a:pt x="99441" y="2148459"/>
                  <a:pt x="0" y="2048891"/>
                  <a:pt x="0" y="192620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439A496E-E0CA-403F-B11E-69C575E2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2292363"/>
            <a:ext cx="3143418" cy="343169"/>
          </a:xfrm>
          <a:custGeom xmlns:a="http://schemas.openxmlformats.org/drawingml/2006/main">
            <a:rect l="l" t="t" r="r" b="b"/>
            <a:pathLst>
              <a:path w="4191226" h="457559">
                <a:moveTo>
                  <a:pt x="0" y="0"/>
                </a:moveTo>
                <a:lnTo>
                  <a:pt x="4191226" y="0"/>
                </a:lnTo>
                <a:lnTo>
                  <a:pt x="419122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128482" r="0" b="-128481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6C9D938-CB87-4D1E-A4C0-4318820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2292363"/>
            <a:ext cx="3143421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Smart Scheduler · Chatbot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4179B964-712F-4415-88C0-6560294E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2745343"/>
            <a:ext cx="3143418" cy="796153"/>
          </a:xfrm>
          <a:custGeom xmlns:a="http://schemas.openxmlformats.org/drawingml/2006/main">
            <a:rect l="l" t="t" r="r" b="b"/>
            <a:pathLst>
              <a:path w="4191226" h="1061537">
                <a:moveTo>
                  <a:pt x="0" y="0"/>
                </a:moveTo>
                <a:lnTo>
                  <a:pt x="4191226" y="0"/>
                </a:lnTo>
                <a:lnTo>
                  <a:pt x="4191226" y="1061537"/>
                </a:lnTo>
                <a:lnTo>
                  <a:pt x="0" y="10615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26932" r="0" b="-26931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681AF721-50A2-43B8-A487-A8185C7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2745343"/>
            <a:ext cx="3143421" cy="79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1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Tìm khung giờ phù hợp cho Player + Coach + Court.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23ECBC8-C1BF-4FD1-9D35-BD85A380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220" y="4314387"/>
            <a:ext cx="3656647" cy="1611344"/>
          </a:xfrm>
          <a:custGeom xmlns:a="http://schemas.openxmlformats.org/drawingml/2006/main">
            <a:rect l="l" t="t" r="r" b="b"/>
            <a:pathLst>
              <a:path w="4875530" h="2148459">
                <a:moveTo>
                  <a:pt x="0" y="222250"/>
                </a:moveTo>
                <a:cubicBezTo>
                  <a:pt x="0" y="99568"/>
                  <a:pt x="99568" y="0"/>
                  <a:pt x="222250" y="0"/>
                </a:cubicBezTo>
                <a:lnTo>
                  <a:pt x="4653280" y="0"/>
                </a:lnTo>
                <a:cubicBezTo>
                  <a:pt x="4776089" y="0"/>
                  <a:pt x="4875530" y="99568"/>
                  <a:pt x="4875530" y="222250"/>
                </a:cubicBezTo>
                <a:lnTo>
                  <a:pt x="4875530" y="1926209"/>
                </a:lnTo>
                <a:cubicBezTo>
                  <a:pt x="4875530" y="2049018"/>
                  <a:pt x="4775962" y="2148459"/>
                  <a:pt x="4653280" y="2148459"/>
                </a:cubicBezTo>
                <a:lnTo>
                  <a:pt x="222250" y="2148459"/>
                </a:lnTo>
                <a:cubicBezTo>
                  <a:pt x="99441" y="2148459"/>
                  <a:pt x="0" y="2048891"/>
                  <a:pt x="0" y="192620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A54F8EB9-9065-441F-9FED-DA804A65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4488637"/>
            <a:ext cx="3143418" cy="343169"/>
          </a:xfrm>
          <a:custGeom xmlns:a="http://schemas.openxmlformats.org/drawingml/2006/main">
            <a:rect l="l" t="t" r="r" b="b"/>
            <a:pathLst>
              <a:path w="4191226" h="457559">
                <a:moveTo>
                  <a:pt x="0" y="0"/>
                </a:moveTo>
                <a:lnTo>
                  <a:pt x="4191226" y="0"/>
                </a:lnTo>
                <a:lnTo>
                  <a:pt x="419122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128482" r="0" b="-128481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0111C19D-C92E-4ACC-AE72-831F1F8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4488637"/>
            <a:ext cx="3143421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Player Matching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35FE4E7B-344B-48D6-870D-02C95487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4941618"/>
            <a:ext cx="3143418" cy="796153"/>
          </a:xfrm>
          <a:custGeom xmlns:a="http://schemas.openxmlformats.org/drawingml/2006/main">
            <a:rect l="l" t="t" r="r" b="b"/>
            <a:pathLst>
              <a:path w="4191226" h="1061537">
                <a:moveTo>
                  <a:pt x="0" y="0"/>
                </a:moveTo>
                <a:lnTo>
                  <a:pt x="4191226" y="0"/>
                </a:lnTo>
                <a:lnTo>
                  <a:pt x="4191226" y="1061537"/>
                </a:lnTo>
                <a:lnTo>
                  <a:pt x="0" y="10615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26932" r="0" b="-26931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FF662CC-708F-404E-B67D-B12577B6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4941618"/>
            <a:ext cx="3143421" cy="79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1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Ghép người chơi theo trình độ và thời gian rảnh.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D87AAA3-FF42-48D6-A8B1-E80373DE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7877" y="4314387"/>
            <a:ext cx="3656647" cy="1611344"/>
          </a:xfrm>
          <a:custGeom xmlns:a="http://schemas.openxmlformats.org/drawingml/2006/main">
            <a:rect l="l" t="t" r="r" b="b"/>
            <a:pathLst>
              <a:path w="4875530" h="2148459">
                <a:moveTo>
                  <a:pt x="0" y="222250"/>
                </a:moveTo>
                <a:cubicBezTo>
                  <a:pt x="0" y="99568"/>
                  <a:pt x="99568" y="0"/>
                  <a:pt x="222250" y="0"/>
                </a:cubicBezTo>
                <a:lnTo>
                  <a:pt x="4653280" y="0"/>
                </a:lnTo>
                <a:cubicBezTo>
                  <a:pt x="4776089" y="0"/>
                  <a:pt x="4875530" y="99568"/>
                  <a:pt x="4875530" y="222250"/>
                </a:cubicBezTo>
                <a:lnTo>
                  <a:pt x="4875530" y="1926209"/>
                </a:lnTo>
                <a:cubicBezTo>
                  <a:pt x="4875530" y="2049018"/>
                  <a:pt x="4775962" y="2148459"/>
                  <a:pt x="4653280" y="2148459"/>
                </a:cubicBezTo>
                <a:lnTo>
                  <a:pt x="222250" y="2148459"/>
                </a:lnTo>
                <a:cubicBezTo>
                  <a:pt x="99441" y="2148459"/>
                  <a:pt x="0" y="2048891"/>
                  <a:pt x="0" y="192620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925F069-3647-4D87-A0EC-638FDBCC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4488637"/>
            <a:ext cx="3143418" cy="343169"/>
          </a:xfrm>
          <a:custGeom xmlns:a="http://schemas.openxmlformats.org/drawingml/2006/main">
            <a:rect l="l" t="t" r="r" b="b"/>
            <a:pathLst>
              <a:path w="4191226" h="457559">
                <a:moveTo>
                  <a:pt x="0" y="0"/>
                </a:moveTo>
                <a:lnTo>
                  <a:pt x="4191226" y="0"/>
                </a:lnTo>
                <a:lnTo>
                  <a:pt x="4191226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128482" r="0" b="-128481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20ACA0D6-3CF9-4C06-AEB8-A066147F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4488637"/>
            <a:ext cx="3143421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AI Analytics · Admin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D8A04C44-D3BA-43A0-8C45-63472E88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4941618"/>
            <a:ext cx="3143418" cy="796153"/>
          </a:xfrm>
          <a:custGeom xmlns:a="http://schemas.openxmlformats.org/drawingml/2006/main">
            <a:rect l="l" t="t" r="r" b="b"/>
            <a:pathLst>
              <a:path w="4191226" h="1061537">
                <a:moveTo>
                  <a:pt x="0" y="0"/>
                </a:moveTo>
                <a:lnTo>
                  <a:pt x="4191226" y="0"/>
                </a:lnTo>
                <a:lnTo>
                  <a:pt x="4191226" y="1061537"/>
                </a:lnTo>
                <a:lnTo>
                  <a:pt x="0" y="106153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26932" r="0" b="-26931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4A7F4E77-AFCA-467F-9E4D-18466E5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4490" y="4941618"/>
            <a:ext cx="3143421" cy="796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1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Dự báo giờ cao điểm, tỷ lệ sử dụng sân và khuyến mãi.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DF48D9D-BF0A-4D1F-B8B3-2986A924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220" y="6963642"/>
            <a:ext cx="7843361" cy="1144713"/>
          </a:xfrm>
          <a:custGeom xmlns:a="http://schemas.openxmlformats.org/drawingml/2006/main">
            <a:rect l="l" t="t" r="r" b="b"/>
            <a:pathLst>
              <a:path w="10457815" h="1526286">
                <a:moveTo>
                  <a:pt x="0" y="223393"/>
                </a:moveTo>
                <a:cubicBezTo>
                  <a:pt x="0" y="99949"/>
                  <a:pt x="99949" y="0"/>
                  <a:pt x="223393" y="0"/>
                </a:cubicBezTo>
                <a:lnTo>
                  <a:pt x="10234422" y="0"/>
                </a:lnTo>
                <a:cubicBezTo>
                  <a:pt x="10357739" y="0"/>
                  <a:pt x="10457815" y="99949"/>
                  <a:pt x="10457815" y="223393"/>
                </a:cubicBezTo>
                <a:lnTo>
                  <a:pt x="10457815" y="1302893"/>
                </a:lnTo>
                <a:cubicBezTo>
                  <a:pt x="10457815" y="1426210"/>
                  <a:pt x="10357865" y="1526286"/>
                  <a:pt x="10234422" y="1526286"/>
                </a:cubicBezTo>
                <a:lnTo>
                  <a:pt x="223393" y="1526286"/>
                </a:lnTo>
                <a:cubicBezTo>
                  <a:pt x="99949" y="1526159"/>
                  <a:pt x="0" y="1426210"/>
                  <a:pt x="0" y="130289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ED735FE1-2EAB-4A88-8655-ABEE030A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7125900"/>
            <a:ext cx="7330070" cy="343169"/>
          </a:xfrm>
          <a:custGeom xmlns:a="http://schemas.openxmlformats.org/drawingml/2006/main">
            <a:rect l="l" t="t" r="r" b="b"/>
            <a:pathLst>
              <a:path w="9773427" h="457559">
                <a:moveTo>
                  <a:pt x="0" y="0"/>
                </a:moveTo>
                <a:lnTo>
                  <a:pt x="9773427" y="0"/>
                </a:lnTo>
                <a:lnTo>
                  <a:pt x="9773427" y="457559"/>
                </a:lnTo>
                <a:lnTo>
                  <a:pt x="0" y="4575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366198" r="0" b="-366198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70C32F-D95D-4BEC-95E9-D6A6B9D2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33" y="7125900"/>
            <a:ext cx="7330069" cy="3431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ts val="2160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E1C2B33F-715C-4FE3-9558-81B53AF2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43" y="7481060"/>
            <a:ext cx="7330070" cy="577180"/>
          </a:xfrm>
          <a:custGeom xmlns:a="http://schemas.openxmlformats.org/drawingml/2006/main">
            <a:rect l="l" t="t" r="r" b="b"/>
            <a:pathLst>
              <a:path w="9773427" h="769574">
                <a:moveTo>
                  <a:pt x="0" y="0"/>
                </a:moveTo>
                <a:lnTo>
                  <a:pt x="9773427" y="0"/>
                </a:lnTo>
                <a:lnTo>
                  <a:pt x="9773427" y="769574"/>
                </a:lnTo>
                <a:lnTo>
                  <a:pt x="0" y="76957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81fd811821d407c">
              <a:alphaModFix amt="0"/>
            </a:blip>
            <a:stretch>
              <a:fillRect l="0" t="-218916" r="0" b="-175994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C2016166-B872-47C4-B0B8-EC02D012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843" y="7473917"/>
            <a:ext cx="7330069" cy="5843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01">
                <a:solidFill>
                  <a:srgbClr val="EEF4F7"/>
                </a:solidFill>
                <a:latin typeface="Arial"/>
                <a:ea typeface="Arial"/>
                <a:cs typeface="Arial"/>
              </a:rPr>
              <a:t>AI timeout &gt; 5 giây → chuyển sang bộ lọc thường, không gián đoạn UX (BR-59).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2A0ACC80-AB50-45C6-A6F3-EB4EFF7C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996879E2-CDE2-46F8-ADB7-048D8B7E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13945186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EC0E8B8-9E37-41D2-8F03-A52762BB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8693C26-218A-4CF2-A1FB-9434DFCD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33D80F5-32AA-4C38-91B9-73A9E5E3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624313" cy="10314146"/>
          </a:xfrm>
          <a:custGeom xmlns:a="http://schemas.openxmlformats.org/drawingml/2006/main">
            <a:rect l="l" t="t" r="r" b="b"/>
            <a:pathLst>
              <a:path w="2165751" h="13752195">
                <a:moveTo>
                  <a:pt x="0" y="0"/>
                </a:moveTo>
                <a:lnTo>
                  <a:pt x="2165751" y="0"/>
                </a:lnTo>
                <a:lnTo>
                  <a:pt x="216575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9C978FD4-ECB1-4F9E-B94F-AC34944E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1D33B4-8E63-42DC-813C-31602598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4FC771E-9664-4A33-A050-D9B7507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098" y="256865"/>
            <a:ext cx="14824862" cy="617702"/>
          </a:xfrm>
          <a:custGeom xmlns:a="http://schemas.openxmlformats.org/drawingml/2006/main">
            <a:rect l="l" t="t" r="r" b="b"/>
            <a:pathLst>
              <a:path w="19766483" h="823603">
                <a:moveTo>
                  <a:pt x="0" y="0"/>
                </a:moveTo>
                <a:lnTo>
                  <a:pt x="19766483" y="0"/>
                </a:lnTo>
                <a:lnTo>
                  <a:pt x="19766483" y="823603"/>
                </a:lnTo>
                <a:lnTo>
                  <a:pt x="0" y="8236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417640" r="0" b="-41764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0B54BCD-7B12-4FF5-BC79-D7F4256C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098" y="235434"/>
            <a:ext cx="14824862" cy="63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413"/>
              </a:lnSpc>
              <a:buNone/>
              <a:defRPr sz="3677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7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 Main Business Flows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1C6F1241-7C9B-4D2A-B536-15EB28F0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275" y="1039287"/>
            <a:ext cx="14824862" cy="356895"/>
          </a:xfrm>
          <a:custGeom xmlns:a="http://schemas.openxmlformats.org/drawingml/2006/main">
            <a:rect l="l" t="t" r="r" b="b"/>
            <a:pathLst>
              <a:path w="19766483" h="475860">
                <a:moveTo>
                  <a:pt x="0" y="0"/>
                </a:moveTo>
                <a:lnTo>
                  <a:pt x="19766483" y="0"/>
                </a:lnTo>
                <a:lnTo>
                  <a:pt x="19766483" y="475860"/>
                </a:lnTo>
                <a:lnTo>
                  <a:pt x="0" y="47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759378" r="0" b="-759378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9736D782-6B07-4F33-8D5E-271BEC96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275" y="1032144"/>
            <a:ext cx="14824862" cy="364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PCS · Booking, Tournament &amp; AI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CDED192-A29E-4CE3-B1D4-1472C95A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275" y="1664013"/>
            <a:ext cx="7686966" cy="617702"/>
          </a:xfrm>
          <a:custGeom xmlns:a="http://schemas.openxmlformats.org/drawingml/2006/main">
            <a:rect l="l" t="t" r="r" b="b"/>
            <a:pathLst>
              <a:path w="10249288" h="823603">
                <a:moveTo>
                  <a:pt x="0" y="0"/>
                </a:moveTo>
                <a:lnTo>
                  <a:pt x="10249288" y="0"/>
                </a:lnTo>
                <a:lnTo>
                  <a:pt x="10249288" y="823603"/>
                </a:lnTo>
                <a:lnTo>
                  <a:pt x="0" y="8236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192480" r="0" b="-19248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3A6FC21-8EB1-42D3-A80E-9DE96CCE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275" y="1642582"/>
            <a:ext cx="7686961" cy="63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323"/>
              </a:lnSpc>
              <a:buNone/>
              <a:defRPr sz="3602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 Overview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99423980-72A7-4C82-85C8-05DC75D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726" y="2391532"/>
            <a:ext cx="7824233" cy="603975"/>
          </a:xfrm>
          <a:custGeom xmlns:a="http://schemas.openxmlformats.org/drawingml/2006/main">
            <a:rect l="l" t="t" r="r" b="b"/>
            <a:pathLst>
              <a:path w="10432311" h="805301">
                <a:moveTo>
                  <a:pt x="0" y="0"/>
                </a:moveTo>
                <a:lnTo>
                  <a:pt x="10432311" y="0"/>
                </a:lnTo>
                <a:lnTo>
                  <a:pt x="10432311" y="805301"/>
                </a:lnTo>
                <a:lnTo>
                  <a:pt x="0" y="8053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202419" r="0" b="-202420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439BF967-F2C6-4833-9A79-EAFEA0F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726" y="2370101"/>
            <a:ext cx="7824235" cy="6254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51"/>
              </a:lnSpc>
              <a:buNone/>
              <a:defRPr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876">
                <a:solidFill>
                  <a:srgbClr val="557085"/>
                </a:solidFill>
                <a:latin typeface="Arial"/>
                <a:ea typeface="Arial"/>
                <a:cs typeface="Arial"/>
              </a:rPr>
              <a:t>PCS tự động hóa đặt sân, vận hành giải đấu và cá nhân hóa bằng AI.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7DE87A9-2765-4F5C-A0A7-45707922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9772" y="3784954"/>
            <a:ext cx="6762134" cy="3260407"/>
          </a:xfrm>
          <a:custGeom xmlns:a="http://schemas.openxmlformats.org/drawingml/2006/main">
            <a:rect l="l" t="t" r="r" b="b"/>
            <a:pathLst>
              <a:path w="9016179" h="4347210">
                <a:moveTo>
                  <a:pt x="0" y="128905"/>
                </a:moveTo>
                <a:cubicBezTo>
                  <a:pt x="0" y="57785"/>
                  <a:pt x="50695" y="0"/>
                  <a:pt x="113088" y="0"/>
                </a:cubicBezTo>
                <a:lnTo>
                  <a:pt x="8903091" y="0"/>
                </a:lnTo>
                <a:cubicBezTo>
                  <a:pt x="8965596" y="0"/>
                  <a:pt x="9016179" y="57785"/>
                  <a:pt x="9016179" y="128905"/>
                </a:cubicBezTo>
                <a:lnTo>
                  <a:pt x="9016179" y="4218305"/>
                </a:lnTo>
                <a:cubicBezTo>
                  <a:pt x="9016179" y="4289552"/>
                  <a:pt x="8965485" y="4347210"/>
                  <a:pt x="8903091" y="4347210"/>
                </a:cubicBezTo>
                <a:lnTo>
                  <a:pt x="113088" y="4347210"/>
                </a:lnTo>
                <a:cubicBezTo>
                  <a:pt x="50695" y="4347337"/>
                  <a:pt x="0" y="4289552"/>
                  <a:pt x="0" y="4218305"/>
                </a:cubicBezTo>
                <a:close/>
              </a:path>
            </a:pathLst>
          </a:custGeom>
          <a:solidFill xmlns:a="http://schemas.openxmlformats.org/drawingml/2006/main">
            <a:srgbClr val="0B2A44">
              <a:alpha val="84314"/>
            </a:srgbClr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BC2AC93-7D18-435A-A902-D18B312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982" y="4111147"/>
            <a:ext cx="6141633" cy="414486"/>
          </a:xfrm>
          <a:custGeom xmlns:a="http://schemas.openxmlformats.org/drawingml/2006/main">
            <a:rect l="l" t="t" r="r" b="b"/>
            <a:pathLst>
              <a:path w="8188845" h="552649">
                <a:moveTo>
                  <a:pt x="0" y="0"/>
                </a:moveTo>
                <a:lnTo>
                  <a:pt x="8188845" y="0"/>
                </a:lnTo>
                <a:lnTo>
                  <a:pt x="8188845" y="552649"/>
                </a:lnTo>
                <a:lnTo>
                  <a:pt x="0" y="55264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289358" r="-13986" b="-26884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676C9145-9E14-449A-B3DD-0C558C4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982" y="4104004"/>
            <a:ext cx="6141632" cy="4216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System Goals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FB9E2C07-56FC-4170-8707-AFBE7CA2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7137" y="4651329"/>
            <a:ext cx="5923759" cy="18378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Tự động hóa booking và vận hành CLB.</a:t>
            </a:r>
          </a:p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Chuyên nghiệp hóa tạo giải, nhánh đấu và lịch thi đấu.</a:t>
            </a:r>
          </a:p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Nâng trải nghiệm bằng AI personalization.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5B1F626-B2DA-4069-9DCA-5162A57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377" y="3784954"/>
            <a:ext cx="6473670" cy="3260407"/>
          </a:xfrm>
          <a:custGeom xmlns:a="http://schemas.openxmlformats.org/drawingml/2006/main">
            <a:rect l="l" t="t" r="r" b="b"/>
            <a:pathLst>
              <a:path w="8631562" h="4347210">
                <a:moveTo>
                  <a:pt x="0" y="128905"/>
                </a:moveTo>
                <a:cubicBezTo>
                  <a:pt x="0" y="57785"/>
                  <a:pt x="54885" y="0"/>
                  <a:pt x="122436" y="0"/>
                </a:cubicBezTo>
                <a:lnTo>
                  <a:pt x="8509126" y="0"/>
                </a:lnTo>
                <a:cubicBezTo>
                  <a:pt x="8576797" y="0"/>
                  <a:pt x="8631562" y="57785"/>
                  <a:pt x="8631562" y="128905"/>
                </a:cubicBezTo>
                <a:lnTo>
                  <a:pt x="8631562" y="4218305"/>
                </a:lnTo>
                <a:cubicBezTo>
                  <a:pt x="8631562" y="4289552"/>
                  <a:pt x="8576676" y="4347210"/>
                  <a:pt x="8509126" y="4347210"/>
                </a:cubicBezTo>
                <a:lnTo>
                  <a:pt x="122436" y="4347210"/>
                </a:lnTo>
                <a:cubicBezTo>
                  <a:pt x="54885" y="4347337"/>
                  <a:pt x="0" y="4289552"/>
                  <a:pt x="0" y="4218305"/>
                </a:cubicBezTo>
                <a:close/>
              </a:path>
            </a:pathLst>
          </a:custGeom>
          <a:solidFill xmlns:a="http://schemas.openxmlformats.org/drawingml/2006/main">
            <a:srgbClr val="0B2A44">
              <a:alpha val="84314"/>
            </a:srgbClr>
          </a:solidFill>
          <a:ln xmlns:a="http://schemas.openxmlformats.org/drawingml/2006/main" w="20971">
            <a:solidFill>
              <a:srgbClr val="48F6E5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16A53B82-76F7-4AF0-82C3-869E46A9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3200" y="4111147"/>
            <a:ext cx="6082840" cy="414486"/>
          </a:xfrm>
          <a:custGeom xmlns:a="http://schemas.openxmlformats.org/drawingml/2006/main">
            <a:rect l="l" t="t" r="r" b="b"/>
            <a:pathLst>
              <a:path w="7822719" h="533043">
                <a:moveTo>
                  <a:pt x="0" y="0"/>
                </a:moveTo>
                <a:lnTo>
                  <a:pt x="7822719" y="0"/>
                </a:lnTo>
                <a:lnTo>
                  <a:pt x="7822719" y="533043"/>
                </a:lnTo>
                <a:lnTo>
                  <a:pt x="0" y="53304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259860" r="-5283" b="-242265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BAA716-B05A-449C-849C-60068448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3200" y="4103741"/>
            <a:ext cx="6082844" cy="421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Main Users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BBEE6CD-722D-4AB3-997D-70C9B43A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8443" y="4713227"/>
            <a:ext cx="2364436" cy="417249"/>
          </a:xfrm>
          <a:custGeom xmlns:a="http://schemas.openxmlformats.org/drawingml/2006/main">
            <a:rect l="l" t="t" r="r" b="b"/>
            <a:pathLst>
              <a:path w="3040738" h="536596">
                <a:moveTo>
                  <a:pt x="0" y="85810"/>
                </a:moveTo>
                <a:cubicBezTo>
                  <a:pt x="0" y="38389"/>
                  <a:pt x="35126" y="0"/>
                  <a:pt x="78517" y="0"/>
                </a:cubicBezTo>
                <a:lnTo>
                  <a:pt x="2962221" y="0"/>
                </a:lnTo>
                <a:cubicBezTo>
                  <a:pt x="3005612" y="0"/>
                  <a:pt x="3040738" y="38389"/>
                  <a:pt x="3040738" y="85810"/>
                </a:cubicBezTo>
                <a:lnTo>
                  <a:pt x="3040738" y="450785"/>
                </a:lnTo>
                <a:cubicBezTo>
                  <a:pt x="3040738" y="498207"/>
                  <a:pt x="3005612" y="536595"/>
                  <a:pt x="2962221" y="536595"/>
                </a:cubicBezTo>
                <a:lnTo>
                  <a:pt x="78517" y="536595"/>
                </a:lnTo>
                <a:cubicBezTo>
                  <a:pt x="35126" y="536737"/>
                  <a:pt x="0" y="498348"/>
                  <a:pt x="0" y="450785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9F18B50C-2140-4F42-B412-4C0DCF62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906" y="4716100"/>
            <a:ext cx="2257548" cy="414486"/>
          </a:xfrm>
          <a:custGeom xmlns:a="http://schemas.openxmlformats.org/drawingml/2006/main">
            <a:rect l="l" t="t" r="r" b="b"/>
            <a:pathLst>
              <a:path w="2903276" h="533042">
                <a:moveTo>
                  <a:pt x="0" y="0"/>
                </a:moveTo>
                <a:lnTo>
                  <a:pt x="2903276" y="0"/>
                </a:lnTo>
                <a:lnTo>
                  <a:pt x="2903276" y="533042"/>
                </a:lnTo>
                <a:lnTo>
                  <a:pt x="0" y="5330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90634" r="1657" b="-1810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B82C8143-E6BC-4DF2-915B-63F9AADC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906" y="4708694"/>
            <a:ext cx="2257552" cy="421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 / Guest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4B786D3D-B3D4-44F8-8B4B-7CE01145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955" y="5195567"/>
            <a:ext cx="2460148" cy="310949"/>
          </a:xfrm>
          <a:custGeom xmlns:a="http://schemas.openxmlformats.org/drawingml/2006/main">
            <a:rect l="l" t="t" r="r" b="b"/>
            <a:pathLst>
              <a:path w="3163826" h="399890">
                <a:moveTo>
                  <a:pt x="0" y="0"/>
                </a:moveTo>
                <a:lnTo>
                  <a:pt x="3163826" y="0"/>
                </a:lnTo>
                <a:lnTo>
                  <a:pt x="3163826" y="399890"/>
                </a:lnTo>
                <a:lnTo>
                  <a:pt x="0" y="3998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124143" r="1657" b="-79067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B14A2D-9213-446D-840E-B42B10FA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955" y="5180754"/>
            <a:ext cx="2460145" cy="3257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6D5DE"/>
                </a:solidFill>
                <a:latin typeface="Arial"/>
                <a:ea typeface="Arial"/>
                <a:cs typeface="Arial"/>
              </a:rPr>
              <a:t>Người chơi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1265E449-35B7-4B4E-94C2-E2285F35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9807" y="4713227"/>
            <a:ext cx="2364436" cy="417249"/>
          </a:xfrm>
          <a:custGeom xmlns:a="http://schemas.openxmlformats.org/drawingml/2006/main">
            <a:rect l="l" t="t" r="r" b="b"/>
            <a:pathLst>
              <a:path w="3040738" h="536596">
                <a:moveTo>
                  <a:pt x="0" y="85810"/>
                </a:moveTo>
                <a:cubicBezTo>
                  <a:pt x="0" y="38389"/>
                  <a:pt x="35126" y="0"/>
                  <a:pt x="78517" y="0"/>
                </a:cubicBezTo>
                <a:lnTo>
                  <a:pt x="2962221" y="0"/>
                </a:lnTo>
                <a:cubicBezTo>
                  <a:pt x="3005612" y="0"/>
                  <a:pt x="3040738" y="38389"/>
                  <a:pt x="3040738" y="85810"/>
                </a:cubicBezTo>
                <a:lnTo>
                  <a:pt x="3040738" y="450785"/>
                </a:lnTo>
                <a:cubicBezTo>
                  <a:pt x="3040738" y="498207"/>
                  <a:pt x="3005612" y="536595"/>
                  <a:pt x="2962221" y="536595"/>
                </a:cubicBezTo>
                <a:lnTo>
                  <a:pt x="78517" y="536595"/>
                </a:lnTo>
                <a:cubicBezTo>
                  <a:pt x="35126" y="536737"/>
                  <a:pt x="0" y="498348"/>
                  <a:pt x="0" y="450785"/>
                </a:cubicBezTo>
                <a:close/>
              </a:path>
            </a:pathLst>
          </a:custGeom>
          <a:solidFill xmlns:a="http://schemas.openxmlformats.org/drawingml/2006/main">
            <a:srgbClr val="48F6E5"/>
          </a:solidFill>
          <a:ln xmlns:a="http://schemas.openxmlformats.org/drawingml/2006/main" w="19065">
            <a:solidFill>
              <a:srgbClr val="48F6E5"/>
            </a:solidFill>
            <a:prstDash val="solid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9625D86-C72F-4065-9BB7-C8B49D13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3270" y="4672320"/>
            <a:ext cx="2257548" cy="499173"/>
          </a:xfrm>
          <a:custGeom xmlns:a="http://schemas.openxmlformats.org/drawingml/2006/main">
            <a:rect l="l" t="t" r="r" b="b"/>
            <a:pathLst>
              <a:path w="2903276" h="641952">
                <a:moveTo>
                  <a:pt x="0" y="0"/>
                </a:moveTo>
                <a:lnTo>
                  <a:pt x="2903276" y="0"/>
                </a:lnTo>
                <a:lnTo>
                  <a:pt x="2903276" y="641952"/>
                </a:lnTo>
                <a:lnTo>
                  <a:pt x="0" y="64195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75258" r="1657" b="1933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B6EB3952-25D9-412F-BCC4-D37847D8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3270" y="4664914"/>
            <a:ext cx="2257552" cy="5065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D5D3123-ECB4-46EF-9953-33C7A62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319" y="5195567"/>
            <a:ext cx="2460148" cy="310949"/>
          </a:xfrm>
          <a:custGeom xmlns:a="http://schemas.openxmlformats.org/drawingml/2006/main">
            <a:rect l="l" t="t" r="r" b="b"/>
            <a:pathLst>
              <a:path w="3163826" h="399890">
                <a:moveTo>
                  <a:pt x="0" y="0"/>
                </a:moveTo>
                <a:lnTo>
                  <a:pt x="3163826" y="0"/>
                </a:lnTo>
                <a:lnTo>
                  <a:pt x="3163826" y="399890"/>
                </a:lnTo>
                <a:lnTo>
                  <a:pt x="0" y="3998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124143" r="1657" b="-79067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D4919A88-844C-4897-A194-CA9EB5F2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319" y="5180754"/>
            <a:ext cx="2460145" cy="3257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6D5DE"/>
                </a:solidFill>
                <a:latin typeface="Arial"/>
                <a:ea typeface="Arial"/>
                <a:cs typeface="Arial"/>
              </a:rPr>
              <a:t>Huấn luyện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9831D32D-B93B-43B1-93D0-EFFB5E47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8443" y="5851949"/>
            <a:ext cx="2364436" cy="417249"/>
          </a:xfrm>
          <a:custGeom xmlns:a="http://schemas.openxmlformats.org/drawingml/2006/main">
            <a:rect l="l" t="t" r="r" b="b"/>
            <a:pathLst>
              <a:path w="3040738" h="536596">
                <a:moveTo>
                  <a:pt x="0" y="85810"/>
                </a:moveTo>
                <a:cubicBezTo>
                  <a:pt x="0" y="38389"/>
                  <a:pt x="35126" y="0"/>
                  <a:pt x="78517" y="0"/>
                </a:cubicBezTo>
                <a:lnTo>
                  <a:pt x="2962221" y="0"/>
                </a:lnTo>
                <a:cubicBezTo>
                  <a:pt x="3005612" y="0"/>
                  <a:pt x="3040738" y="38389"/>
                  <a:pt x="3040738" y="85810"/>
                </a:cubicBezTo>
                <a:lnTo>
                  <a:pt x="3040738" y="450785"/>
                </a:lnTo>
                <a:cubicBezTo>
                  <a:pt x="3040738" y="498207"/>
                  <a:pt x="3005612" y="536595"/>
                  <a:pt x="2962221" y="536595"/>
                </a:cubicBezTo>
                <a:lnTo>
                  <a:pt x="78517" y="536595"/>
                </a:lnTo>
                <a:cubicBezTo>
                  <a:pt x="35126" y="536737"/>
                  <a:pt x="0" y="498348"/>
                  <a:pt x="0" y="450785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FE8136C-8B6E-4090-AB6C-657634DB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906" y="5864855"/>
            <a:ext cx="2257548" cy="414486"/>
          </a:xfrm>
          <a:custGeom xmlns:a="http://schemas.openxmlformats.org/drawingml/2006/main">
            <a:rect l="l" t="t" r="r" b="b"/>
            <a:pathLst>
              <a:path w="2903276" h="533042">
                <a:moveTo>
                  <a:pt x="0" y="0"/>
                </a:moveTo>
                <a:lnTo>
                  <a:pt x="2903276" y="0"/>
                </a:lnTo>
                <a:lnTo>
                  <a:pt x="2903276" y="533042"/>
                </a:lnTo>
                <a:lnTo>
                  <a:pt x="0" y="5330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90634" r="1657" b="-18102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0AB0B678-296F-4C7D-B7D2-BE509BE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906" y="5857449"/>
            <a:ext cx="2257552" cy="421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3410BF4-CCE8-4A74-A54B-CE84507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955" y="6334289"/>
            <a:ext cx="2460148" cy="310949"/>
          </a:xfrm>
          <a:custGeom xmlns:a="http://schemas.openxmlformats.org/drawingml/2006/main">
            <a:rect l="l" t="t" r="r" b="b"/>
            <a:pathLst>
              <a:path w="3163826" h="399890">
                <a:moveTo>
                  <a:pt x="0" y="0"/>
                </a:moveTo>
                <a:lnTo>
                  <a:pt x="3163826" y="0"/>
                </a:lnTo>
                <a:lnTo>
                  <a:pt x="3163826" y="399890"/>
                </a:lnTo>
                <a:lnTo>
                  <a:pt x="0" y="3998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124143" r="1657" b="-79067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7447DABA-2BD4-4335-82A9-ED6192BA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955" y="6319476"/>
            <a:ext cx="2460145" cy="3257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6D5DE"/>
                </a:solidFill>
                <a:latin typeface="Arial"/>
                <a:ea typeface="Arial"/>
                <a:cs typeface="Arial"/>
              </a:rPr>
              <a:t>Vận hành sân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1A8FFB7E-CC7B-4D0F-8569-AD8D4613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9807" y="5851949"/>
            <a:ext cx="2364436" cy="417249"/>
          </a:xfrm>
          <a:custGeom xmlns:a="http://schemas.openxmlformats.org/drawingml/2006/main">
            <a:rect l="l" t="t" r="r" b="b"/>
            <a:pathLst>
              <a:path w="3040738" h="536596">
                <a:moveTo>
                  <a:pt x="0" y="85810"/>
                </a:moveTo>
                <a:cubicBezTo>
                  <a:pt x="0" y="38389"/>
                  <a:pt x="35126" y="0"/>
                  <a:pt x="78517" y="0"/>
                </a:cubicBezTo>
                <a:lnTo>
                  <a:pt x="2962221" y="0"/>
                </a:lnTo>
                <a:cubicBezTo>
                  <a:pt x="3005612" y="0"/>
                  <a:pt x="3040738" y="38389"/>
                  <a:pt x="3040738" y="85810"/>
                </a:cubicBezTo>
                <a:lnTo>
                  <a:pt x="3040738" y="450785"/>
                </a:lnTo>
                <a:cubicBezTo>
                  <a:pt x="3040738" y="498207"/>
                  <a:pt x="3005612" y="536595"/>
                  <a:pt x="2962221" y="536595"/>
                </a:cubicBezTo>
                <a:lnTo>
                  <a:pt x="78517" y="536595"/>
                </a:lnTo>
                <a:cubicBezTo>
                  <a:pt x="35126" y="536737"/>
                  <a:pt x="0" y="498348"/>
                  <a:pt x="0" y="450785"/>
                </a:cubicBezTo>
                <a:close/>
              </a:path>
            </a:pathLst>
          </a:custGeom>
          <a:solidFill xmlns:a="http://schemas.openxmlformats.org/drawingml/2006/main">
            <a:srgbClr val="48F6E5"/>
          </a:solidFill>
          <a:ln xmlns:a="http://schemas.openxmlformats.org/drawingml/2006/main" w="19065">
            <a:solidFill>
              <a:srgbClr val="48F6E5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4C258145-C2A2-48F4-BDFA-1D59A24C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3270" y="5864855"/>
            <a:ext cx="2257548" cy="414486"/>
          </a:xfrm>
          <a:custGeom xmlns:a="http://schemas.openxmlformats.org/drawingml/2006/main">
            <a:rect l="l" t="t" r="r" b="b"/>
            <a:pathLst>
              <a:path w="2903276" h="533042">
                <a:moveTo>
                  <a:pt x="0" y="0"/>
                </a:moveTo>
                <a:lnTo>
                  <a:pt x="2903276" y="0"/>
                </a:lnTo>
                <a:lnTo>
                  <a:pt x="2903276" y="533042"/>
                </a:lnTo>
                <a:lnTo>
                  <a:pt x="0" y="53304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90634" r="1657" b="-18102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D5927296-70E3-40E9-AA72-9B0B3A0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13270" y="5857449"/>
            <a:ext cx="2257552" cy="421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E5FF7234-85ED-4439-AFEE-920EE031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319" y="6334289"/>
            <a:ext cx="2460148" cy="259274"/>
          </a:xfrm>
          <a:custGeom xmlns:a="http://schemas.openxmlformats.org/drawingml/2006/main">
            <a:rect l="l" t="t" r="r" b="b"/>
            <a:pathLst>
              <a:path w="3163826" h="333434">
                <a:moveTo>
                  <a:pt x="0" y="0"/>
                </a:moveTo>
                <a:lnTo>
                  <a:pt x="3163826" y="0"/>
                </a:lnTo>
                <a:lnTo>
                  <a:pt x="3163826" y="333434"/>
                </a:lnTo>
                <a:lnTo>
                  <a:pt x="0" y="33343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148886" r="1657" b="-114756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B05A60B1-9018-4D33-944A-106DD32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4319" y="6326883"/>
            <a:ext cx="2460145" cy="2666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351"/>
              </a:lnSpc>
              <a:buNone/>
              <a:defRPr sz="1350">
                <a:solidFill>
                  <a:srgbClr val="C6D5DE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C6D5DE"/>
                </a:solidFill>
                <a:latin typeface="Arial"/>
                <a:ea typeface="Arial"/>
                <a:cs typeface="Arial"/>
              </a:rPr>
              <a:t>Quản trị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05EF9285-0249-4034-A7ED-1FD2F435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24362"/>
            <a:ext cx="15236663" cy="414483"/>
          </a:xfrm>
          <a:custGeom xmlns:a="http://schemas.openxmlformats.org/drawingml/2006/main">
            <a:rect l="l" t="t" r="r" b="b"/>
            <a:pathLst>
              <a:path w="20315552" h="552645">
                <a:moveTo>
                  <a:pt x="0" y="0"/>
                </a:moveTo>
                <a:lnTo>
                  <a:pt x="20315552" y="0"/>
                </a:lnTo>
                <a:lnTo>
                  <a:pt x="20315552" y="552645"/>
                </a:lnTo>
                <a:lnTo>
                  <a:pt x="0" y="55264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ba4de1b69fe40aa">
              <a:alphaModFix amt="0"/>
            </a:blip>
            <a:stretch>
              <a:fillRect l="0" t="-679852" r="0" b="-652711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9A784DA5-9B23-4109-8585-3171474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17219"/>
            <a:ext cx="15236666" cy="4216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Booking &amp; Refund → Tournament → AI Personalization → Operations &amp; Analytics</a:t>
            </a:r>
          </a:p>
        </p:txBody>
      </p:sp>
    </p:spTree>
    <p:extLst>
      <p:ext uri="{BB962C8B-B14F-4D97-AF65-F5344CB8AC3E}">
        <p14:creationId xmlns:p14="http://schemas.microsoft.com/office/powerpoint/2010/main" val="10039701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2FEDE50-EADB-41AC-B89B-A012D5F9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580D26A-E509-47D2-8F84-A5325FF5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B5D1B2AB-FDC5-47D5-B0FB-C265FD1B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2887D7E-DCFE-4E99-AE20-6DAB354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59B860-1F8F-4E88-8EEC-574E666F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2D9C03A8-F66A-46AB-9E5F-E1BFEE26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66706"/>
            <a:ext cx="14824862" cy="617702"/>
          </a:xfrm>
          <a:custGeom xmlns:a="http://schemas.openxmlformats.org/drawingml/2006/main">
            <a:rect l="l" t="t" r="r" b="b"/>
            <a:pathLst>
              <a:path w="19766483" h="823603">
                <a:moveTo>
                  <a:pt x="0" y="0"/>
                </a:moveTo>
                <a:lnTo>
                  <a:pt x="19766483" y="0"/>
                </a:lnTo>
                <a:lnTo>
                  <a:pt x="19766483" y="823603"/>
                </a:lnTo>
                <a:lnTo>
                  <a:pt x="0" y="8236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417640" r="0" b="-41764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7E3B19-39A3-4199-8ED3-EBFACCAC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45275"/>
            <a:ext cx="14824862" cy="63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413"/>
              </a:lnSpc>
              <a:buNone/>
              <a:defRPr sz="3677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7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Flow 1: Booking, Payment &amp; Refund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5E42DD8-D7A2-43C7-A620-9B5457CB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9128"/>
            <a:ext cx="14824862" cy="356895"/>
          </a:xfrm>
          <a:custGeom xmlns:a="http://schemas.openxmlformats.org/drawingml/2006/main">
            <a:rect l="l" t="t" r="r" b="b"/>
            <a:pathLst>
              <a:path w="19766483" h="475860">
                <a:moveTo>
                  <a:pt x="0" y="0"/>
                </a:moveTo>
                <a:lnTo>
                  <a:pt x="19766483" y="0"/>
                </a:lnTo>
                <a:lnTo>
                  <a:pt x="19766483" y="475860"/>
                </a:lnTo>
                <a:lnTo>
                  <a:pt x="0" y="47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759378" r="0" b="-759378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8B39414-CC14-4406-8BCA-1DE89F79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1985"/>
            <a:ext cx="14824862" cy="364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Booking chỉ được xác nhận sau Webhook/IPN hợp lệ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42ED768-0972-4719-9601-F2D087C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3807" y="2281876"/>
            <a:ext cx="2834830" cy="3013329"/>
          </a:xfrm>
          <a:custGeom xmlns:a="http://schemas.openxmlformats.org/drawingml/2006/main">
            <a:rect l="l" t="t" r="r" b="b"/>
            <a:pathLst>
              <a:path w="3779774" h="4017772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888740"/>
                </a:lnTo>
                <a:cubicBezTo>
                  <a:pt x="3779774" y="3959987"/>
                  <a:pt x="3721989" y="4017772"/>
                  <a:pt x="3650742" y="4017772"/>
                </a:cubicBezTo>
                <a:lnTo>
                  <a:pt x="129032" y="4017772"/>
                </a:lnTo>
                <a:cubicBezTo>
                  <a:pt x="57785" y="4017899"/>
                  <a:pt x="0" y="3960114"/>
                  <a:pt x="0" y="388874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C4B72339-704B-4120-B094-5AF65F9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750" y="2433828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4176A56-10BD-45BC-841D-F153885F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1372" y="2525716"/>
            <a:ext cx="356895" cy="109814"/>
          </a:xfrm>
          <a:custGeom xmlns:a="http://schemas.openxmlformats.org/drawingml/2006/main">
            <a:rect l="l" t="t" r="r" b="b"/>
            <a:pathLst>
              <a:path w="475860" h="146418">
                <a:moveTo>
                  <a:pt x="0" y="0"/>
                </a:moveTo>
                <a:lnTo>
                  <a:pt x="475860" y="0"/>
                </a:lnTo>
                <a:lnTo>
                  <a:pt x="475860" y="146418"/>
                </a:lnTo>
                <a:lnTo>
                  <a:pt x="0" y="1464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3325" r="0" b="-13325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B003105-3F64-4D47-B597-39674457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1372" y="2518573"/>
            <a:ext cx="356892" cy="1169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224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AFFCA845-BB8A-46FE-BD81-971562FD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735" y="2923794"/>
            <a:ext cx="2457084" cy="603971"/>
          </a:xfrm>
          <a:custGeom xmlns:a="http://schemas.openxmlformats.org/drawingml/2006/main">
            <a:rect l="l" t="t" r="r" b="b"/>
            <a:pathLst>
              <a:path w="3276112" h="805295">
                <a:moveTo>
                  <a:pt x="0" y="0"/>
                </a:moveTo>
                <a:lnTo>
                  <a:pt x="3276112" y="0"/>
                </a:lnTo>
                <a:lnTo>
                  <a:pt x="3276112" y="805295"/>
                </a:lnTo>
                <a:lnTo>
                  <a:pt x="0" y="805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29268" r="0" b="-29270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6CE5DB0B-39C7-4ADA-94A5-58A559B6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735" y="2909507"/>
            <a:ext cx="2457088" cy="618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95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Check Available Slots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33A55C66-4AA2-42D1-ACA5-16D142A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461" y="3568951"/>
            <a:ext cx="2429629" cy="1592296"/>
          </a:xfrm>
          <a:custGeom xmlns:a="http://schemas.openxmlformats.org/drawingml/2006/main">
            <a:rect l="l" t="t" r="r" b="b"/>
            <a:pathLst>
              <a:path w="3239507" h="2123062">
                <a:moveTo>
                  <a:pt x="0" y="0"/>
                </a:moveTo>
                <a:lnTo>
                  <a:pt x="3239507" y="0"/>
                </a:lnTo>
                <a:lnTo>
                  <a:pt x="3239507" y="2123062"/>
                </a:lnTo>
                <a:lnTo>
                  <a:pt x="0" y="21230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-34086" t="0" r="-34086" b="0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5466862-A716-45D4-9E34-FFC37D41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461" y="3554664"/>
            <a:ext cx="2429627" cy="1606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 lọc ngày; xanh là trống, đỏ là bận.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EDE2548-ECC7-4053-B4E5-73BC05FD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130" y="2281876"/>
            <a:ext cx="2834830" cy="3013329"/>
          </a:xfrm>
          <a:custGeom xmlns:a="http://schemas.openxmlformats.org/drawingml/2006/main">
            <a:rect l="l" t="t" r="r" b="b"/>
            <a:pathLst>
              <a:path w="3779774" h="4017772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888740"/>
                </a:lnTo>
                <a:cubicBezTo>
                  <a:pt x="3779774" y="3959987"/>
                  <a:pt x="3721989" y="4017772"/>
                  <a:pt x="3650742" y="4017772"/>
                </a:cubicBezTo>
                <a:lnTo>
                  <a:pt x="129032" y="4017772"/>
                </a:lnTo>
                <a:cubicBezTo>
                  <a:pt x="57785" y="4017899"/>
                  <a:pt x="0" y="3960114"/>
                  <a:pt x="0" y="388874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8976529-EC2B-44DA-B0F2-337BD241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4073" y="2433828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E690819-55EE-49ED-94D0-69A1F13E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696" y="2525716"/>
            <a:ext cx="356895" cy="109814"/>
          </a:xfrm>
          <a:custGeom xmlns:a="http://schemas.openxmlformats.org/drawingml/2006/main">
            <a:rect l="l" t="t" r="r" b="b"/>
            <a:pathLst>
              <a:path w="475860" h="146418">
                <a:moveTo>
                  <a:pt x="0" y="0"/>
                </a:moveTo>
                <a:lnTo>
                  <a:pt x="475860" y="0"/>
                </a:lnTo>
                <a:lnTo>
                  <a:pt x="475860" y="146418"/>
                </a:lnTo>
                <a:lnTo>
                  <a:pt x="0" y="1464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3325" r="0" b="-13325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CADA11E5-BFE1-4F98-82E1-DA7F8FF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9696" y="2518573"/>
            <a:ext cx="356892" cy="1169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224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B68EAB39-5343-4C4C-9229-13CD13F0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059" y="2923794"/>
            <a:ext cx="2457084" cy="603971"/>
          </a:xfrm>
          <a:custGeom xmlns:a="http://schemas.openxmlformats.org/drawingml/2006/main">
            <a:rect l="l" t="t" r="r" b="b"/>
            <a:pathLst>
              <a:path w="3276112" h="805295">
                <a:moveTo>
                  <a:pt x="0" y="0"/>
                </a:moveTo>
                <a:lnTo>
                  <a:pt x="3276112" y="0"/>
                </a:lnTo>
                <a:lnTo>
                  <a:pt x="3276112" y="805295"/>
                </a:lnTo>
                <a:lnTo>
                  <a:pt x="0" y="805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29268" r="0" b="-2927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A7F8B86F-96D7-4CF5-997B-5A52956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059" y="2909507"/>
            <a:ext cx="2457088" cy="618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95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Create Draft Booking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7F3725FA-8416-48AD-9015-ECBE6E22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4784" y="3568951"/>
            <a:ext cx="2429629" cy="1592296"/>
          </a:xfrm>
          <a:custGeom xmlns:a="http://schemas.openxmlformats.org/drawingml/2006/main">
            <a:rect l="l" t="t" r="r" b="b"/>
            <a:pathLst>
              <a:path w="3239507" h="2123062">
                <a:moveTo>
                  <a:pt x="0" y="0"/>
                </a:moveTo>
                <a:lnTo>
                  <a:pt x="3239507" y="0"/>
                </a:lnTo>
                <a:lnTo>
                  <a:pt x="3239507" y="2123062"/>
                </a:lnTo>
                <a:lnTo>
                  <a:pt x="0" y="21230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-34086" t="0" r="-34086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9AD2F288-DFF6-4D67-8CEC-0D506E03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4784" y="3554664"/>
            <a:ext cx="2429627" cy="1606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Chọn giờ, nhập thông tin → PendingPayment.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B0345AA-232F-44EA-8FF2-A83FF25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0454" y="2281876"/>
            <a:ext cx="2834830" cy="3013329"/>
          </a:xfrm>
          <a:custGeom xmlns:a="http://schemas.openxmlformats.org/drawingml/2006/main">
            <a:rect l="l" t="t" r="r" b="b"/>
            <a:pathLst>
              <a:path w="3779774" h="4017772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888740"/>
                </a:lnTo>
                <a:cubicBezTo>
                  <a:pt x="3779774" y="3959987"/>
                  <a:pt x="3721989" y="4017772"/>
                  <a:pt x="3650742" y="4017772"/>
                </a:cubicBezTo>
                <a:lnTo>
                  <a:pt x="129032" y="4017772"/>
                </a:lnTo>
                <a:cubicBezTo>
                  <a:pt x="57785" y="4017899"/>
                  <a:pt x="0" y="3960114"/>
                  <a:pt x="0" y="388874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48F6E5"/>
            </a:solidFill>
            <a:prstDash val="solid"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8ABAA1A4-09CB-48B4-908D-3A1C4C1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2406" y="2433828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48F6E5"/>
          </a:solidFill>
          <a:ln xmlns:a="http://schemas.openxmlformats.org/drawingml/2006/main" w="19065">
            <a:solidFill>
              <a:srgbClr val="48F6E5"/>
            </a:solidFill>
            <a:prstDash val="solid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F5A2D62F-4141-439F-8569-BE6A6CF2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8020" y="2525716"/>
            <a:ext cx="356895" cy="109814"/>
          </a:xfrm>
          <a:custGeom xmlns:a="http://schemas.openxmlformats.org/drawingml/2006/main">
            <a:rect l="l" t="t" r="r" b="b"/>
            <a:pathLst>
              <a:path w="475860" h="146418">
                <a:moveTo>
                  <a:pt x="0" y="0"/>
                </a:moveTo>
                <a:lnTo>
                  <a:pt x="475860" y="0"/>
                </a:lnTo>
                <a:lnTo>
                  <a:pt x="475860" y="146418"/>
                </a:lnTo>
                <a:lnTo>
                  <a:pt x="0" y="1464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3325" r="0" b="-13325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7B3B345-38B4-419B-AB3B-59A8D57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8020" y="2518573"/>
            <a:ext cx="356892" cy="1169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224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C11AF9D-AEAB-42C1-A5AB-BB61313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392" y="2923794"/>
            <a:ext cx="2457084" cy="603971"/>
          </a:xfrm>
          <a:custGeom xmlns:a="http://schemas.openxmlformats.org/drawingml/2006/main">
            <a:rect l="l" t="t" r="r" b="b"/>
            <a:pathLst>
              <a:path w="3276112" h="805295">
                <a:moveTo>
                  <a:pt x="0" y="0"/>
                </a:moveTo>
                <a:lnTo>
                  <a:pt x="3276112" y="0"/>
                </a:lnTo>
                <a:lnTo>
                  <a:pt x="3276112" y="805295"/>
                </a:lnTo>
                <a:lnTo>
                  <a:pt x="0" y="805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29268" r="0" b="-2927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3AB3549C-A4CD-40E8-B61D-AACFC91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392" y="2909507"/>
            <a:ext cx="2457088" cy="618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95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Online Payment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86DF21D-591C-4941-9095-8615F2D5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117" y="3568951"/>
            <a:ext cx="2429629" cy="1592296"/>
          </a:xfrm>
          <a:custGeom xmlns:a="http://schemas.openxmlformats.org/drawingml/2006/main">
            <a:rect l="l" t="t" r="r" b="b"/>
            <a:pathLst>
              <a:path w="3239507" h="2123062">
                <a:moveTo>
                  <a:pt x="0" y="0"/>
                </a:moveTo>
                <a:lnTo>
                  <a:pt x="3239507" y="0"/>
                </a:lnTo>
                <a:lnTo>
                  <a:pt x="3239507" y="2123062"/>
                </a:lnTo>
                <a:lnTo>
                  <a:pt x="0" y="21230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-34086" t="0" r="-34086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789D1F66-8272-4A4D-B5FC-95CF8C7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117" y="3554664"/>
            <a:ext cx="2429627" cy="1606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Quét QR PayOS/MoMo; webhook hợp lệ → Confirmed.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BA5B0BF-5672-466E-8130-D0AA781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8787" y="2281876"/>
            <a:ext cx="2834830" cy="3013329"/>
          </a:xfrm>
          <a:custGeom xmlns:a="http://schemas.openxmlformats.org/drawingml/2006/main">
            <a:rect l="l" t="t" r="r" b="b"/>
            <a:pathLst>
              <a:path w="3779774" h="4017772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888740"/>
                </a:lnTo>
                <a:cubicBezTo>
                  <a:pt x="3779774" y="3959987"/>
                  <a:pt x="3721989" y="4017772"/>
                  <a:pt x="3650742" y="4017772"/>
                </a:cubicBezTo>
                <a:lnTo>
                  <a:pt x="129032" y="4017772"/>
                </a:lnTo>
                <a:cubicBezTo>
                  <a:pt x="57785" y="4017899"/>
                  <a:pt x="0" y="3960114"/>
                  <a:pt x="0" y="388874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FE944856-4C00-4F2E-AFE7-DFA380FD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0730" y="2433828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0B360DAE-F687-4C0A-ACBF-3F237DB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353" y="2525716"/>
            <a:ext cx="356895" cy="109814"/>
          </a:xfrm>
          <a:custGeom xmlns:a="http://schemas.openxmlformats.org/drawingml/2006/main">
            <a:rect l="l" t="t" r="r" b="b"/>
            <a:pathLst>
              <a:path w="475860" h="146418">
                <a:moveTo>
                  <a:pt x="0" y="0"/>
                </a:moveTo>
                <a:lnTo>
                  <a:pt x="475860" y="0"/>
                </a:lnTo>
                <a:lnTo>
                  <a:pt x="475860" y="146418"/>
                </a:lnTo>
                <a:lnTo>
                  <a:pt x="0" y="1464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3325" r="0" b="-13325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E32D5E04-5BAD-4203-A967-66D4DF4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6353" y="2518573"/>
            <a:ext cx="356892" cy="1169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224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7F2F2F35-29C2-4C49-9D48-67EB3848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15" y="2923794"/>
            <a:ext cx="2457084" cy="603971"/>
          </a:xfrm>
          <a:custGeom xmlns:a="http://schemas.openxmlformats.org/drawingml/2006/main">
            <a:rect l="l" t="t" r="r" b="b"/>
            <a:pathLst>
              <a:path w="3276112" h="805295">
                <a:moveTo>
                  <a:pt x="0" y="0"/>
                </a:moveTo>
                <a:lnTo>
                  <a:pt x="3276112" y="0"/>
                </a:lnTo>
                <a:lnTo>
                  <a:pt x="3276112" y="805295"/>
                </a:lnTo>
                <a:lnTo>
                  <a:pt x="0" y="805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29268" r="0" b="-29270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3EDD0AE1-73AF-405F-AE2F-68F22543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15" y="2909507"/>
            <a:ext cx="2457088" cy="618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95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Cancel &amp; Refund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B2D0868F-DE71-4B6E-9735-D20BBDD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1441" y="3568951"/>
            <a:ext cx="2429629" cy="1592296"/>
          </a:xfrm>
          <a:custGeom xmlns:a="http://schemas.openxmlformats.org/drawingml/2006/main">
            <a:rect l="l" t="t" r="r" b="b"/>
            <a:pathLst>
              <a:path w="3239507" h="2123062">
                <a:moveTo>
                  <a:pt x="0" y="0"/>
                </a:moveTo>
                <a:lnTo>
                  <a:pt x="3239507" y="0"/>
                </a:lnTo>
                <a:lnTo>
                  <a:pt x="3239507" y="2123062"/>
                </a:lnTo>
                <a:lnTo>
                  <a:pt x="0" y="21230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-34086" t="0" r="-34086" b="0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561C7E29-F91B-4B00-BF02-34CBA113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1441" y="3554664"/>
            <a:ext cx="2429627" cy="1606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Giải phóng slot và tự tạo Refund Request.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D2F2C8EF-5C13-47AA-9F6A-8949BED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7111" y="2281876"/>
            <a:ext cx="2834830" cy="3013329"/>
          </a:xfrm>
          <a:custGeom xmlns:a="http://schemas.openxmlformats.org/drawingml/2006/main">
            <a:rect l="l" t="t" r="r" b="b"/>
            <a:pathLst>
              <a:path w="3779774" h="4017772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888740"/>
                </a:lnTo>
                <a:cubicBezTo>
                  <a:pt x="3779774" y="3959987"/>
                  <a:pt x="3721989" y="4017772"/>
                  <a:pt x="3650742" y="4017772"/>
                </a:cubicBezTo>
                <a:lnTo>
                  <a:pt x="129032" y="4017772"/>
                </a:lnTo>
                <a:cubicBezTo>
                  <a:pt x="57785" y="4017899"/>
                  <a:pt x="0" y="3960114"/>
                  <a:pt x="0" y="388874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5F842F0A-4B02-4E93-94F4-E4CFB76B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9053" y="2433828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20622A6A-94C2-425F-A83A-2B345209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4676" y="2525716"/>
            <a:ext cx="356895" cy="109814"/>
          </a:xfrm>
          <a:custGeom xmlns:a="http://schemas.openxmlformats.org/drawingml/2006/main">
            <a:rect l="l" t="t" r="r" b="b"/>
            <a:pathLst>
              <a:path w="475860" h="146418">
                <a:moveTo>
                  <a:pt x="0" y="0"/>
                </a:moveTo>
                <a:lnTo>
                  <a:pt x="475860" y="0"/>
                </a:lnTo>
                <a:lnTo>
                  <a:pt x="475860" y="146418"/>
                </a:lnTo>
                <a:lnTo>
                  <a:pt x="0" y="1464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3325" r="0" b="-13325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92C27BAD-B4A2-4903-B119-6DD17148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4676" y="2518573"/>
            <a:ext cx="356892" cy="1169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224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6B8E8A0D-1427-4BF0-9C63-4C25E068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6039" y="2923794"/>
            <a:ext cx="2457084" cy="603971"/>
          </a:xfrm>
          <a:custGeom xmlns:a="http://schemas.openxmlformats.org/drawingml/2006/main">
            <a:rect l="l" t="t" r="r" b="b"/>
            <a:pathLst>
              <a:path w="3276112" h="805295">
                <a:moveTo>
                  <a:pt x="0" y="0"/>
                </a:moveTo>
                <a:lnTo>
                  <a:pt x="3276112" y="0"/>
                </a:lnTo>
                <a:lnTo>
                  <a:pt x="3276112" y="805295"/>
                </a:lnTo>
                <a:lnTo>
                  <a:pt x="0" y="80529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29268" r="0" b="-2927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AFF7A0C-195D-414A-BB62-FEE0F6BA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6039" y="2909507"/>
            <a:ext cx="2457088" cy="618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95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Check-in &amp; Settlement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AA30AFF5-962F-4E91-AEF7-B605D313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9764" y="3568951"/>
            <a:ext cx="2429629" cy="1592296"/>
          </a:xfrm>
          <a:custGeom xmlns:a="http://schemas.openxmlformats.org/drawingml/2006/main">
            <a:rect l="l" t="t" r="r" b="b"/>
            <a:pathLst>
              <a:path w="3239507" h="2123062">
                <a:moveTo>
                  <a:pt x="0" y="0"/>
                </a:moveTo>
                <a:lnTo>
                  <a:pt x="3239507" y="0"/>
                </a:lnTo>
                <a:lnTo>
                  <a:pt x="3239507" y="2123062"/>
                </a:lnTo>
                <a:lnTo>
                  <a:pt x="0" y="21230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-34086" t="0" r="-34086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6C945298-43A0-487D-8E77-35611B16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9764" y="3554664"/>
            <a:ext cx="2429627" cy="16065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 check-in; Admin duyệt → Refunded.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0AF783D3-D243-4FD1-BD40-24B1158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5823375"/>
            <a:ext cx="5058361" cy="2771514"/>
          </a:xfrm>
          <a:custGeom xmlns:a="http://schemas.openxmlformats.org/drawingml/2006/main">
            <a:rect l="l" t="t" r="r" b="b"/>
            <a:pathLst>
              <a:path w="6708267" h="3675510">
                <a:moveTo>
                  <a:pt x="0" y="149619"/>
                </a:moveTo>
                <a:cubicBezTo>
                  <a:pt x="0" y="67020"/>
                  <a:pt x="57912" y="0"/>
                  <a:pt x="129286" y="0"/>
                </a:cubicBezTo>
                <a:lnTo>
                  <a:pt x="6578981" y="0"/>
                </a:lnTo>
                <a:cubicBezTo>
                  <a:pt x="6650355" y="0"/>
                  <a:pt x="6708267" y="67020"/>
                  <a:pt x="6708267" y="149619"/>
                </a:cubicBezTo>
                <a:lnTo>
                  <a:pt x="6708267" y="3525900"/>
                </a:lnTo>
                <a:cubicBezTo>
                  <a:pt x="6708267" y="3608500"/>
                  <a:pt x="6650355" y="3675510"/>
                  <a:pt x="6578981" y="3675510"/>
                </a:cubicBezTo>
                <a:lnTo>
                  <a:pt x="129286" y="3675510"/>
                </a:lnTo>
                <a:cubicBezTo>
                  <a:pt x="57912" y="3675510"/>
                  <a:pt x="0" y="3608500"/>
                  <a:pt x="0" y="352590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8001DCDA-60C4-4D54-B3C1-D0BA0810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1242" y="6013324"/>
            <a:ext cx="4595676" cy="331220"/>
          </a:xfrm>
          <a:custGeom xmlns:a="http://schemas.openxmlformats.org/drawingml/2006/main">
            <a:rect l="l" t="t" r="r" b="b"/>
            <a:pathLst>
              <a:path w="6094666" h="439255">
                <a:moveTo>
                  <a:pt x="0" y="0"/>
                </a:moveTo>
                <a:lnTo>
                  <a:pt x="6094666" y="0"/>
                </a:lnTo>
                <a:lnTo>
                  <a:pt x="6094666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220354" r="0" b="-220354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FDEA00D4-EC24-4FFF-8A69-249B06F6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1242" y="5998960"/>
            <a:ext cx="4595676" cy="345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63D12CAB-968E-48FB-9461-3F6A2329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6088" y="6439793"/>
            <a:ext cx="4539194" cy="1960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7305" indent="-173652" algn="l">
              <a:lnSpc>
                <a:spcPts val="193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8">
                <a:solidFill>
                  <a:srgbClr val="EEF4F7"/>
                </a:solidFill>
                <a:latin typeface="Arial"/>
                <a:ea typeface="Arial"/>
                <a:cs typeface="Arial"/>
              </a:rPr>
              <a:t>Slot cập nhật realtime</a:t>
            </a:r>
          </a:p>
          <a:p xmlns:a="http://schemas.openxmlformats.org/drawingml/2006/main">
            <a:pPr marL="347305" indent="-173652" algn="l">
              <a:lnSpc>
                <a:spcPts val="193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8">
                <a:solidFill>
                  <a:srgbClr val="EEF4F7"/>
                </a:solidFill>
                <a:latin typeface="Arial"/>
                <a:ea typeface="Arial"/>
                <a:cs typeface="Arial"/>
              </a:rPr>
              <a:t>Webhook/IPN xác thực payment</a:t>
            </a:r>
          </a:p>
          <a:p xmlns:a="http://schemas.openxmlformats.org/drawingml/2006/main">
            <a:pPr marL="347305" indent="-173652" algn="l">
              <a:lnSpc>
                <a:spcPts val="193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8">
                <a:solidFill>
                  <a:srgbClr val="EEF4F7"/>
                </a:solidFill>
                <a:latin typeface="Arial"/>
                <a:ea typeface="Arial"/>
                <a:cs typeface="Arial"/>
              </a:rPr>
              <a:t>Email gửi sau Confirmed</a:t>
            </a:r>
          </a:p>
          <a:p xmlns:a="http://schemas.openxmlformats.org/drawingml/2006/main">
            <a:pPr marL="347305" indent="-173652" algn="l">
              <a:lnSpc>
                <a:spcPts val="1930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8">
                <a:solidFill>
                  <a:srgbClr val="EEF4F7"/>
                </a:solidFill>
                <a:latin typeface="Arial"/>
                <a:ea typeface="Arial"/>
                <a:cs typeface="Arial"/>
              </a:rPr>
              <a:t>Hủy booking trả slot về trạng thái trống</a:t>
            </a:r>
          </a:p>
        </p:txBody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1E1D3347-55F3-4AE7-95F6-1FD0ABE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8814" y="5823375"/>
            <a:ext cx="4368380" cy="2771514"/>
          </a:xfrm>
          <a:custGeom xmlns:a="http://schemas.openxmlformats.org/drawingml/2006/main">
            <a:rect l="l" t="t" r="r" b="b"/>
            <a:pathLst>
              <a:path w="5793232" h="3675510">
                <a:moveTo>
                  <a:pt x="0" y="149619"/>
                </a:moveTo>
                <a:cubicBezTo>
                  <a:pt x="0" y="67020"/>
                  <a:pt x="57912" y="0"/>
                  <a:pt x="129286" y="0"/>
                </a:cubicBezTo>
                <a:lnTo>
                  <a:pt x="5663946" y="0"/>
                </a:lnTo>
                <a:cubicBezTo>
                  <a:pt x="5735320" y="0"/>
                  <a:pt x="5793232" y="67020"/>
                  <a:pt x="5793232" y="149619"/>
                </a:cubicBezTo>
                <a:lnTo>
                  <a:pt x="5793232" y="3525900"/>
                </a:lnTo>
                <a:cubicBezTo>
                  <a:pt x="5793232" y="3608500"/>
                  <a:pt x="5735320" y="3675510"/>
                  <a:pt x="5663946" y="3675510"/>
                </a:cubicBezTo>
                <a:lnTo>
                  <a:pt x="129286" y="3675510"/>
                </a:lnTo>
                <a:cubicBezTo>
                  <a:pt x="57912" y="3675510"/>
                  <a:pt x="0" y="3608500"/>
                  <a:pt x="0" y="352590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DC941E5D-C5F4-4DF6-BD69-54C8350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0171" y="6013324"/>
            <a:ext cx="3905634" cy="331220"/>
          </a:xfrm>
          <a:custGeom xmlns:a="http://schemas.openxmlformats.org/drawingml/2006/main">
            <a:rect l="l" t="t" r="r" b="b"/>
            <a:pathLst>
              <a:path w="5179551" h="439255">
                <a:moveTo>
                  <a:pt x="0" y="0"/>
                </a:moveTo>
                <a:lnTo>
                  <a:pt x="5179551" y="0"/>
                </a:lnTo>
                <a:lnTo>
                  <a:pt x="5179551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79761" r="0" b="-179761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3B621734-1EF2-4C9A-9BB2-2FDD89E1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0171" y="5998960"/>
            <a:ext cx="3905638" cy="345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Business Status</a:t>
            </a:r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C56C1489-004B-4F0D-A08E-AD4B32C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8407" y="6416473"/>
            <a:ext cx="3849156" cy="171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7423" indent="-173712" algn="l">
              <a:lnSpc>
                <a:spcPts val="1931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9">
                <a:solidFill>
                  <a:srgbClr val="EEF4F7"/>
                </a:solidFill>
                <a:latin typeface="Arial"/>
                <a:ea typeface="Arial"/>
                <a:cs typeface="Arial"/>
              </a:rPr>
              <a:t>Draft → PendingPayment → Confirmed</a:t>
            </a:r>
          </a:p>
          <a:p xmlns:a="http://schemas.openxmlformats.org/drawingml/2006/main">
            <a:pPr marL="347423" indent="-173712" algn="l">
              <a:lnSpc>
                <a:spcPts val="1931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9">
                <a:solidFill>
                  <a:srgbClr val="EEF4F7"/>
                </a:solidFill>
                <a:latin typeface="Arial"/>
                <a:ea typeface="Arial"/>
                <a:cs typeface="Arial"/>
              </a:rPr>
              <a:t>Cancellation → Refund Request → Refunded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DF9E8912-AFCC-4C66-9437-588DA5E9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6305" y="5823375"/>
            <a:ext cx="4644372" cy="2771514"/>
          </a:xfrm>
          <a:custGeom xmlns:a="http://schemas.openxmlformats.org/drawingml/2006/main">
            <a:rect l="l" t="t" r="r" b="b"/>
            <a:pathLst>
              <a:path w="6159246" h="3675510">
                <a:moveTo>
                  <a:pt x="0" y="149619"/>
                </a:moveTo>
                <a:cubicBezTo>
                  <a:pt x="0" y="67020"/>
                  <a:pt x="57912" y="0"/>
                  <a:pt x="129286" y="0"/>
                </a:cubicBezTo>
                <a:lnTo>
                  <a:pt x="6029960" y="0"/>
                </a:lnTo>
                <a:cubicBezTo>
                  <a:pt x="6101334" y="0"/>
                  <a:pt x="6159246" y="67020"/>
                  <a:pt x="6159246" y="149619"/>
                </a:cubicBezTo>
                <a:lnTo>
                  <a:pt x="6159246" y="3525900"/>
                </a:lnTo>
                <a:cubicBezTo>
                  <a:pt x="6159246" y="3608500"/>
                  <a:pt x="6101334" y="3675510"/>
                  <a:pt x="6029960" y="3675510"/>
                </a:cubicBezTo>
                <a:lnTo>
                  <a:pt x="129286" y="3675510"/>
                </a:lnTo>
                <a:cubicBezTo>
                  <a:pt x="57912" y="3675510"/>
                  <a:pt x="0" y="3608500"/>
                  <a:pt x="0" y="352590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71E3349B-F3BA-4163-901F-1D6EAA0F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7662" y="6013324"/>
            <a:ext cx="4181649" cy="379901"/>
          </a:xfrm>
          <a:custGeom xmlns:a="http://schemas.openxmlformats.org/drawingml/2006/main">
            <a:rect l="l" t="t" r="r" b="b"/>
            <a:pathLst>
              <a:path w="5545596" h="503815">
                <a:moveTo>
                  <a:pt x="0" y="0"/>
                </a:moveTo>
                <a:lnTo>
                  <a:pt x="5545596" y="0"/>
                </a:lnTo>
                <a:lnTo>
                  <a:pt x="5545596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170882" r="0" b="-158068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F47843EA-CF07-4332-9484-E6C5BF1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7662" y="5991778"/>
            <a:ext cx="4181649" cy="4014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User Roles</a:t>
            </a:r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1AF0D8B1-DDFA-4C09-A16F-71EDEFA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03456" y="6659925"/>
            <a:ext cx="4125168" cy="1226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7423" indent="-173712" algn="l">
              <a:lnSpc>
                <a:spcPts val="1931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9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 đặt, trả tiền và yêu cầu hoàn.</a:t>
            </a:r>
          </a:p>
          <a:p xmlns:a="http://schemas.openxmlformats.org/drawingml/2006/main">
            <a:pPr marL="347423" indent="-173712" algn="l">
              <a:lnSpc>
                <a:spcPts val="1931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09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 check-in. Admin duyệt hoàn tiền.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5B545914-05DB-4FA4-BF95-2683F67B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14837"/>
            <a:ext cx="15236663" cy="414483"/>
          </a:xfrm>
          <a:custGeom xmlns:a="http://schemas.openxmlformats.org/drawingml/2006/main">
            <a:rect l="l" t="t" r="r" b="b"/>
            <a:pathLst>
              <a:path w="20315552" h="552645">
                <a:moveTo>
                  <a:pt x="0" y="0"/>
                </a:moveTo>
                <a:lnTo>
                  <a:pt x="20315552" y="0"/>
                </a:lnTo>
                <a:lnTo>
                  <a:pt x="20315552" y="552645"/>
                </a:lnTo>
                <a:lnTo>
                  <a:pt x="0" y="55264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be1010baf479a">
              <a:alphaModFix amt="0"/>
            </a:blip>
            <a:stretch>
              <a:fillRect l="0" t="-679852" r="0" b="-652711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EA1799DD-36D0-4C57-A443-F256A0AC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07694"/>
            <a:ext cx="15236666" cy="4216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Check Slot → Create Booking → Pay Online → Confirm Booking → Check-in / Refund</a:t>
            </a:r>
          </a:p>
        </p:txBody>
      </p:sp>
    </p:spTree>
    <p:extLst>
      <p:ext uri="{BB962C8B-B14F-4D97-AF65-F5344CB8AC3E}">
        <p14:creationId xmlns:p14="http://schemas.microsoft.com/office/powerpoint/2010/main" val="650305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1D3EF4C-AC7D-4D66-9F78-FC81D7E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4FFBD65-0699-4432-B2F9-73B1E2D0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E62BC69-43EF-4E8E-9ED4-4A1FDA07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309BDFA-6370-4674-9E4C-6BAC6EAF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5045"/>
          </a:xfrm>
          <a:custGeom xmlns:a="http://schemas.openxmlformats.org/drawingml/2006/main">
            <a:rect l="l" t="t" r="r" b="b"/>
            <a:pathLst>
              <a:path w="18119275" h="980060">
                <a:moveTo>
                  <a:pt x="0" y="0"/>
                </a:moveTo>
                <a:lnTo>
                  <a:pt x="18119275" y="0"/>
                </a:lnTo>
                <a:lnTo>
                  <a:pt x="18119275" y="980060"/>
                </a:lnTo>
                <a:lnTo>
                  <a:pt x="0" y="9800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315418" r="0" b="-305057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481D5B0-D317-48D6-9299-54EAAE0A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5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Player Matching Flow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A3B75ED-C2BC-448B-B80F-1085D170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237469-3ABC-4400-9648-EA415E07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Matching minh bạch bằng thang 100 và quy tắc chống spam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E232BC3E-A19D-4F52-8665-0CE59AD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BC9DAFBB-966D-4406-9D28-BF94FF0A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4454" y="3095544"/>
            <a:ext cx="743183" cy="55953"/>
          </a:xfrm>
          <a:custGeom xmlns:a="http://schemas.openxmlformats.org/drawingml/2006/main">
            <a:rect l="l" t="t" r="r" b="b"/>
            <a:pathLst>
              <a:path w="885571" h="66674">
                <a:moveTo>
                  <a:pt x="0" y="0"/>
                </a:moveTo>
                <a:lnTo>
                  <a:pt x="885571" y="66674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239749" r="-5" b="-177882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94BF7B58-741F-400A-8C54-6E04725C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8385" y="3095544"/>
            <a:ext cx="743183" cy="55953"/>
          </a:xfrm>
          <a:custGeom xmlns:a="http://schemas.openxmlformats.org/drawingml/2006/main">
            <a:rect l="l" t="t" r="r" b="b"/>
            <a:pathLst>
              <a:path w="885571" h="66674">
                <a:moveTo>
                  <a:pt x="0" y="0"/>
                </a:moveTo>
                <a:lnTo>
                  <a:pt x="885571" y="66674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239749" r="-5" b="-177882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07733F1-84D3-470E-A743-DD4C64CB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2317" y="3095544"/>
            <a:ext cx="743183" cy="55953"/>
          </a:xfrm>
          <a:custGeom xmlns:a="http://schemas.openxmlformats.org/drawingml/2006/main">
            <a:rect l="l" t="t" r="r" b="b"/>
            <a:pathLst>
              <a:path w="885571" h="66674">
                <a:moveTo>
                  <a:pt x="0" y="0"/>
                </a:moveTo>
                <a:lnTo>
                  <a:pt x="885571" y="66674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239749" r="-5" b="-177882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79AF23F0-86C9-4660-B92B-90041635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6248" y="3095544"/>
            <a:ext cx="743183" cy="55953"/>
          </a:xfrm>
          <a:custGeom xmlns:a="http://schemas.openxmlformats.org/drawingml/2006/main">
            <a:rect l="l" t="t" r="r" b="b"/>
            <a:pathLst>
              <a:path w="885571" h="66674">
                <a:moveTo>
                  <a:pt x="0" y="0"/>
                </a:moveTo>
                <a:lnTo>
                  <a:pt x="885571" y="66674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239749" r="-5" b="-177882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45F2E401-DC6E-4DBF-8493-CB700DD9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0180" y="3095544"/>
            <a:ext cx="743183" cy="55953"/>
          </a:xfrm>
          <a:custGeom xmlns:a="http://schemas.openxmlformats.org/drawingml/2006/main">
            <a:rect l="l" t="t" r="r" b="b"/>
            <a:pathLst>
              <a:path w="885571" h="66674">
                <a:moveTo>
                  <a:pt x="0" y="0"/>
                </a:moveTo>
                <a:lnTo>
                  <a:pt x="885571" y="66674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239749" r="-5" b="-177882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BEDBBF8-C58C-4852-8247-04ADAACB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04112" y="3095544"/>
            <a:ext cx="743183" cy="55953"/>
          </a:xfrm>
          <a:custGeom xmlns:a="http://schemas.openxmlformats.org/drawingml/2006/main">
            <a:rect l="l" t="t" r="r" b="b"/>
            <a:pathLst>
              <a:path w="885571" h="66674">
                <a:moveTo>
                  <a:pt x="0" y="0"/>
                </a:moveTo>
                <a:lnTo>
                  <a:pt x="885571" y="66674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239749" r="-5" b="-177882"/>
            </a:stretch>
          </a:blip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55E69188-028C-49C1-B997-D9B046D6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14EB67BB-3EE8-4E36-BFD8-9817C1D8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1657" y="2148145"/>
            <a:ext cx="491547" cy="412552"/>
          </a:xfrm>
          <a:custGeom xmlns:a="http://schemas.openxmlformats.org/drawingml/2006/main">
            <a:rect l="l" t="t" r="r" b="b"/>
            <a:pathLst>
              <a:path w="585724" h="491594">
                <a:moveTo>
                  <a:pt x="0" y="0"/>
                </a:moveTo>
                <a:lnTo>
                  <a:pt x="585724" y="0"/>
                </a:lnTo>
                <a:lnTo>
                  <a:pt x="585724" y="491594"/>
                </a:lnTo>
                <a:lnTo>
                  <a:pt x="0" y="491594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2CA94B8-BA00-4776-8722-BC3F3FCC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1657" y="2148145"/>
            <a:ext cx="491505" cy="4126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26D48C0-8D91-4F59-9247-5665E29B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9484" y="2647971"/>
            <a:ext cx="1468134" cy="1520924"/>
          </a:xfrm>
          <a:custGeom xmlns:a="http://schemas.openxmlformats.org/drawingml/2006/main">
            <a:rect l="l" t="t" r="r" b="b"/>
            <a:pathLst>
              <a:path w="1749417" h="1812321">
                <a:moveTo>
                  <a:pt x="0" y="0"/>
                </a:moveTo>
                <a:lnTo>
                  <a:pt x="1749417" y="0"/>
                </a:lnTo>
                <a:lnTo>
                  <a:pt x="1749417" y="1812321"/>
                </a:lnTo>
                <a:lnTo>
                  <a:pt x="0" y="18123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8690" t="0" r="-22386" b="39406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CC43CE6-846A-4A35-9DA8-A6B7223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9484" y="2639978"/>
            <a:ext cx="1468134" cy="1528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Hoàn thiện hồ sơ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FE2E316C-0732-4C54-97AF-07B769E4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2044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E2BB14E9-3048-471B-BF39-1BF1F54D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578" y="2164934"/>
            <a:ext cx="491547" cy="455027"/>
          </a:xfrm>
          <a:custGeom xmlns:a="http://schemas.openxmlformats.org/drawingml/2006/main">
            <a:rect l="l" t="t" r="r" b="b"/>
            <a:pathLst>
              <a:path w="585724" h="542207">
                <a:moveTo>
                  <a:pt x="0" y="0"/>
                </a:moveTo>
                <a:lnTo>
                  <a:pt x="585724" y="0"/>
                </a:lnTo>
                <a:lnTo>
                  <a:pt x="585724" y="542207"/>
                </a:lnTo>
                <a:lnTo>
                  <a:pt x="0" y="542207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320B7143-90FB-4C65-BD80-6C0231E6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5578" y="2164934"/>
            <a:ext cx="491505" cy="45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E3F9B20-CAB3-43B3-9709-6ED890D7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38" y="2695781"/>
            <a:ext cx="1525289" cy="1520924"/>
          </a:xfrm>
          <a:custGeom xmlns:a="http://schemas.openxmlformats.org/drawingml/2006/main">
            <a:rect l="l" t="t" r="r" b="b"/>
            <a:pathLst>
              <a:path w="1817523" h="1812321">
                <a:moveTo>
                  <a:pt x="0" y="0"/>
                </a:moveTo>
                <a:lnTo>
                  <a:pt x="1817523" y="0"/>
                </a:lnTo>
                <a:lnTo>
                  <a:pt x="1817523" y="1812321"/>
                </a:lnTo>
                <a:lnTo>
                  <a:pt x="0" y="181232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7241" t="0" r="-17800" b="39406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4FBB9730-2A7A-4C4B-815E-1E3DC12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38" y="2687788"/>
            <a:ext cx="1525289" cy="1528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Tìm người chơi rảnh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1DFAF32F-928B-4E58-BDAB-4752F53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5965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C5C5628-D2E8-40B4-841C-F3647AF9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9510" y="2164934"/>
            <a:ext cx="491547" cy="455027"/>
          </a:xfrm>
          <a:custGeom xmlns:a="http://schemas.openxmlformats.org/drawingml/2006/main">
            <a:rect l="l" t="t" r="r" b="b"/>
            <a:pathLst>
              <a:path w="585724" h="542207">
                <a:moveTo>
                  <a:pt x="0" y="0"/>
                </a:moveTo>
                <a:lnTo>
                  <a:pt x="585724" y="0"/>
                </a:lnTo>
                <a:lnTo>
                  <a:pt x="585724" y="542207"/>
                </a:lnTo>
                <a:lnTo>
                  <a:pt x="0" y="542207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54C3E73C-4A2E-4F43-96D7-13FF64C3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9510" y="2164934"/>
            <a:ext cx="491505" cy="45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80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853243F-1B0E-45CA-9549-2489B346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160" y="2647971"/>
            <a:ext cx="1608487" cy="1695591"/>
          </a:xfrm>
          <a:custGeom xmlns:a="http://schemas.openxmlformats.org/drawingml/2006/main">
            <a:rect l="l" t="t" r="r" b="b"/>
            <a:pathLst>
              <a:path w="1916661" h="2020454">
                <a:moveTo>
                  <a:pt x="0" y="0"/>
                </a:moveTo>
                <a:lnTo>
                  <a:pt x="1916661" y="0"/>
                </a:lnTo>
                <a:lnTo>
                  <a:pt x="1916661" y="2020454"/>
                </a:lnTo>
                <a:lnTo>
                  <a:pt x="0" y="20204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5314" t="0" r="-11707" b="45648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C6CC8677-1200-49F8-8349-07678FB7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7160" y="2639978"/>
            <a:ext cx="1608487" cy="17035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Tính Matching Score / 100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FCA19BFE-18D2-4D74-92D7-E07A183A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896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B2DD0ED6-9123-46A4-879D-365ABB3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441" y="2164934"/>
            <a:ext cx="491547" cy="455027"/>
          </a:xfrm>
          <a:custGeom xmlns:a="http://schemas.openxmlformats.org/drawingml/2006/main">
            <a:rect l="l" t="t" r="r" b="b"/>
            <a:pathLst>
              <a:path w="585724" h="542207">
                <a:moveTo>
                  <a:pt x="0" y="0"/>
                </a:moveTo>
                <a:lnTo>
                  <a:pt x="585724" y="0"/>
                </a:lnTo>
                <a:lnTo>
                  <a:pt x="585724" y="542207"/>
                </a:lnTo>
                <a:lnTo>
                  <a:pt x="0" y="542207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7233A2D8-9244-4142-B24F-DCF5FFCA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441" y="2164934"/>
            <a:ext cx="491505" cy="45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9E3A133A-4491-4123-BDFC-8FEC06F8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3546" y="2676954"/>
            <a:ext cx="1665553" cy="1406711"/>
          </a:xfrm>
          <a:custGeom xmlns:a="http://schemas.openxmlformats.org/drawingml/2006/main">
            <a:rect l="l" t="t" r="r" b="b"/>
            <a:pathLst>
              <a:path w="1984660" h="1676226">
                <a:moveTo>
                  <a:pt x="0" y="0"/>
                </a:moveTo>
                <a:lnTo>
                  <a:pt x="1984660" y="0"/>
                </a:lnTo>
                <a:lnTo>
                  <a:pt x="1984660" y="1676226"/>
                </a:lnTo>
                <a:lnTo>
                  <a:pt x="0" y="167622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4104" t="0" r="-7879" b="34487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0997F72E-0275-4C8E-9C7F-8995349F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3546" y="2668961"/>
            <a:ext cx="1665553" cy="1414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Xếp hạng &amp; gợi ý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9092E12-AC5E-4FDB-BFD2-7A4F416D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3828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CC8E4A2F-74EE-4CD0-8BFB-6922A172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7373" y="2164934"/>
            <a:ext cx="491547" cy="455027"/>
          </a:xfrm>
          <a:custGeom xmlns:a="http://schemas.openxmlformats.org/drawingml/2006/main">
            <a:rect l="l" t="t" r="r" b="b"/>
            <a:pathLst>
              <a:path w="585724" h="542207">
                <a:moveTo>
                  <a:pt x="0" y="0"/>
                </a:moveTo>
                <a:lnTo>
                  <a:pt x="585724" y="0"/>
                </a:lnTo>
                <a:lnTo>
                  <a:pt x="585724" y="542207"/>
                </a:lnTo>
                <a:lnTo>
                  <a:pt x="0" y="542207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2E6B8C7A-AD38-4D0E-9D11-53849113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7373" y="2164934"/>
            <a:ext cx="491505" cy="45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60EBAB96-1FFA-47AC-BE9C-ECC02478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8947" y="2817011"/>
            <a:ext cx="1664083" cy="1241169"/>
          </a:xfrm>
          <a:custGeom xmlns:a="http://schemas.openxmlformats.org/drawingml/2006/main">
            <a:rect l="l" t="t" r="r" b="b"/>
            <a:pathLst>
              <a:path w="1982909" h="1478968">
                <a:moveTo>
                  <a:pt x="0" y="0"/>
                </a:moveTo>
                <a:lnTo>
                  <a:pt x="1982909" y="0"/>
                </a:lnTo>
                <a:lnTo>
                  <a:pt x="1982909" y="1478968"/>
                </a:lnTo>
                <a:lnTo>
                  <a:pt x="0" y="147896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4135" t="0" r="-7975" b="25749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30948C21-5A0C-4403-8C98-6860442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8947" y="2809018"/>
            <a:ext cx="1664083" cy="12491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Gửi InviteToPlay + Email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79DA9BDB-B60B-486A-9A59-03E3B9F4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7759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D56CBF3-237D-4FDE-920A-2DAD70D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1304" y="2164934"/>
            <a:ext cx="491547" cy="455027"/>
          </a:xfrm>
          <a:custGeom xmlns:a="http://schemas.openxmlformats.org/drawingml/2006/main">
            <a:rect l="l" t="t" r="r" b="b"/>
            <a:pathLst>
              <a:path w="585724" h="542207">
                <a:moveTo>
                  <a:pt x="0" y="0"/>
                </a:moveTo>
                <a:lnTo>
                  <a:pt x="585724" y="0"/>
                </a:lnTo>
                <a:lnTo>
                  <a:pt x="585724" y="542207"/>
                </a:lnTo>
                <a:lnTo>
                  <a:pt x="0" y="542207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A2913C3A-7FB8-4B65-8AFF-30B0CFB0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71304" y="2164934"/>
            <a:ext cx="491505" cy="45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0CD9ECD0-75DE-4F8F-9837-A6D4098B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6420" y="2730530"/>
            <a:ext cx="1672216" cy="1414131"/>
          </a:xfrm>
          <a:custGeom xmlns:a="http://schemas.openxmlformats.org/drawingml/2006/main">
            <a:rect l="l" t="t" r="r" b="b"/>
            <a:pathLst>
              <a:path w="1992600" h="1685067">
                <a:moveTo>
                  <a:pt x="0" y="0"/>
                </a:moveTo>
                <a:lnTo>
                  <a:pt x="1992600" y="0"/>
                </a:lnTo>
                <a:lnTo>
                  <a:pt x="1992600" y="1685067"/>
                </a:lnTo>
                <a:lnTo>
                  <a:pt x="0" y="168506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3968" t="0" r="-7449" b="34830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70E341FD-7CE7-4661-898A-6B442949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6420" y="2722537"/>
            <a:ext cx="1672216" cy="1422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Đối phương chấp nhận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537E833C-C5CC-4644-A1BE-343F9E01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41691" y="1985077"/>
            <a:ext cx="1710929" cy="2304256"/>
          </a:xfrm>
          <a:custGeom xmlns:a="http://schemas.openxmlformats.org/drawingml/2006/main">
            <a:rect l="l" t="t" r="r" b="b"/>
            <a:pathLst>
              <a:path w="2038731" h="2745734">
                <a:moveTo>
                  <a:pt x="0" y="199778"/>
                </a:moveTo>
                <a:cubicBezTo>
                  <a:pt x="0" y="89456"/>
                  <a:pt x="66421" y="0"/>
                  <a:pt x="148336" y="0"/>
                </a:cubicBezTo>
                <a:lnTo>
                  <a:pt x="1890395" y="0"/>
                </a:lnTo>
                <a:cubicBezTo>
                  <a:pt x="1972310" y="0"/>
                  <a:pt x="2038731" y="89456"/>
                  <a:pt x="2038731" y="199778"/>
                </a:cubicBezTo>
                <a:lnTo>
                  <a:pt x="2038731" y="2545977"/>
                </a:lnTo>
                <a:cubicBezTo>
                  <a:pt x="2038731" y="2656300"/>
                  <a:pt x="1972310" y="2745734"/>
                  <a:pt x="1890395" y="2745734"/>
                </a:cubicBezTo>
                <a:lnTo>
                  <a:pt x="148336" y="2745734"/>
                </a:lnTo>
                <a:cubicBezTo>
                  <a:pt x="66421" y="2745733"/>
                  <a:pt x="0" y="2656300"/>
                  <a:pt x="0" y="2545977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C03148ED-924A-4CE4-AECD-2ED86E4E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5236" y="2164934"/>
            <a:ext cx="491547" cy="455027"/>
          </a:xfrm>
          <a:custGeom xmlns:a="http://schemas.openxmlformats.org/drawingml/2006/main">
            <a:rect l="l" t="t" r="r" b="b"/>
            <a:pathLst>
              <a:path w="585724" h="542207">
                <a:moveTo>
                  <a:pt x="0" y="0"/>
                </a:moveTo>
                <a:lnTo>
                  <a:pt x="585724" y="0"/>
                </a:lnTo>
                <a:lnTo>
                  <a:pt x="585724" y="542207"/>
                </a:lnTo>
                <a:lnTo>
                  <a:pt x="0" y="542207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93B50283-8DA0-4231-AD67-1D1ED5DB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75236" y="2164934"/>
            <a:ext cx="491505" cy="4550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9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6B9FA457-3472-4A76-AB18-3E8B65AF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5553" y="2842496"/>
            <a:ext cx="1603154" cy="1241169"/>
          </a:xfrm>
          <a:custGeom xmlns:a="http://schemas.openxmlformats.org/drawingml/2006/main">
            <a:rect l="l" t="t" r="r" b="b"/>
            <a:pathLst>
              <a:path w="1910306" h="1478968">
                <a:moveTo>
                  <a:pt x="0" y="0"/>
                </a:moveTo>
                <a:lnTo>
                  <a:pt x="1910306" y="0"/>
                </a:lnTo>
                <a:lnTo>
                  <a:pt x="1910306" y="1478968"/>
                </a:lnTo>
                <a:lnTo>
                  <a:pt x="0" y="147896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35432" t="0" r="-12078" b="25749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352FC9C5-A7A4-4C1F-A860-9314D3A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95553" y="2834503"/>
            <a:ext cx="1603154" cy="12491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Tự động tạo nhóm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F576095C-ED42-4AEC-88BC-8619B47E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2777" y="4878315"/>
            <a:ext cx="14824862" cy="542031"/>
          </a:xfrm>
          <a:custGeom xmlns:a="http://schemas.openxmlformats.org/drawingml/2006/main">
            <a:rect l="l" t="t" r="r" b="b"/>
            <a:pathLst>
              <a:path w="19766483" h="722709">
                <a:moveTo>
                  <a:pt x="0" y="0"/>
                </a:moveTo>
                <a:lnTo>
                  <a:pt x="19766483" y="0"/>
                </a:lnTo>
                <a:lnTo>
                  <a:pt x="19766483" y="722709"/>
                </a:lnTo>
                <a:lnTo>
                  <a:pt x="0" y="72270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497471" r="0" b="-468381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02F8B88B-65FD-4B53-A741-B54D0AD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2777" y="4878315"/>
            <a:ext cx="14824862" cy="542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61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Invite status: Pending → Accepted → Matched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241AE10D-5978-4E8F-A98B-C5F56769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350" y="6009388"/>
            <a:ext cx="4795932" cy="3719745"/>
          </a:xfrm>
          <a:custGeom xmlns:a="http://schemas.openxmlformats.org/drawingml/2006/main">
            <a:rect l="l" t="t" r="r" b="b"/>
            <a:pathLst>
              <a:path w="6394577" h="4959661">
                <a:moveTo>
                  <a:pt x="0" y="276738"/>
                </a:moveTo>
                <a:cubicBezTo>
                  <a:pt x="0" y="123896"/>
                  <a:pt x="98933" y="0"/>
                  <a:pt x="220980" y="0"/>
                </a:cubicBezTo>
                <a:lnTo>
                  <a:pt x="6173597" y="0"/>
                </a:lnTo>
                <a:cubicBezTo>
                  <a:pt x="6295644" y="0"/>
                  <a:pt x="6394577" y="123896"/>
                  <a:pt x="6394577" y="276738"/>
                </a:cubicBezTo>
                <a:lnTo>
                  <a:pt x="6394577" y="4682923"/>
                </a:lnTo>
                <a:cubicBezTo>
                  <a:pt x="6394577" y="4835765"/>
                  <a:pt x="6295644" y="4959661"/>
                  <a:pt x="6173597" y="4959661"/>
                </a:cubicBezTo>
                <a:lnTo>
                  <a:pt x="220980" y="4959661"/>
                </a:lnTo>
                <a:cubicBezTo>
                  <a:pt x="98933" y="4959661"/>
                  <a:pt x="0" y="4835765"/>
                  <a:pt x="0" y="4682923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2E7E9B70-DA4C-4AEB-B7EA-83B4F102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961" y="6228256"/>
            <a:ext cx="4282737" cy="474434"/>
          </a:xfrm>
          <a:custGeom xmlns:a="http://schemas.openxmlformats.org/drawingml/2006/main">
            <a:rect l="l" t="t" r="r" b="b"/>
            <a:pathLst>
              <a:path w="5710317" h="632579">
                <a:moveTo>
                  <a:pt x="0" y="0"/>
                </a:moveTo>
                <a:lnTo>
                  <a:pt x="5710317" y="0"/>
                </a:lnTo>
                <a:lnTo>
                  <a:pt x="5710317" y="632579"/>
                </a:lnTo>
                <a:lnTo>
                  <a:pt x="0" y="63257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139726" r="0" b="-112057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785CB8A0-14F8-4E68-9660-53D4972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961" y="6221113"/>
            <a:ext cx="4282735" cy="4815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Scoring Algorithm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36D526E5-CCFF-4073-A7D4-FFEB983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732" y="6731264"/>
            <a:ext cx="4282737" cy="2804868"/>
          </a:xfrm>
          <a:custGeom xmlns:a="http://schemas.openxmlformats.org/drawingml/2006/main">
            <a:rect l="l" t="t" r="r" b="b"/>
            <a:pathLst>
              <a:path w="5710317" h="3739824">
                <a:moveTo>
                  <a:pt x="0" y="0"/>
                </a:moveTo>
                <a:lnTo>
                  <a:pt x="5710317" y="0"/>
                </a:lnTo>
                <a:lnTo>
                  <a:pt x="5710317" y="3739824"/>
                </a:lnTo>
                <a:lnTo>
                  <a:pt x="0" y="37398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14563" t="0" r="-14563" b="23165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664D21D2-86EA-4405-8FCD-EF28D9C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732" y="6731264"/>
            <a:ext cx="4282735" cy="28048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Role 40% · Skill 25% · Experience 20% · Schedule 15%</a:t>
            </a:r>
          </a:p>
          <a:p xmlns:a="http://schemas.openxmlformats.org/drawingml/2006/main">
            <a:pPr algn="l">
              <a:lnSpc>
                <a:spcPts val="2160"/>
              </a:lnSpc>
              <a:buNone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Score = Role × 0.40 + Skill × 0.25 + Experience × 0.20 + Schedule × 0.15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22C4FD4A-32A2-4F89-9B02-38D5423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8142" y="6010026"/>
            <a:ext cx="4617434" cy="3719745"/>
          </a:xfrm>
          <a:custGeom xmlns:a="http://schemas.openxmlformats.org/drawingml/2006/main">
            <a:rect l="l" t="t" r="r" b="b"/>
            <a:pathLst>
              <a:path w="6156579" h="4959661">
                <a:moveTo>
                  <a:pt x="0" y="276738"/>
                </a:moveTo>
                <a:cubicBezTo>
                  <a:pt x="0" y="123896"/>
                  <a:pt x="98933" y="0"/>
                  <a:pt x="220980" y="0"/>
                </a:cubicBezTo>
                <a:lnTo>
                  <a:pt x="5935599" y="0"/>
                </a:lnTo>
                <a:cubicBezTo>
                  <a:pt x="6057646" y="0"/>
                  <a:pt x="6156579" y="123896"/>
                  <a:pt x="6156579" y="276738"/>
                </a:cubicBezTo>
                <a:lnTo>
                  <a:pt x="6156579" y="4682923"/>
                </a:lnTo>
                <a:cubicBezTo>
                  <a:pt x="6156579" y="4835765"/>
                  <a:pt x="6057646" y="4959661"/>
                  <a:pt x="5935599" y="4959661"/>
                </a:cubicBezTo>
                <a:lnTo>
                  <a:pt x="220980" y="4959661"/>
                </a:lnTo>
                <a:cubicBezTo>
                  <a:pt x="98933" y="4959661"/>
                  <a:pt x="0" y="4835765"/>
                  <a:pt x="0" y="468292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28AF5C5-4975-4C0D-8DC1-451251A0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4755" y="6228256"/>
            <a:ext cx="4360903" cy="474434"/>
          </a:xfrm>
          <a:custGeom xmlns:a="http://schemas.openxmlformats.org/drawingml/2006/main">
            <a:rect l="l" t="t" r="r" b="b"/>
            <a:pathLst>
              <a:path w="5814538" h="632579">
                <a:moveTo>
                  <a:pt x="0" y="0"/>
                </a:moveTo>
                <a:lnTo>
                  <a:pt x="5814538" y="0"/>
                </a:lnTo>
                <a:lnTo>
                  <a:pt x="5814538" y="632579"/>
                </a:lnTo>
                <a:lnTo>
                  <a:pt x="0" y="63257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132397" r="5884" b="-104729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C145061D-57A8-4F0C-B307-9F9C6120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4755" y="6221113"/>
            <a:ext cx="4360907" cy="4815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Flow 2: Find Opponent Team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2F6484E3-E7CF-4C1E-8648-60C2F02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403" y="6702689"/>
            <a:ext cx="4104290" cy="2791718"/>
          </a:xfrm>
          <a:custGeom xmlns:a="http://schemas.openxmlformats.org/drawingml/2006/main">
            <a:rect l="l" t="t" r="r" b="b"/>
            <a:pathLst>
              <a:path w="5472387" h="3722291">
                <a:moveTo>
                  <a:pt x="0" y="0"/>
                </a:moveTo>
                <a:lnTo>
                  <a:pt x="5472387" y="0"/>
                </a:lnTo>
                <a:lnTo>
                  <a:pt x="5472387" y="3722291"/>
                </a:lnTo>
                <a:lnTo>
                  <a:pt x="0" y="372229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17370" t="0" r="-17370" b="22803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2C17FF96-EE47-4914-9744-BB396083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403" y="6702689"/>
            <a:ext cx="4104294" cy="27917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Nhóm có ≥ 2 active members</a:t>
            </a:r>
          </a:p>
          <a:p xmlns:a="http://schemas.openxmlformats.org/drawingml/2006/main">
            <a:pPr algn="l">
              <a:lnSpc>
                <a:spcPts val="2160"/>
              </a:lnSpc>
              <a:buNone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Tính trung bình skill, experience, rating và shared free time</a:t>
            </a:r>
          </a:p>
          <a:p xmlns:a="http://schemas.openxmlformats.org/drawingml/2006/main">
            <a:pPr algn="l">
              <a:lnSpc>
                <a:spcPts val="2160"/>
              </a:lnSpc>
              <a:buNone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Chọn ngày/giờ → đối thủ chấp nhận → gửi email hai đội</a:t>
            </a:r>
          </a:p>
        </p:txBody>
      </p:sp>
      <p:sp>
        <p:nvSpPr>
          <p:cNvPr id="104" name="Freeform 104">
            <a:extLst xmlns:a="http://schemas.openxmlformats.org/drawingml/2006/main">
              <a:ext uri="{FF2B5EF4-FFF2-40B4-BE49-F238E27FC236}">
                <a16:creationId xmlns:a16="http://schemas.microsoft.com/office/drawing/2014/main" id="{3A798A31-A227-4B12-8762-DF7BCD2C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02495" y="6010026"/>
            <a:ext cx="4892040" cy="3719745"/>
          </a:xfrm>
          <a:custGeom xmlns:a="http://schemas.openxmlformats.org/drawingml/2006/main">
            <a:rect l="l" t="t" r="r" b="b"/>
            <a:pathLst>
              <a:path w="6522720" h="4959661">
                <a:moveTo>
                  <a:pt x="0" y="276738"/>
                </a:moveTo>
                <a:cubicBezTo>
                  <a:pt x="0" y="123896"/>
                  <a:pt x="98933" y="0"/>
                  <a:pt x="220980" y="0"/>
                </a:cubicBezTo>
                <a:lnTo>
                  <a:pt x="6301740" y="0"/>
                </a:lnTo>
                <a:cubicBezTo>
                  <a:pt x="6423787" y="0"/>
                  <a:pt x="6522720" y="123896"/>
                  <a:pt x="6522720" y="276738"/>
                </a:cubicBezTo>
                <a:lnTo>
                  <a:pt x="6522720" y="4682923"/>
                </a:lnTo>
                <a:cubicBezTo>
                  <a:pt x="6522720" y="4835765"/>
                  <a:pt x="6423787" y="4959661"/>
                  <a:pt x="6301740" y="4959661"/>
                </a:cubicBezTo>
                <a:lnTo>
                  <a:pt x="220980" y="4959661"/>
                </a:lnTo>
                <a:cubicBezTo>
                  <a:pt x="98933" y="4959661"/>
                  <a:pt x="0" y="4835765"/>
                  <a:pt x="0" y="468292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EC078DA9-9C67-4D17-8AA7-746161FD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117" y="6228256"/>
            <a:ext cx="4378824" cy="490999"/>
          </a:xfrm>
          <a:custGeom xmlns:a="http://schemas.openxmlformats.org/drawingml/2006/main">
            <a:rect l="l" t="t" r="r" b="b"/>
            <a:pathLst>
              <a:path w="5838433" h="654665">
                <a:moveTo>
                  <a:pt x="0" y="0"/>
                </a:moveTo>
                <a:lnTo>
                  <a:pt x="5838433" y="0"/>
                </a:lnTo>
                <a:lnTo>
                  <a:pt x="5838433" y="654665"/>
                </a:lnTo>
                <a:lnTo>
                  <a:pt x="0" y="65466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0" t="-138825" r="0" b="-108717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942C611E-7C4C-462F-ABEE-78B7BD40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117" y="6221113"/>
            <a:ext cx="4378823" cy="4981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0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Anti-Spam Rules</a:t>
            </a:r>
          </a:p>
        </p:txBody>
      </p:sp>
      <p:sp>
        <p:nvSpPr>
          <p:cNvPr id="109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96DDA2A9-D803-4C61-91D5-C0D75CBC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7056" y="6840007"/>
            <a:ext cx="4602927" cy="1941210"/>
          </a:xfrm>
          <a:custGeom xmlns:a="http://schemas.openxmlformats.org/drawingml/2006/main">
            <a:rect l="l" t="t" r="r" b="b"/>
            <a:pathLst>
              <a:path w="6137237" h="2588280">
                <a:moveTo>
                  <a:pt x="0" y="0"/>
                </a:moveTo>
                <a:lnTo>
                  <a:pt x="6137237" y="0"/>
                </a:lnTo>
                <a:lnTo>
                  <a:pt x="6137237" y="2588280"/>
                </a:lnTo>
                <a:lnTo>
                  <a:pt x="0" y="258828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3f794f1d804ede">
              <a:alphaModFix amt="0"/>
            </a:blip>
            <a:stretch>
              <a:fillRect l="-12506" t="0" r="-7637" b="-11018"/>
            </a:stretch>
          </a:blipFill>
        </p:spPr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6E383207-13FB-4A80-A3ED-C10DA1C1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7056" y="6832864"/>
            <a:ext cx="4602926" cy="19483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40"/>
              </a:lnSpc>
              <a:buNone/>
              <a:defRPr sz="16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Không mời lại người chưa phản hồi</a:t>
            </a:r>
          </a:p>
          <a:p xmlns:a="http://schemas.openxmlformats.org/drawingml/2006/main">
            <a:pPr algn="l">
              <a:lnSpc>
                <a:spcPts val="2279"/>
              </a:lnSpc>
              <a:buNone/>
              <a:defRPr sz="16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Nhóm dưới 2 người không được thách đấu</a:t>
            </a:r>
          </a:p>
          <a:p xmlns:a="http://schemas.openxmlformats.org/drawingml/2006/main">
            <a:pPr algn="l">
              <a:lnSpc>
                <a:spcPts val="2040"/>
              </a:lnSpc>
              <a:buNone/>
              <a:defRPr sz="16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Khung giờ hợp lệ: 05:00–23:00</a:t>
            </a:r>
          </a:p>
          <a:p xmlns:a="http://schemas.openxmlformats.org/drawingml/2006/main">
            <a:pPr algn="l">
              <a:lnSpc>
                <a:spcPts val="2160"/>
              </a:lnSpc>
              <a:buNone/>
              <a:defRPr sz="16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Kiểm tra lịch sử đã chơi cùng</a:t>
            </a:r>
          </a:p>
        </p:txBody>
      </p:sp>
      <p:sp>
        <p:nvSpPr>
          <p:cNvPr id="112" name="Freeform 112">
            <a:extLst xmlns:a="http://schemas.openxmlformats.org/drawingml/2006/main">
              <a:ext uri="{FF2B5EF4-FFF2-40B4-BE49-F238E27FC236}">
                <a16:creationId xmlns:a16="http://schemas.microsoft.com/office/drawing/2014/main" id="{BA09949C-E841-4741-A822-B8738093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14CBB97E-5C15-4C9B-A614-A21C7E93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2081092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631FB58-6417-4F50-86DD-255B46D6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18320860" cy="10314146"/>
          </a:xfrm>
          <a:custGeom xmlns:a="http://schemas.openxmlformats.org/drawingml/2006/main">
            <a:rect l="l" t="t" r="r" b="b"/>
            <a:pathLst>
              <a:path w="24427814" h="13752195">
                <a:moveTo>
                  <a:pt x="0" y="0"/>
                </a:moveTo>
                <a:lnTo>
                  <a:pt x="24427814" y="0"/>
                </a:lnTo>
                <a:lnTo>
                  <a:pt x="24427814" y="13752195"/>
                </a:lnTo>
                <a:lnTo>
                  <a:pt x="0" y="137521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6FDD45C-C500-4EA4-9A82-FCADA09C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E239B7DC-E2A4-4202-9CD7-3DE146D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B7B406D-0946-4E99-ADB2-8C70745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86F446-0ADE-441D-9802-0309934B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C7334826-1880-4797-A452-522FCB36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66706"/>
            <a:ext cx="14824862" cy="617702"/>
          </a:xfrm>
          <a:custGeom xmlns:a="http://schemas.openxmlformats.org/drawingml/2006/main">
            <a:rect l="l" t="t" r="r" b="b"/>
            <a:pathLst>
              <a:path w="19766483" h="823603">
                <a:moveTo>
                  <a:pt x="0" y="0"/>
                </a:moveTo>
                <a:lnTo>
                  <a:pt x="19766483" y="0"/>
                </a:lnTo>
                <a:lnTo>
                  <a:pt x="19766483" y="823603"/>
                </a:lnTo>
                <a:lnTo>
                  <a:pt x="0" y="8236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417640" r="0" b="-417641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7DDEE8-5F05-48CF-BEE1-7DCBB1B3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45275"/>
            <a:ext cx="14824862" cy="63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413"/>
              </a:lnSpc>
              <a:buNone/>
              <a:defRPr sz="3677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7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Flow 2: Tournament Life-Cycle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2B03FEE-7661-4EA1-8FFA-77F99F00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9128"/>
            <a:ext cx="14824862" cy="356895"/>
          </a:xfrm>
          <a:custGeom xmlns:a="http://schemas.openxmlformats.org/drawingml/2006/main">
            <a:rect l="l" t="t" r="r" b="b"/>
            <a:pathLst>
              <a:path w="19766483" h="475860">
                <a:moveTo>
                  <a:pt x="0" y="0"/>
                </a:moveTo>
                <a:lnTo>
                  <a:pt x="19766483" y="0"/>
                </a:lnTo>
                <a:lnTo>
                  <a:pt x="19766483" y="475860"/>
                </a:lnTo>
                <a:lnTo>
                  <a:pt x="0" y="47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759378" r="0" b="-759378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98C631E-B616-4081-8362-2D22382B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1985"/>
            <a:ext cx="14824862" cy="364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Vận hành trọn vòng đời, không trùng sân hoặc giờ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60F40C0-DCD3-4636-8ACC-063C1518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3807" y="2213248"/>
            <a:ext cx="2834830" cy="2931033"/>
          </a:xfrm>
          <a:custGeom xmlns:a="http://schemas.openxmlformats.org/drawingml/2006/main">
            <a:rect l="l" t="t" r="r" b="b"/>
            <a:pathLst>
              <a:path w="3779774" h="3908044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779012"/>
                </a:lnTo>
                <a:cubicBezTo>
                  <a:pt x="3779774" y="3850259"/>
                  <a:pt x="3721989" y="3908044"/>
                  <a:pt x="3650742" y="3908044"/>
                </a:cubicBezTo>
                <a:lnTo>
                  <a:pt x="129032" y="3908044"/>
                </a:lnTo>
                <a:cubicBezTo>
                  <a:pt x="57785" y="3908044"/>
                  <a:pt x="0" y="3850259"/>
                  <a:pt x="0" y="3779012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A741880E-CBBD-49FF-B511-EA8F8511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5750" y="2365191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B100A4A-0546-4486-8312-669C8DC9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963" y="2397693"/>
            <a:ext cx="356895" cy="310958"/>
          </a:xfrm>
          <a:custGeom xmlns:a="http://schemas.openxmlformats.org/drawingml/2006/main">
            <a:rect l="l" t="t" r="r" b="b"/>
            <a:pathLst>
              <a:path w="475860" h="414610">
                <a:moveTo>
                  <a:pt x="0" y="0"/>
                </a:moveTo>
                <a:lnTo>
                  <a:pt x="475860" y="0"/>
                </a:lnTo>
                <a:lnTo>
                  <a:pt x="475860" y="414610"/>
                </a:lnTo>
                <a:lnTo>
                  <a:pt x="0" y="41461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4706" r="0" b="59979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F78E874-BEB2-4192-9A1A-B1F280E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963" y="2383406"/>
            <a:ext cx="356892" cy="325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18D292F9-6546-4B8B-AB8E-F3AC3A0B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735" y="2855157"/>
            <a:ext cx="2457084" cy="603975"/>
          </a:xfrm>
          <a:custGeom xmlns:a="http://schemas.openxmlformats.org/drawingml/2006/main">
            <a:rect l="l" t="t" r="r" b="b"/>
            <a:pathLst>
              <a:path w="3276112" h="805301">
                <a:moveTo>
                  <a:pt x="0" y="0"/>
                </a:moveTo>
                <a:lnTo>
                  <a:pt x="3276112" y="0"/>
                </a:lnTo>
                <a:lnTo>
                  <a:pt x="3276112" y="805301"/>
                </a:lnTo>
                <a:lnTo>
                  <a:pt x="0" y="8053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29268" r="0" b="-29269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3047F2A7-8D7A-4580-9011-470EDF1D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72735" y="2840870"/>
            <a:ext cx="2457088" cy="618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Create Tournament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66AB91E0-2AE4-438C-8A17-CFEAC4E8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461" y="3500314"/>
            <a:ext cx="2429629" cy="1509938"/>
          </a:xfrm>
          <a:custGeom xmlns:a="http://schemas.openxmlformats.org/drawingml/2006/main">
            <a:rect l="l" t="t" r="r" b="b"/>
            <a:pathLst>
              <a:path w="3239507" h="2013251">
                <a:moveTo>
                  <a:pt x="0" y="0"/>
                </a:moveTo>
                <a:lnTo>
                  <a:pt x="3239507" y="0"/>
                </a:lnTo>
                <a:lnTo>
                  <a:pt x="3239507" y="2013251"/>
                </a:lnTo>
                <a:lnTo>
                  <a:pt x="0" y="20132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-29736" t="0" r="-29736" b="0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E98C27ED-4BD4-48FA-8F7B-A910D030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461" y="3486027"/>
            <a:ext cx="2429627" cy="1524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6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30">
                <a:solidFill>
                  <a:srgbClr val="EEF4F7"/>
                </a:solidFill>
                <a:latin typeface="Arial"/>
                <a:ea typeface="Arial"/>
                <a:cs typeface="Arial"/>
              </a:rPr>
              <a:t>Admin tạo Draft, đặt thời gian đăng ký và thi đấu.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D128158E-CF2E-465A-9001-0027F4AE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2130" y="2213248"/>
            <a:ext cx="2834830" cy="2931033"/>
          </a:xfrm>
          <a:custGeom xmlns:a="http://schemas.openxmlformats.org/drawingml/2006/main">
            <a:rect l="l" t="t" r="r" b="b"/>
            <a:pathLst>
              <a:path w="3779774" h="3908044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779012"/>
                </a:lnTo>
                <a:cubicBezTo>
                  <a:pt x="3779774" y="3850259"/>
                  <a:pt x="3721989" y="3908044"/>
                  <a:pt x="3650742" y="3908044"/>
                </a:cubicBezTo>
                <a:lnTo>
                  <a:pt x="129032" y="3908044"/>
                </a:lnTo>
                <a:cubicBezTo>
                  <a:pt x="57785" y="3908044"/>
                  <a:pt x="0" y="3850259"/>
                  <a:pt x="0" y="3779012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2F394F83-DC73-4863-ABF6-9F0C4660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4073" y="2365191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63F6C025-870D-4820-9BF5-6369AEED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2287" y="2416935"/>
            <a:ext cx="356895" cy="272474"/>
          </a:xfrm>
          <a:custGeom xmlns:a="http://schemas.openxmlformats.org/drawingml/2006/main">
            <a:rect l="l" t="t" r="r" b="b"/>
            <a:pathLst>
              <a:path w="475860" h="363298">
                <a:moveTo>
                  <a:pt x="0" y="0"/>
                </a:moveTo>
                <a:lnTo>
                  <a:pt x="475860" y="0"/>
                </a:lnTo>
                <a:lnTo>
                  <a:pt x="475860" y="363298"/>
                </a:lnTo>
                <a:lnTo>
                  <a:pt x="0" y="36329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5370" r="0" b="54326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BD64833-FC4D-4CFF-B912-0407E98F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2287" y="2402648"/>
            <a:ext cx="356892" cy="28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584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32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CC6579E2-D955-432E-9C66-CE4FBF16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059" y="2855157"/>
            <a:ext cx="2457084" cy="603975"/>
          </a:xfrm>
          <a:custGeom xmlns:a="http://schemas.openxmlformats.org/drawingml/2006/main">
            <a:rect l="l" t="t" r="r" b="b"/>
            <a:pathLst>
              <a:path w="3276112" h="805301">
                <a:moveTo>
                  <a:pt x="0" y="0"/>
                </a:moveTo>
                <a:lnTo>
                  <a:pt x="3276112" y="0"/>
                </a:lnTo>
                <a:lnTo>
                  <a:pt x="3276112" y="805301"/>
                </a:lnTo>
                <a:lnTo>
                  <a:pt x="0" y="8053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29268" r="0" b="-29269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C1695C02-8FD5-44CA-A1DA-0B7D087A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1059" y="2840870"/>
            <a:ext cx="2457088" cy="618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Publish &amp; Register</a:t>
            </a:r>
          </a:p>
        </p:txBody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AD2E5326-E3DC-4AF3-8A65-4F286236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4784" y="3500314"/>
            <a:ext cx="2429629" cy="1509938"/>
          </a:xfrm>
          <a:custGeom xmlns:a="http://schemas.openxmlformats.org/drawingml/2006/main">
            <a:rect l="l" t="t" r="r" b="b"/>
            <a:pathLst>
              <a:path w="3239507" h="2013251">
                <a:moveTo>
                  <a:pt x="0" y="0"/>
                </a:moveTo>
                <a:lnTo>
                  <a:pt x="3239507" y="0"/>
                </a:lnTo>
                <a:lnTo>
                  <a:pt x="3239507" y="2013251"/>
                </a:lnTo>
                <a:lnTo>
                  <a:pt x="0" y="20132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-29736" t="0" r="-29736" b="0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CDD28A74-3CA7-4BCB-926D-7360943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4784" y="3486027"/>
            <a:ext cx="2429627" cy="1524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Chuyển Open; nội dung đôi cần đồng đội xác nhận.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ABE94F5-7A02-414E-AA3C-2B892393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0454" y="2213248"/>
            <a:ext cx="2834830" cy="2931033"/>
          </a:xfrm>
          <a:custGeom xmlns:a="http://schemas.openxmlformats.org/drawingml/2006/main">
            <a:rect l="l" t="t" r="r" b="b"/>
            <a:pathLst>
              <a:path w="3779774" h="3908044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779012"/>
                </a:lnTo>
                <a:cubicBezTo>
                  <a:pt x="3779774" y="3850259"/>
                  <a:pt x="3721989" y="3908044"/>
                  <a:pt x="3650742" y="3908044"/>
                </a:cubicBezTo>
                <a:lnTo>
                  <a:pt x="129032" y="3908044"/>
                </a:lnTo>
                <a:cubicBezTo>
                  <a:pt x="57785" y="3908044"/>
                  <a:pt x="0" y="3850259"/>
                  <a:pt x="0" y="3779012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FFD36B"/>
            </a:solidFill>
            <a:prstDash val="solid"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451D3208-613B-4798-BA25-A4A9E86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2406" y="2365191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FFD36B"/>
          </a:solidFill>
          <a:ln xmlns:a="http://schemas.openxmlformats.org/drawingml/2006/main" w="19065">
            <a:solidFill>
              <a:srgbClr val="FFD36B"/>
            </a:solidFill>
            <a:prstDash val="solid"/>
          </a:ln>
        </p:spPr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14347B12-0032-475B-9B68-BF55BFA2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0620" y="2410849"/>
            <a:ext cx="356895" cy="310958"/>
          </a:xfrm>
          <a:custGeom xmlns:a="http://schemas.openxmlformats.org/drawingml/2006/main">
            <a:rect l="l" t="t" r="r" b="b"/>
            <a:pathLst>
              <a:path w="475860" h="414610">
                <a:moveTo>
                  <a:pt x="0" y="0"/>
                </a:moveTo>
                <a:lnTo>
                  <a:pt x="475860" y="0"/>
                </a:lnTo>
                <a:lnTo>
                  <a:pt x="475860" y="414610"/>
                </a:lnTo>
                <a:lnTo>
                  <a:pt x="0" y="41461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4706" r="0" b="59979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2472269-8451-4DE1-9C27-66112F22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0620" y="2396562"/>
            <a:ext cx="356892" cy="325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4CAA2798-5DDA-486A-91F6-542DEDE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392" y="2855157"/>
            <a:ext cx="2457084" cy="603975"/>
          </a:xfrm>
          <a:custGeom xmlns:a="http://schemas.openxmlformats.org/drawingml/2006/main">
            <a:rect l="l" t="t" r="r" b="b"/>
            <a:pathLst>
              <a:path w="3276112" h="805301">
                <a:moveTo>
                  <a:pt x="0" y="0"/>
                </a:moveTo>
                <a:lnTo>
                  <a:pt x="3276112" y="0"/>
                </a:lnTo>
                <a:lnTo>
                  <a:pt x="3276112" y="805301"/>
                </a:lnTo>
                <a:lnTo>
                  <a:pt x="0" y="8053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29268" r="0" b="-29269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5F0CB141-4B2E-45F4-BDB7-4A6E3E83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9392" y="2840870"/>
            <a:ext cx="2457088" cy="618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Close &amp; Generate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1FB40627-373A-433F-96A0-85390150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117" y="3500314"/>
            <a:ext cx="2429629" cy="1509938"/>
          </a:xfrm>
          <a:custGeom xmlns:a="http://schemas.openxmlformats.org/drawingml/2006/main">
            <a:rect l="l" t="t" r="r" b="b"/>
            <a:pathLst>
              <a:path w="3239507" h="2013251">
                <a:moveTo>
                  <a:pt x="0" y="0"/>
                </a:moveTo>
                <a:lnTo>
                  <a:pt x="3239507" y="0"/>
                </a:lnTo>
                <a:lnTo>
                  <a:pt x="3239507" y="2013251"/>
                </a:lnTo>
                <a:lnTo>
                  <a:pt x="0" y="20132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-29736" t="0" r="-29736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6503B350-B00A-441C-BF0A-33D79B2C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3117" y="3486027"/>
            <a:ext cx="2429627" cy="1524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Tạo Single Elimination, Round Robin hoặc Group Knockout.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4989CD26-FDFC-417B-83FB-BEB9215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8787" y="2213248"/>
            <a:ext cx="2834830" cy="2931033"/>
          </a:xfrm>
          <a:custGeom xmlns:a="http://schemas.openxmlformats.org/drawingml/2006/main">
            <a:rect l="l" t="t" r="r" b="b"/>
            <a:pathLst>
              <a:path w="3779774" h="3908044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779012"/>
                </a:lnTo>
                <a:cubicBezTo>
                  <a:pt x="3779774" y="3850259"/>
                  <a:pt x="3721989" y="3908044"/>
                  <a:pt x="3650742" y="3908044"/>
                </a:cubicBezTo>
                <a:lnTo>
                  <a:pt x="129032" y="3908044"/>
                </a:lnTo>
                <a:cubicBezTo>
                  <a:pt x="57785" y="3908044"/>
                  <a:pt x="0" y="3850259"/>
                  <a:pt x="0" y="3779012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8B4FCAA8-5C5D-4FCD-8F3C-4A5FAAFE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9758" y="2313447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B0ED6AC0-84DD-48D2-80DA-8292B98F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4533" y="2397693"/>
            <a:ext cx="356895" cy="310958"/>
          </a:xfrm>
          <a:custGeom xmlns:a="http://schemas.openxmlformats.org/drawingml/2006/main">
            <a:rect l="l" t="t" r="r" b="b"/>
            <a:pathLst>
              <a:path w="475860" h="414610">
                <a:moveTo>
                  <a:pt x="0" y="0"/>
                </a:moveTo>
                <a:lnTo>
                  <a:pt x="475860" y="0"/>
                </a:lnTo>
                <a:lnTo>
                  <a:pt x="475860" y="414610"/>
                </a:lnTo>
                <a:lnTo>
                  <a:pt x="0" y="41461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4706" r="0" b="59979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3810BB3B-B7F2-4A64-AF4C-F4D1B0D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4533" y="2383406"/>
            <a:ext cx="356892" cy="325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9ABE28A7-9A55-4F53-9C81-2FE941E1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15" y="2855157"/>
            <a:ext cx="2457084" cy="603975"/>
          </a:xfrm>
          <a:custGeom xmlns:a="http://schemas.openxmlformats.org/drawingml/2006/main">
            <a:rect l="l" t="t" r="r" b="b"/>
            <a:pathLst>
              <a:path w="3276112" h="805301">
                <a:moveTo>
                  <a:pt x="0" y="0"/>
                </a:moveTo>
                <a:lnTo>
                  <a:pt x="3276112" y="0"/>
                </a:lnTo>
                <a:lnTo>
                  <a:pt x="3276112" y="805301"/>
                </a:lnTo>
                <a:lnTo>
                  <a:pt x="0" y="8053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29268" r="0" b="-29269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3D925B77-E2D6-4D39-973C-ED64BF2C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15" y="2840870"/>
            <a:ext cx="2457088" cy="618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Schedule Matches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0BD23633-AB95-4641-A9C8-E527019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1441" y="3500314"/>
            <a:ext cx="2429629" cy="1509938"/>
          </a:xfrm>
          <a:custGeom xmlns:a="http://schemas.openxmlformats.org/drawingml/2006/main">
            <a:rect l="l" t="t" r="r" b="b"/>
            <a:pathLst>
              <a:path w="3239507" h="2013251">
                <a:moveTo>
                  <a:pt x="0" y="0"/>
                </a:moveTo>
                <a:lnTo>
                  <a:pt x="3239507" y="0"/>
                </a:lnTo>
                <a:lnTo>
                  <a:pt x="3239507" y="2013251"/>
                </a:lnTo>
                <a:lnTo>
                  <a:pt x="0" y="20132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-29736" t="0" r="-29736" b="0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DFE7452B-9EDC-441E-A11E-6A31B49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1441" y="3486027"/>
            <a:ext cx="2429627" cy="1524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Tự xếp sân và giờ trống, tránh conflict.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324B02AE-971F-4410-939E-DF688A7A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77111" y="2213248"/>
            <a:ext cx="2834830" cy="2931033"/>
          </a:xfrm>
          <a:custGeom xmlns:a="http://schemas.openxmlformats.org/drawingml/2006/main">
            <a:rect l="l" t="t" r="r" b="b"/>
            <a:pathLst>
              <a:path w="3779774" h="3908044">
                <a:moveTo>
                  <a:pt x="0" y="129032"/>
                </a:moveTo>
                <a:cubicBezTo>
                  <a:pt x="0" y="57785"/>
                  <a:pt x="57785" y="0"/>
                  <a:pt x="129032" y="0"/>
                </a:cubicBezTo>
                <a:lnTo>
                  <a:pt x="3650742" y="0"/>
                </a:lnTo>
                <a:cubicBezTo>
                  <a:pt x="3721989" y="0"/>
                  <a:pt x="3779774" y="57785"/>
                  <a:pt x="3779774" y="129032"/>
                </a:cubicBezTo>
                <a:lnTo>
                  <a:pt x="3779774" y="3779012"/>
                </a:lnTo>
                <a:cubicBezTo>
                  <a:pt x="3779774" y="3850259"/>
                  <a:pt x="3721989" y="3908044"/>
                  <a:pt x="3650742" y="3908044"/>
                </a:cubicBezTo>
                <a:lnTo>
                  <a:pt x="129032" y="3908044"/>
                </a:lnTo>
                <a:cubicBezTo>
                  <a:pt x="57785" y="3908044"/>
                  <a:pt x="0" y="3850259"/>
                  <a:pt x="0" y="3779012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72" name="Freeform 72">
            <a:extLst xmlns:a="http://schemas.openxmlformats.org/drawingml/2006/main">
              <a:ext uri="{FF2B5EF4-FFF2-40B4-BE49-F238E27FC236}">
                <a16:creationId xmlns:a16="http://schemas.microsoft.com/office/drawing/2014/main" id="{6E423896-D285-4C63-A2B7-884833C1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29053" y="2365191"/>
            <a:ext cx="540638" cy="375951"/>
          </a:xfrm>
          <a:custGeom xmlns:a="http://schemas.openxmlformats.org/drawingml/2006/main">
            <a:rect l="l" t="t" r="r" b="b"/>
            <a:pathLst>
              <a:path w="720852" h="501269">
                <a:moveTo>
                  <a:pt x="0" y="77089"/>
                </a:moveTo>
                <a:cubicBezTo>
                  <a:pt x="0" y="34544"/>
                  <a:pt x="34544" y="0"/>
                  <a:pt x="77089" y="0"/>
                </a:cubicBezTo>
                <a:lnTo>
                  <a:pt x="643763" y="0"/>
                </a:lnTo>
                <a:cubicBezTo>
                  <a:pt x="686308" y="0"/>
                  <a:pt x="720852" y="34544"/>
                  <a:pt x="720852" y="77089"/>
                </a:cubicBezTo>
                <a:lnTo>
                  <a:pt x="720852" y="424180"/>
                </a:lnTo>
                <a:cubicBezTo>
                  <a:pt x="720852" y="466725"/>
                  <a:pt x="686308" y="501269"/>
                  <a:pt x="643763" y="501269"/>
                </a:cubicBezTo>
                <a:lnTo>
                  <a:pt x="77089" y="501269"/>
                </a:lnTo>
                <a:cubicBezTo>
                  <a:pt x="34544" y="501269"/>
                  <a:pt x="0" y="466725"/>
                  <a:pt x="0" y="424180"/>
                </a:cubicBezTo>
                <a:close/>
              </a:path>
            </a:pathLst>
          </a:custGeom>
          <a:solidFill xmlns:a="http://schemas.openxmlformats.org/drawingml/2006/main">
            <a:srgbClr val="B9FF2C"/>
          </a:solidFill>
          <a:ln xmlns:a="http://schemas.openxmlformats.org/drawingml/2006/main" w="19065">
            <a:solidFill>
              <a:srgbClr val="B9FF2C"/>
            </a:solidFill>
            <a:prstDash val="solid"/>
          </a:ln>
        </p:spPr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C0AFA059-A597-4532-92E8-031A70B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2866" y="2397693"/>
            <a:ext cx="356895" cy="310958"/>
          </a:xfrm>
          <a:custGeom xmlns:a="http://schemas.openxmlformats.org/drawingml/2006/main">
            <a:rect l="l" t="t" r="r" b="b"/>
            <a:pathLst>
              <a:path w="475860" h="414610">
                <a:moveTo>
                  <a:pt x="0" y="0"/>
                </a:moveTo>
                <a:lnTo>
                  <a:pt x="475860" y="0"/>
                </a:lnTo>
                <a:lnTo>
                  <a:pt x="475860" y="414610"/>
                </a:lnTo>
                <a:lnTo>
                  <a:pt x="0" y="41461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4706" r="0" b="59979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57B5B744-F50F-4526-8DC7-B2A2DB5C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32866" y="2383406"/>
            <a:ext cx="356892" cy="325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C6F44E67-F2C7-484D-BBDC-8E2B5A76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6039" y="2855157"/>
            <a:ext cx="2457084" cy="603975"/>
          </a:xfrm>
          <a:custGeom xmlns:a="http://schemas.openxmlformats.org/drawingml/2006/main">
            <a:rect l="l" t="t" r="r" b="b"/>
            <a:pathLst>
              <a:path w="3276112" h="805301">
                <a:moveTo>
                  <a:pt x="0" y="0"/>
                </a:moveTo>
                <a:lnTo>
                  <a:pt x="3276112" y="0"/>
                </a:lnTo>
                <a:lnTo>
                  <a:pt x="3276112" y="805301"/>
                </a:lnTo>
                <a:lnTo>
                  <a:pt x="0" y="80530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29268" r="0" b="-29269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1C71D62C-81E5-4251-ACC9-9C31F12C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6039" y="2840870"/>
            <a:ext cx="2457088" cy="6182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7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53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Score &amp; Complete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CAED2677-6093-461D-BA3A-E0EDFAD2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9764" y="3500314"/>
            <a:ext cx="2429629" cy="1509938"/>
          </a:xfrm>
          <a:custGeom xmlns:a="http://schemas.openxmlformats.org/drawingml/2006/main">
            <a:rect l="l" t="t" r="r" b="b"/>
            <a:pathLst>
              <a:path w="3239507" h="2013251">
                <a:moveTo>
                  <a:pt x="0" y="0"/>
                </a:moveTo>
                <a:lnTo>
                  <a:pt x="3239507" y="0"/>
                </a:lnTo>
                <a:lnTo>
                  <a:pt x="3239507" y="2013251"/>
                </a:lnTo>
                <a:lnTo>
                  <a:pt x="0" y="201325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-29736" t="0" r="-29736" b="0"/>
            </a:stretch>
          </a:blipFill>
        </p:spPr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DBD61113-0982-4A10-8057-5C1C380F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79764" y="3486027"/>
            <a:ext cx="2429627" cy="15242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831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25">
                <a:solidFill>
                  <a:srgbClr val="EEF4F7"/>
                </a:solidFill>
                <a:latin typeface="Arial"/>
                <a:ea typeface="Arial"/>
                <a:cs typeface="Arial"/>
              </a:rPr>
              <a:t>Nhập điểm; tự cập nhật kết quả và nhà vô địch.</a:t>
            </a:r>
          </a:p>
        </p:txBody>
      </p:sp>
      <p:sp>
        <p:nvSpPr>
          <p:cNvPr id="83" name="Freeform 83">
            <a:extLst xmlns:a="http://schemas.openxmlformats.org/drawingml/2006/main">
              <a:ext uri="{FF2B5EF4-FFF2-40B4-BE49-F238E27FC236}">
                <a16:creationId xmlns:a16="http://schemas.microsoft.com/office/drawing/2014/main" id="{424B2DCD-0C41-4277-BB35-03686A26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5590013"/>
            <a:ext cx="5031295" cy="2683954"/>
          </a:xfrm>
          <a:custGeom xmlns:a="http://schemas.openxmlformats.org/drawingml/2006/main">
            <a:rect l="l" t="t" r="r" b="b"/>
            <a:pathLst>
              <a:path w="6708394" h="3578606">
                <a:moveTo>
                  <a:pt x="0" y="129159"/>
                </a:moveTo>
                <a:cubicBezTo>
                  <a:pt x="0" y="57785"/>
                  <a:pt x="57785" y="0"/>
                  <a:pt x="129159" y="0"/>
                </a:cubicBezTo>
                <a:lnTo>
                  <a:pt x="6579235" y="0"/>
                </a:lnTo>
                <a:cubicBezTo>
                  <a:pt x="6650482" y="0"/>
                  <a:pt x="6708394" y="57785"/>
                  <a:pt x="6708394" y="129159"/>
                </a:cubicBezTo>
                <a:lnTo>
                  <a:pt x="6708394" y="3449447"/>
                </a:lnTo>
                <a:cubicBezTo>
                  <a:pt x="6708394" y="3520694"/>
                  <a:pt x="6650609" y="3578606"/>
                  <a:pt x="6579235" y="3578606"/>
                </a:cubicBezTo>
                <a:lnTo>
                  <a:pt x="129159" y="3578606"/>
                </a:lnTo>
                <a:cubicBezTo>
                  <a:pt x="57785" y="3578606"/>
                  <a:pt x="0" y="3520821"/>
                  <a:pt x="0" y="3449447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F318763B-F45B-4D4D-A3D5-D939E2CA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000" y="5778951"/>
            <a:ext cx="4571000" cy="329441"/>
          </a:xfrm>
          <a:custGeom xmlns:a="http://schemas.openxmlformats.org/drawingml/2006/main">
            <a:rect l="l" t="t" r="r" b="b"/>
            <a:pathLst>
              <a:path w="6094666" h="439255">
                <a:moveTo>
                  <a:pt x="0" y="0"/>
                </a:moveTo>
                <a:lnTo>
                  <a:pt x="6094666" y="0"/>
                </a:lnTo>
                <a:lnTo>
                  <a:pt x="6094666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220354" r="0" b="-220354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32BA0D4C-322B-460A-A91D-877D03B5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000" y="5764664"/>
            <a:ext cx="4571000" cy="343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Tournament &amp; Division</a:t>
            </a:r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39039011-1C16-41E3-A26B-1CCF230A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3001" y="6227245"/>
            <a:ext cx="4514821" cy="17059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191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Mỗi Division cấu hình fee, DUPR limit, age group và format; ví dụ Men’s Singles, Mixed Doubles.</a:t>
            </a:r>
          </a:p>
        </p:txBody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454A1949-6E4F-47EF-AF7E-17E2FC64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395" y="5590013"/>
            <a:ext cx="4344924" cy="2683954"/>
          </a:xfrm>
          <a:custGeom xmlns:a="http://schemas.openxmlformats.org/drawingml/2006/main">
            <a:rect l="l" t="t" r="r" b="b"/>
            <a:pathLst>
              <a:path w="5793232" h="3578606">
                <a:moveTo>
                  <a:pt x="0" y="129159"/>
                </a:moveTo>
                <a:cubicBezTo>
                  <a:pt x="0" y="57785"/>
                  <a:pt x="57785" y="0"/>
                  <a:pt x="129159" y="0"/>
                </a:cubicBezTo>
                <a:lnTo>
                  <a:pt x="5664073" y="0"/>
                </a:lnTo>
                <a:cubicBezTo>
                  <a:pt x="5735320" y="0"/>
                  <a:pt x="5793232" y="57785"/>
                  <a:pt x="5793232" y="129159"/>
                </a:cubicBezTo>
                <a:lnTo>
                  <a:pt x="5793232" y="3449447"/>
                </a:lnTo>
                <a:cubicBezTo>
                  <a:pt x="5793232" y="3520694"/>
                  <a:pt x="5735447" y="3578606"/>
                  <a:pt x="5664073" y="3578606"/>
                </a:cubicBezTo>
                <a:lnTo>
                  <a:pt x="129159" y="3578606"/>
                </a:lnTo>
                <a:cubicBezTo>
                  <a:pt x="57785" y="3578606"/>
                  <a:pt x="0" y="3520821"/>
                  <a:pt x="0" y="3449447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741D0620-68F2-413D-959B-0AD6D207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510" y="5778951"/>
            <a:ext cx="3884663" cy="329441"/>
          </a:xfrm>
          <a:custGeom xmlns:a="http://schemas.openxmlformats.org/drawingml/2006/main">
            <a:rect l="l" t="t" r="r" b="b"/>
            <a:pathLst>
              <a:path w="5179551" h="439255">
                <a:moveTo>
                  <a:pt x="0" y="0"/>
                </a:moveTo>
                <a:lnTo>
                  <a:pt x="5179551" y="0"/>
                </a:lnTo>
                <a:lnTo>
                  <a:pt x="5179551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179761" r="0" b="-179761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C400503A-B81B-4BBF-8E76-79963BC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9510" y="5764664"/>
            <a:ext cx="3884666" cy="343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Bracket &amp; Schedule</a:t>
            </a:r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FE584767-5DEE-49DA-9BF1-CEAA34E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2511" y="6227245"/>
            <a:ext cx="3828488" cy="1949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191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Single Elimination hỗ trợ BYE; Round Robin tạo vòng bảng; Group Knockout kết hợp vòng bảng và loại trực tiếp.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D50CF9CC-A57F-4A42-AA8C-B7E35D46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1395" y="5590013"/>
            <a:ext cx="4619434" cy="2683954"/>
          </a:xfrm>
          <a:custGeom xmlns:a="http://schemas.openxmlformats.org/drawingml/2006/main">
            <a:rect l="l" t="t" r="r" b="b"/>
            <a:pathLst>
              <a:path w="6159246" h="3578606">
                <a:moveTo>
                  <a:pt x="0" y="129159"/>
                </a:moveTo>
                <a:cubicBezTo>
                  <a:pt x="0" y="57785"/>
                  <a:pt x="57785" y="0"/>
                  <a:pt x="129159" y="0"/>
                </a:cubicBezTo>
                <a:lnTo>
                  <a:pt x="6030087" y="0"/>
                </a:lnTo>
                <a:cubicBezTo>
                  <a:pt x="6101334" y="0"/>
                  <a:pt x="6159246" y="57785"/>
                  <a:pt x="6159246" y="129159"/>
                </a:cubicBezTo>
                <a:lnTo>
                  <a:pt x="6159246" y="3449447"/>
                </a:lnTo>
                <a:cubicBezTo>
                  <a:pt x="6159246" y="3520694"/>
                  <a:pt x="6101461" y="3578606"/>
                  <a:pt x="6030087" y="3578606"/>
                </a:cubicBezTo>
                <a:lnTo>
                  <a:pt x="129159" y="3578606"/>
                </a:lnTo>
                <a:cubicBezTo>
                  <a:pt x="57785" y="3578606"/>
                  <a:pt x="0" y="3520821"/>
                  <a:pt x="0" y="3449447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97" name="Freeform 97">
            <a:extLst xmlns:a="http://schemas.openxmlformats.org/drawingml/2006/main">
              <a:ext uri="{FF2B5EF4-FFF2-40B4-BE49-F238E27FC236}">
                <a16:creationId xmlns:a16="http://schemas.microsoft.com/office/drawing/2014/main" id="{852511B7-FBA0-4D5A-B384-72000E09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09" y="5778951"/>
            <a:ext cx="4159196" cy="329441"/>
          </a:xfrm>
          <a:custGeom xmlns:a="http://schemas.openxmlformats.org/drawingml/2006/main">
            <a:rect l="l" t="t" r="r" b="b"/>
            <a:pathLst>
              <a:path w="5545596" h="439255">
                <a:moveTo>
                  <a:pt x="0" y="0"/>
                </a:moveTo>
                <a:lnTo>
                  <a:pt x="5545596" y="0"/>
                </a:lnTo>
                <a:lnTo>
                  <a:pt x="5545596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195998" r="0" b="-195998"/>
            </a:stretch>
          </a:blipFill>
        </p:spPr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EE85192F-4910-4893-AB7A-A5EE77A1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1509" y="5764664"/>
            <a:ext cx="4159196" cy="343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Match Progress</a:t>
            </a:r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78F0F10C-B2EF-43ED-8859-82C20741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4501" y="6227245"/>
            <a:ext cx="4103018" cy="1949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45439" indent="-172720" algn="l">
              <a:lnSpc>
                <a:spcPts val="191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99">
                <a:solidFill>
                  <a:srgbClr val="EEF4F7"/>
                </a:solidFill>
                <a:latin typeface="Arial"/>
                <a:ea typeface="Arial"/>
                <a:cs typeface="Arial"/>
              </a:rPr>
              <a:t>Draft → Open → RegistrationClosed → Ongoing → Completed. Hệ thống cập nhật winner hoặc points/standings.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2726B37B-C1DF-45E8-B738-553E3AEB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24362"/>
            <a:ext cx="15236663" cy="414483"/>
          </a:xfrm>
          <a:custGeom xmlns:a="http://schemas.openxmlformats.org/drawingml/2006/main">
            <a:rect l="l" t="t" r="r" b="b"/>
            <a:pathLst>
              <a:path w="20315552" h="552645">
                <a:moveTo>
                  <a:pt x="0" y="0"/>
                </a:moveTo>
                <a:lnTo>
                  <a:pt x="20315552" y="0"/>
                </a:lnTo>
                <a:lnTo>
                  <a:pt x="20315552" y="552645"/>
                </a:lnTo>
                <a:lnTo>
                  <a:pt x="0" y="55264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2c733fbd46248ba">
              <a:alphaModFix amt="0"/>
            </a:blip>
            <a:stretch>
              <a:fillRect l="0" t="-679852" r="0" b="-652711"/>
            </a:stretch>
          </a:blipFill>
        </p:spPr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18E06A33-0A3B-4552-9548-CF2579F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17219"/>
            <a:ext cx="15236666" cy="4216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Tournament → Open Registration → Generate Bracket → Schedule Matches → Report Score → Completed</a:t>
            </a:r>
          </a:p>
        </p:txBody>
      </p:sp>
    </p:spTree>
    <p:extLst>
      <p:ext uri="{BB962C8B-B14F-4D97-AF65-F5344CB8AC3E}">
        <p14:creationId xmlns:p14="http://schemas.microsoft.com/office/powerpoint/2010/main" val="2128631111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4711A9-012B-463D-B522-1ABDDC43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D90FAA1-5AAF-4B8E-9A46-C230F960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98AB1B7-3334-41A2-90F3-485ECB67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A96F295-B672-44B9-B921-DA4D5900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294FE25-9408-4BFE-A67C-FEECD67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66706"/>
            <a:ext cx="14824862" cy="617702"/>
          </a:xfrm>
          <a:custGeom xmlns:a="http://schemas.openxmlformats.org/drawingml/2006/main">
            <a:rect l="l" t="t" r="r" b="b"/>
            <a:pathLst>
              <a:path w="19766483" h="823603">
                <a:moveTo>
                  <a:pt x="0" y="0"/>
                </a:moveTo>
                <a:lnTo>
                  <a:pt x="19766483" y="0"/>
                </a:lnTo>
                <a:lnTo>
                  <a:pt x="19766483" y="823603"/>
                </a:lnTo>
                <a:lnTo>
                  <a:pt x="0" y="8236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417640" r="0" b="-417641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887483-BE1E-4266-B754-E23E68B8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45275"/>
            <a:ext cx="14824862" cy="63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413"/>
              </a:lnSpc>
              <a:buNone/>
              <a:defRPr sz="3677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7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Flow 3: AI-Driven Personalization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3BEE27FE-1788-476A-90B8-6A242997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9128"/>
            <a:ext cx="14824862" cy="356895"/>
          </a:xfrm>
          <a:custGeom xmlns:a="http://schemas.openxmlformats.org/drawingml/2006/main">
            <a:rect l="l" t="t" r="r" b="b"/>
            <a:pathLst>
              <a:path w="19766483" h="475860">
                <a:moveTo>
                  <a:pt x="0" y="0"/>
                </a:moveTo>
                <a:lnTo>
                  <a:pt x="19766483" y="0"/>
                </a:lnTo>
                <a:lnTo>
                  <a:pt x="19766483" y="475860"/>
                </a:lnTo>
                <a:lnTo>
                  <a:pt x="0" y="47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759378" r="0" b="-759378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DC587D-C4C8-439F-9D09-482D7FBE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1985"/>
            <a:ext cx="14824862" cy="364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Cá nhân hóa booking, Coach và đối thủ; vẫn chạy khi mất kết nối AI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4E0CB8A-8C0A-4879-81A9-343CE8A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2240699"/>
            <a:ext cx="6952964" cy="2052541"/>
          </a:xfrm>
          <a:custGeom xmlns:a="http://schemas.openxmlformats.org/drawingml/2006/main">
            <a:rect l="l" t="t" r="r" b="b"/>
            <a:pathLst>
              <a:path w="9270619" h="2736723">
                <a:moveTo>
                  <a:pt x="0" y="129413"/>
                </a:moveTo>
                <a:cubicBezTo>
                  <a:pt x="0" y="57912"/>
                  <a:pt x="57912" y="0"/>
                  <a:pt x="129413" y="0"/>
                </a:cubicBezTo>
                <a:lnTo>
                  <a:pt x="9141206" y="0"/>
                </a:lnTo>
                <a:cubicBezTo>
                  <a:pt x="9212707" y="0"/>
                  <a:pt x="9270619" y="57912"/>
                  <a:pt x="9270619" y="129413"/>
                </a:cubicBezTo>
                <a:lnTo>
                  <a:pt x="9270619" y="2607310"/>
                </a:lnTo>
                <a:cubicBezTo>
                  <a:pt x="9270619" y="2678811"/>
                  <a:pt x="9212707" y="2736723"/>
                  <a:pt x="9141206" y="2736723"/>
                </a:cubicBezTo>
                <a:lnTo>
                  <a:pt x="129413" y="2736723"/>
                </a:lnTo>
                <a:cubicBezTo>
                  <a:pt x="57912" y="2736723"/>
                  <a:pt x="0" y="2678684"/>
                  <a:pt x="0" y="260731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48F6E5"/>
            </a:solidFill>
            <a:prstDash val="solid"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D1E15E39-9647-4BDE-BB63-94EF8857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461" y="2429627"/>
            <a:ext cx="6451560" cy="377861"/>
          </a:xfrm>
          <a:custGeom xmlns:a="http://schemas.openxmlformats.org/drawingml/2006/main">
            <a:rect l="l" t="t" r="r" b="b"/>
            <a:pathLst>
              <a:path w="8602080" h="503815">
                <a:moveTo>
                  <a:pt x="0" y="0"/>
                </a:moveTo>
                <a:lnTo>
                  <a:pt x="8602080" y="0"/>
                </a:lnTo>
                <a:lnTo>
                  <a:pt x="8602080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289092" r="0" b="-276277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D733F80-9B11-4051-BBA9-96DF6F9C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461" y="2408196"/>
            <a:ext cx="6451558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Booking Chatbot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32514516-5566-497C-A422-996B2A45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903" y="2850471"/>
            <a:ext cx="6175753" cy="1307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70471" indent="-185236" algn="l">
              <a:lnSpc>
                <a:spcPts val="205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Hiểu ngôn ngữ tự nhiên, trích ngày/giờ/loại sân và gọi API kiểm tra slot.</a:t>
            </a:r>
          </a:p>
          <a:p xmlns:a="http://schemas.openxmlformats.org/drawingml/2006/main">
            <a:pPr marL="370471" indent="-185236" algn="l">
              <a:lnSpc>
                <a:spcPts val="205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Ví dụ: “Đặt sân đơn ngày mai lúc 17:00.”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12CEFC5E-A831-455C-BC2A-A6DBF0AD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8219" y="2240699"/>
            <a:ext cx="6952964" cy="2052541"/>
          </a:xfrm>
          <a:custGeom xmlns:a="http://schemas.openxmlformats.org/drawingml/2006/main">
            <a:rect l="l" t="t" r="r" b="b"/>
            <a:pathLst>
              <a:path w="9270619" h="2736723">
                <a:moveTo>
                  <a:pt x="0" y="129413"/>
                </a:moveTo>
                <a:cubicBezTo>
                  <a:pt x="0" y="57912"/>
                  <a:pt x="57912" y="0"/>
                  <a:pt x="129413" y="0"/>
                </a:cubicBezTo>
                <a:lnTo>
                  <a:pt x="9141206" y="0"/>
                </a:lnTo>
                <a:cubicBezTo>
                  <a:pt x="9212707" y="0"/>
                  <a:pt x="9270619" y="57912"/>
                  <a:pt x="9270619" y="129413"/>
                </a:cubicBezTo>
                <a:lnTo>
                  <a:pt x="9270619" y="2607310"/>
                </a:lnTo>
                <a:cubicBezTo>
                  <a:pt x="9270619" y="2678811"/>
                  <a:pt x="9212707" y="2736723"/>
                  <a:pt x="9141206" y="2736723"/>
                </a:cubicBezTo>
                <a:lnTo>
                  <a:pt x="129413" y="2736723"/>
                </a:lnTo>
                <a:cubicBezTo>
                  <a:pt x="57912" y="2736723"/>
                  <a:pt x="0" y="2678684"/>
                  <a:pt x="0" y="260731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4F12973-4B10-4BDD-BBCE-872D9DF1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784" y="2429627"/>
            <a:ext cx="6451560" cy="377861"/>
          </a:xfrm>
          <a:custGeom xmlns:a="http://schemas.openxmlformats.org/drawingml/2006/main">
            <a:rect l="l" t="t" r="r" b="b"/>
            <a:pathLst>
              <a:path w="8602080" h="503815">
                <a:moveTo>
                  <a:pt x="0" y="0"/>
                </a:moveTo>
                <a:lnTo>
                  <a:pt x="8602080" y="0"/>
                </a:lnTo>
                <a:lnTo>
                  <a:pt x="8602080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289092" r="0" b="-276277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5D47933-D629-4C0D-A97D-18D4ECA3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784" y="2408196"/>
            <a:ext cx="6451558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AI Coach Recommender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9F382A7-CC1B-4874-B7A9-2E3D6EBD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6236" y="2850471"/>
            <a:ext cx="6175753" cy="1307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5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Gemini so khớp nhu cầu người chơi với hồ sơ/phong cách dạy của Coach và xếp hạng bằng AI Match Score.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2050CC8A-97D7-4FBC-B9D2-7B4382AD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4876228"/>
            <a:ext cx="6952964" cy="2052541"/>
          </a:xfrm>
          <a:custGeom xmlns:a="http://schemas.openxmlformats.org/drawingml/2006/main">
            <a:rect l="l" t="t" r="r" b="b"/>
            <a:pathLst>
              <a:path w="9270619" h="2736723">
                <a:moveTo>
                  <a:pt x="0" y="129413"/>
                </a:moveTo>
                <a:cubicBezTo>
                  <a:pt x="0" y="57912"/>
                  <a:pt x="57912" y="0"/>
                  <a:pt x="129413" y="0"/>
                </a:cubicBezTo>
                <a:lnTo>
                  <a:pt x="9141206" y="0"/>
                </a:lnTo>
                <a:cubicBezTo>
                  <a:pt x="9212707" y="0"/>
                  <a:pt x="9270619" y="57912"/>
                  <a:pt x="9270619" y="129413"/>
                </a:cubicBezTo>
                <a:lnTo>
                  <a:pt x="9270619" y="2607310"/>
                </a:lnTo>
                <a:cubicBezTo>
                  <a:pt x="9270619" y="2678811"/>
                  <a:pt x="9212707" y="2736723"/>
                  <a:pt x="9141206" y="2736723"/>
                </a:cubicBezTo>
                <a:lnTo>
                  <a:pt x="129413" y="2736723"/>
                </a:lnTo>
                <a:cubicBezTo>
                  <a:pt x="57912" y="2736723"/>
                  <a:pt x="0" y="2678684"/>
                  <a:pt x="0" y="260731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FFD36B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A036570-FFCF-4433-9974-7815FF27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461" y="5065157"/>
            <a:ext cx="6451560" cy="377861"/>
          </a:xfrm>
          <a:custGeom xmlns:a="http://schemas.openxmlformats.org/drawingml/2006/main">
            <a:rect l="l" t="t" r="r" b="b"/>
            <a:pathLst>
              <a:path w="8602080" h="503815">
                <a:moveTo>
                  <a:pt x="0" y="0"/>
                </a:moveTo>
                <a:lnTo>
                  <a:pt x="8602080" y="0"/>
                </a:lnTo>
                <a:lnTo>
                  <a:pt x="8602080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289092" r="0" b="-276277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9F953D6-2028-4DF7-BA9E-BFC7A80B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461" y="5043726"/>
            <a:ext cx="6451558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Player Matchmaking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627F9153-89DA-42E0-A44F-664291EA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903" y="5486000"/>
            <a:ext cx="6175753" cy="1047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70471" indent="-185236" algn="l">
              <a:lnSpc>
                <a:spcPts val="205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Phân tích lối chơi, mục tiêu, Elo và lịch rảnh để gợi ý đối thủ/đồng đội phù hợp.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1EE488E7-2487-43D6-A1A5-22C1F364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8219" y="4876228"/>
            <a:ext cx="6952964" cy="2052541"/>
          </a:xfrm>
          <a:custGeom xmlns:a="http://schemas.openxmlformats.org/drawingml/2006/main">
            <a:rect l="l" t="t" r="r" b="b"/>
            <a:pathLst>
              <a:path w="9270619" h="2736723">
                <a:moveTo>
                  <a:pt x="0" y="129413"/>
                </a:moveTo>
                <a:cubicBezTo>
                  <a:pt x="0" y="57912"/>
                  <a:pt x="57912" y="0"/>
                  <a:pt x="129413" y="0"/>
                </a:cubicBezTo>
                <a:lnTo>
                  <a:pt x="9141206" y="0"/>
                </a:lnTo>
                <a:cubicBezTo>
                  <a:pt x="9212707" y="0"/>
                  <a:pt x="9270619" y="57912"/>
                  <a:pt x="9270619" y="129413"/>
                </a:cubicBezTo>
                <a:lnTo>
                  <a:pt x="9270619" y="2607310"/>
                </a:lnTo>
                <a:cubicBezTo>
                  <a:pt x="9270619" y="2678811"/>
                  <a:pt x="9212707" y="2736723"/>
                  <a:pt x="9141206" y="2736723"/>
                </a:cubicBezTo>
                <a:lnTo>
                  <a:pt x="129413" y="2736723"/>
                </a:lnTo>
                <a:cubicBezTo>
                  <a:pt x="57912" y="2736723"/>
                  <a:pt x="0" y="2678684"/>
                  <a:pt x="0" y="2607310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D7FF00"/>
            </a:solidFill>
            <a:prstDash val="solid"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9B8779E-6497-4476-8691-53D28D63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784" y="5065157"/>
            <a:ext cx="6451560" cy="377861"/>
          </a:xfrm>
          <a:custGeom xmlns:a="http://schemas.openxmlformats.org/drawingml/2006/main">
            <a:rect l="l" t="t" r="r" b="b"/>
            <a:pathLst>
              <a:path w="8602080" h="503815">
                <a:moveTo>
                  <a:pt x="0" y="0"/>
                </a:moveTo>
                <a:lnTo>
                  <a:pt x="8602080" y="0"/>
                </a:lnTo>
                <a:lnTo>
                  <a:pt x="8602080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289092" r="0" b="-276277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B7E78A7-3026-462F-9B16-CCE0568B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5784" y="5043726"/>
            <a:ext cx="6451558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AI Fallback Local Scoring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D8A16E-3430-4EFE-B4EB-6471522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6236" y="5486000"/>
            <a:ext cx="6175753" cy="1047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5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Khi AI API mất kết nối, Backend dùng Keyword Overlap; recommendation vẫn hoạt động.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30753C0-A083-4A06-8FDA-1B53C47E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7511758"/>
            <a:ext cx="7090314" cy="1091755"/>
          </a:xfrm>
          <a:custGeom xmlns:a="http://schemas.openxmlformats.org/drawingml/2006/main">
            <a:rect l="l" t="t" r="r" b="b"/>
            <a:pathLst>
              <a:path w="9453752" h="1455674">
                <a:moveTo>
                  <a:pt x="0" y="130683"/>
                </a:moveTo>
                <a:cubicBezTo>
                  <a:pt x="0" y="58420"/>
                  <a:pt x="58420" y="0"/>
                  <a:pt x="130683" y="0"/>
                </a:cubicBezTo>
                <a:lnTo>
                  <a:pt x="9323070" y="0"/>
                </a:lnTo>
                <a:cubicBezTo>
                  <a:pt x="9395206" y="0"/>
                  <a:pt x="9453752" y="58420"/>
                  <a:pt x="9453752" y="130683"/>
                </a:cubicBezTo>
                <a:lnTo>
                  <a:pt x="9453752" y="1324991"/>
                </a:lnTo>
                <a:cubicBezTo>
                  <a:pt x="9453752" y="1397127"/>
                  <a:pt x="9395333" y="1455674"/>
                  <a:pt x="9323070" y="1455674"/>
                </a:cubicBezTo>
                <a:lnTo>
                  <a:pt x="130683" y="1455674"/>
                </a:lnTo>
                <a:cubicBezTo>
                  <a:pt x="58420" y="1455547"/>
                  <a:pt x="0" y="1397000"/>
                  <a:pt x="0" y="1324864"/>
                </a:cubicBezTo>
                <a:close/>
              </a:path>
            </a:pathLst>
          </a:custGeom>
          <a:solidFill xmlns:a="http://schemas.openxmlformats.org/drawingml/2006/main">
            <a:srgbClr val="0B2A44"/>
          </a:solidFill>
          <a:ln xmlns:a="http://schemas.openxmlformats.org/drawingml/2006/main" w="20971">
            <a:solidFill>
              <a:srgbClr val="48F6E5"/>
            </a:solidFill>
            <a:prstDash val="solid"/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B101840A-0BA6-4A8B-B469-4C4C0F30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6088" y="7686961"/>
            <a:ext cx="2470810" cy="377861"/>
          </a:xfrm>
          <a:custGeom xmlns:a="http://schemas.openxmlformats.org/drawingml/2006/main">
            <a:rect l="l" t="t" r="r" b="b"/>
            <a:pathLst>
              <a:path w="3294414" h="503815">
                <a:moveTo>
                  <a:pt x="0" y="0"/>
                </a:moveTo>
                <a:lnTo>
                  <a:pt x="3294414" y="0"/>
                </a:lnTo>
                <a:lnTo>
                  <a:pt x="3294414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83818" r="0" b="-71004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4E8F32F-6371-4E4A-922C-71E9D441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6088" y="7665530"/>
            <a:ext cx="2470814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Match Score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C453507F-48B6-4789-B4BF-A856C000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6088" y="7972591"/>
            <a:ext cx="6341746" cy="540463"/>
          </a:xfrm>
          <a:custGeom xmlns:a="http://schemas.openxmlformats.org/drawingml/2006/main">
            <a:rect l="l" t="t" r="r" b="b"/>
            <a:pathLst>
              <a:path w="8455662" h="720618">
                <a:moveTo>
                  <a:pt x="0" y="0"/>
                </a:moveTo>
                <a:lnTo>
                  <a:pt x="8455662" y="0"/>
                </a:lnTo>
                <a:lnTo>
                  <a:pt x="8455662" y="720618"/>
                </a:lnTo>
                <a:lnTo>
                  <a:pt x="0" y="72061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210856" r="0" b="-146414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13B47A34-838A-44E3-ADB0-B2BC5E0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6088" y="7958304"/>
            <a:ext cx="6341745" cy="554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1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15">
                <a:solidFill>
                  <a:srgbClr val="EEF4F7"/>
                </a:solidFill>
                <a:latin typeface="Arial"/>
                <a:ea typeface="Arial"/>
                <a:cs typeface="Arial"/>
              </a:rPr>
              <a:t>45% thông tin cứng · 30% khớp ý nghĩa AI · 15% cùng thời gian rảnh · 10% độ tin cậy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ABBB2083-9D7A-4BEF-AE4F-1D1016EE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0954" y="7511758"/>
            <a:ext cx="6774561" cy="1091755"/>
          </a:xfrm>
          <a:custGeom xmlns:a="http://schemas.openxmlformats.org/drawingml/2006/main">
            <a:rect l="l" t="t" r="r" b="b"/>
            <a:pathLst>
              <a:path w="9032748" h="1455674">
                <a:moveTo>
                  <a:pt x="0" y="130683"/>
                </a:moveTo>
                <a:cubicBezTo>
                  <a:pt x="0" y="58420"/>
                  <a:pt x="58420" y="0"/>
                  <a:pt x="130683" y="0"/>
                </a:cubicBezTo>
                <a:lnTo>
                  <a:pt x="8902065" y="0"/>
                </a:lnTo>
                <a:cubicBezTo>
                  <a:pt x="8974201" y="0"/>
                  <a:pt x="9032748" y="58420"/>
                  <a:pt x="9032748" y="130683"/>
                </a:cubicBezTo>
                <a:lnTo>
                  <a:pt x="9032748" y="1324991"/>
                </a:lnTo>
                <a:cubicBezTo>
                  <a:pt x="9032748" y="1397127"/>
                  <a:pt x="8974328" y="1455674"/>
                  <a:pt x="8902065" y="1455674"/>
                </a:cubicBezTo>
                <a:lnTo>
                  <a:pt x="130683" y="1455674"/>
                </a:lnTo>
                <a:cubicBezTo>
                  <a:pt x="58420" y="1455547"/>
                  <a:pt x="0" y="1397000"/>
                  <a:pt x="0" y="1324864"/>
                </a:cubicBezTo>
                <a:close/>
              </a:path>
            </a:pathLst>
          </a:custGeom>
          <a:solidFill xmlns:a="http://schemas.openxmlformats.org/drawingml/2006/main">
            <a:srgbClr val="0B2A44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3D9CEC6E-2213-4313-BFF0-C20F60E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882" y="7638541"/>
            <a:ext cx="1921741" cy="377861"/>
          </a:xfrm>
          <a:custGeom xmlns:a="http://schemas.openxmlformats.org/drawingml/2006/main">
            <a:rect l="l" t="t" r="r" b="b"/>
            <a:pathLst>
              <a:path w="2562322" h="503815">
                <a:moveTo>
                  <a:pt x="0" y="0"/>
                </a:moveTo>
                <a:lnTo>
                  <a:pt x="2562322" y="0"/>
                </a:lnTo>
                <a:lnTo>
                  <a:pt x="2562322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55505" r="0" b="-42690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371EE4A4-819A-45C3-AD15-E1F59E6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882" y="7617110"/>
            <a:ext cx="1921745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AI Goal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88D9C0A1-4F31-42FC-ABFA-50A7A67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882" y="8016402"/>
            <a:ext cx="6012305" cy="496653"/>
          </a:xfrm>
          <a:custGeom xmlns:a="http://schemas.openxmlformats.org/drawingml/2006/main">
            <a:rect l="l" t="t" r="r" b="b"/>
            <a:pathLst>
              <a:path w="8016407" h="662204">
                <a:moveTo>
                  <a:pt x="0" y="0"/>
                </a:moveTo>
                <a:lnTo>
                  <a:pt x="8016407" y="0"/>
                </a:lnTo>
                <a:lnTo>
                  <a:pt x="8016407" y="662204"/>
                </a:lnTo>
                <a:lnTo>
                  <a:pt x="0" y="66220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216531" r="0" b="-155226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DE16DEDC-6F14-45D9-B3BA-969597AF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0882" y="8002115"/>
            <a:ext cx="6012304" cy="5109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699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415">
                <a:solidFill>
                  <a:srgbClr val="EEF4F7"/>
                </a:solidFill>
                <a:latin typeface="Arial"/>
                <a:ea typeface="Arial"/>
                <a:cs typeface="Arial"/>
              </a:rPr>
              <a:t>Hiểu nhu cầu → chấm điểm → gợi ý nhanh → fallback khi AI lỗi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410F6EA-E86F-4F5F-9307-651F464D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24362"/>
            <a:ext cx="15236663" cy="414483"/>
          </a:xfrm>
          <a:custGeom xmlns:a="http://schemas.openxmlformats.org/drawingml/2006/main">
            <a:rect l="l" t="t" r="r" b="b"/>
            <a:pathLst>
              <a:path w="20315552" h="552645">
                <a:moveTo>
                  <a:pt x="0" y="0"/>
                </a:moveTo>
                <a:lnTo>
                  <a:pt x="20315552" y="0"/>
                </a:lnTo>
                <a:lnTo>
                  <a:pt x="20315552" y="552645"/>
                </a:lnTo>
                <a:lnTo>
                  <a:pt x="0" y="55264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87a7c48a4364d92">
              <a:alphaModFix amt="0"/>
            </a:blip>
            <a:stretch>
              <a:fillRect l="0" t="-679852" r="0" b="-652711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95BA4454-AF9E-4AF4-BA62-29EF0DA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17219"/>
            <a:ext cx="15236666" cy="4216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User Input → AI Understanding → Match Score → Recommendation → Fallback</a:t>
            </a:r>
          </a:p>
        </p:txBody>
      </p:sp>
    </p:spTree>
    <p:extLst>
      <p:ext uri="{BB962C8B-B14F-4D97-AF65-F5344CB8AC3E}">
        <p14:creationId xmlns:p14="http://schemas.microsoft.com/office/powerpoint/2010/main" val="1591164087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4C5A687-FCA6-40B0-9DB9-18F1CF9C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25" y="-9525"/>
            <a:ext cx="128778" cy="10306050"/>
          </a:xfrm>
          <a:custGeom xmlns:a="http://schemas.openxmlformats.org/drawingml/2006/main">
            <a:rect l="l" t="t" r="r" b="b"/>
            <a:pathLst>
              <a:path w="171704" h="13741400">
                <a:moveTo>
                  <a:pt x="0" y="0"/>
                </a:moveTo>
                <a:lnTo>
                  <a:pt x="171704" y="0"/>
                </a:lnTo>
                <a:lnTo>
                  <a:pt x="171704" y="13741400"/>
                </a:lnTo>
                <a:lnTo>
                  <a:pt x="0" y="13741400"/>
                </a:lnTo>
                <a:close/>
              </a:path>
            </a:pathLst>
          </a:custGeom>
          <a:solidFill xmlns:a="http://schemas.openxmlformats.org/drawingml/2006/main">
            <a:srgbClr val="B9FF2C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EA533BE-6F71-4833-BA99-EBAA0781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67" y="-9525"/>
            <a:ext cx="1555242" cy="10306050"/>
          </a:xfrm>
          <a:custGeom xmlns:a="http://schemas.openxmlformats.org/drawingml/2006/main">
            <a:rect l="l" t="t" r="r" b="b"/>
            <a:pathLst>
              <a:path w="2073656" h="13741400">
                <a:moveTo>
                  <a:pt x="0" y="0"/>
                </a:moveTo>
                <a:lnTo>
                  <a:pt x="2073656" y="0"/>
                </a:lnTo>
                <a:lnTo>
                  <a:pt x="2073656" y="13741400"/>
                </a:lnTo>
                <a:lnTo>
                  <a:pt x="0" y="13741400"/>
                </a:lnTo>
                <a:close/>
              </a:path>
            </a:pathLst>
          </a:custGeom>
          <a:solidFill xmlns:a="http://schemas.openxmlformats.org/drawingml/2006/main">
            <a:srgbClr val="082B49">
              <a:alpha val="92157"/>
            </a:srgbClr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28FD256-13E3-42DF-A775-A7D69DAD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1259" y="-9525"/>
            <a:ext cx="46482" cy="10306050"/>
          </a:xfrm>
          <a:custGeom xmlns:a="http://schemas.openxmlformats.org/drawingml/2006/main">
            <a:rect l="l" t="t" r="r" b="b"/>
            <a:pathLst>
              <a:path w="61976" h="13741400">
                <a:moveTo>
                  <a:pt x="0" y="0"/>
                </a:moveTo>
                <a:lnTo>
                  <a:pt x="61976" y="0"/>
                </a:lnTo>
                <a:lnTo>
                  <a:pt x="61976" y="13741400"/>
                </a:lnTo>
                <a:lnTo>
                  <a:pt x="0" y="13741400"/>
                </a:lnTo>
                <a:close/>
              </a:path>
            </a:pathLst>
          </a:custGeom>
          <a:solidFill xmlns:a="http://schemas.openxmlformats.org/drawingml/2006/main">
            <a:srgbClr val="0F4265"/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BFFD6FEF-683F-49B9-8958-6D273040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399" y="237363"/>
            <a:ext cx="773430" cy="773430"/>
          </a:xfrm>
          <a:custGeom xmlns:a="http://schemas.openxmlformats.org/drawingml/2006/main">
            <a:rect l="l" t="t" r="r" b="b"/>
            <a:pathLst>
              <a:path w="1031240" h="1031240">
                <a:moveTo>
                  <a:pt x="0" y="0"/>
                </a:moveTo>
                <a:lnTo>
                  <a:pt x="1031240" y="0"/>
                </a:lnTo>
                <a:lnTo>
                  <a:pt x="1031240" y="1031240"/>
                </a:lnTo>
                <a:lnTo>
                  <a:pt x="0" y="1031240"/>
                </a:lnTo>
                <a:close/>
              </a:path>
            </a:pathLst>
          </a:custGeom>
          <a:solidFill xmlns:a="http://schemas.openxmlformats.org/drawingml/2006/main">
            <a:srgbClr val="B9FF2C"/>
          </a:solid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7FDFB41-3F14-4701-BD45-56EBD795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924" y="466344"/>
            <a:ext cx="754380" cy="246888"/>
          </a:xfrm>
          <a:custGeom xmlns:a="http://schemas.openxmlformats.org/drawingml/2006/main">
            <a:rect l="l" t="t" r="r" b="b"/>
            <a:pathLst>
              <a:path w="1005840" h="329184">
                <a:moveTo>
                  <a:pt x="0" y="0"/>
                </a:moveTo>
                <a:lnTo>
                  <a:pt x="1005840" y="0"/>
                </a:lnTo>
                <a:lnTo>
                  <a:pt x="1005840" y="329184"/>
                </a:lnTo>
                <a:lnTo>
                  <a:pt x="0" y="32918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9537" r="0" b="-9537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B8E103-15BA-4682-BDB8-544C0510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924" y="466344"/>
            <a:ext cx="754380" cy="2468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34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844B691-927D-4351-8C19-19785321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7299" y="1829848"/>
            <a:ext cx="15667577" cy="19050"/>
          </a:xfrm>
          <a:custGeom xmlns:a="http://schemas.openxmlformats.org/drawingml/2006/main">
            <a:rect l="l" t="t" r="r" b="b"/>
            <a:pathLst>
              <a:path w="20890103" h="25400">
                <a:moveTo>
                  <a:pt x="0" y="0"/>
                </a:moveTo>
                <a:lnTo>
                  <a:pt x="20890103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5975273" r="0" b="-15975373"/>
            </a:stretch>
          </a:blipFill>
          <a:ln xmlns:a="http://schemas.openxmlformats.org/drawingml/2006/main" w="19065">
            <a:solidFill>
              <a:srgbClr val="285B7A"/>
            </a:solidFill>
            <a:prstDash val="solid"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D96DD8A-678A-4425-94B4-4CC93617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66706"/>
            <a:ext cx="14824862" cy="617702"/>
          </a:xfrm>
          <a:custGeom xmlns:a="http://schemas.openxmlformats.org/drawingml/2006/main">
            <a:rect l="l" t="t" r="r" b="b"/>
            <a:pathLst>
              <a:path w="19766483" h="823603">
                <a:moveTo>
                  <a:pt x="0" y="0"/>
                </a:moveTo>
                <a:lnTo>
                  <a:pt x="19766483" y="0"/>
                </a:lnTo>
                <a:lnTo>
                  <a:pt x="19766483" y="823603"/>
                </a:lnTo>
                <a:lnTo>
                  <a:pt x="0" y="8236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417640" r="0" b="-417641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17BA6D4-01BB-4A13-88C4-EDE4E14F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3108" y="445275"/>
            <a:ext cx="14824862" cy="6391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413"/>
              </a:lnSpc>
              <a:buNone/>
              <a:defRPr sz="3677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77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Flow 4: Operations &amp; Analytics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A55BF44-5382-4831-994F-289D623A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9128"/>
            <a:ext cx="14824862" cy="356895"/>
          </a:xfrm>
          <a:custGeom xmlns:a="http://schemas.openxmlformats.org/drawingml/2006/main">
            <a:rect l="l" t="t" r="r" b="b"/>
            <a:pathLst>
              <a:path w="19766483" h="475860">
                <a:moveTo>
                  <a:pt x="0" y="0"/>
                </a:moveTo>
                <a:lnTo>
                  <a:pt x="19766483" y="0"/>
                </a:lnTo>
                <a:lnTo>
                  <a:pt x="19766483" y="475860"/>
                </a:lnTo>
                <a:lnTo>
                  <a:pt x="0" y="4758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759378" r="0" b="-759378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4A96E2E-D369-42E4-BD20-003EACF5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4284" y="1241985"/>
            <a:ext cx="14824862" cy="3640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Một dashboard nối vận hành hằng ngày với quyết định doanh thu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EB26805-82A4-45FA-8A86-A1234A59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2254425"/>
            <a:ext cx="4688014" cy="3315367"/>
          </a:xfrm>
          <a:custGeom xmlns:a="http://schemas.openxmlformats.org/drawingml/2006/main">
            <a:rect l="l" t="t" r="r" b="b"/>
            <a:pathLst>
              <a:path w="6250686" h="4420489">
                <a:moveTo>
                  <a:pt x="0" y="128905"/>
                </a:moveTo>
                <a:cubicBezTo>
                  <a:pt x="0" y="57785"/>
                  <a:pt x="57785" y="0"/>
                  <a:pt x="128905" y="0"/>
                </a:cubicBezTo>
                <a:lnTo>
                  <a:pt x="6121781" y="0"/>
                </a:lnTo>
                <a:cubicBezTo>
                  <a:pt x="6193028" y="0"/>
                  <a:pt x="6250686" y="57785"/>
                  <a:pt x="6250686" y="128905"/>
                </a:cubicBezTo>
                <a:lnTo>
                  <a:pt x="6250686" y="4291584"/>
                </a:lnTo>
                <a:cubicBezTo>
                  <a:pt x="6250686" y="4362831"/>
                  <a:pt x="6192901" y="4420489"/>
                  <a:pt x="6121781" y="4420489"/>
                </a:cubicBezTo>
                <a:lnTo>
                  <a:pt x="128905" y="4420489"/>
                </a:lnTo>
                <a:cubicBezTo>
                  <a:pt x="57785" y="4420489"/>
                  <a:pt x="0" y="4362831"/>
                  <a:pt x="0" y="4291584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FFB7FD88-824A-4E1E-8037-56A97ABC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000" y="2443353"/>
            <a:ext cx="4227830" cy="377861"/>
          </a:xfrm>
          <a:custGeom xmlns:a="http://schemas.openxmlformats.org/drawingml/2006/main">
            <a:rect l="l" t="t" r="r" b="b"/>
            <a:pathLst>
              <a:path w="5637108" h="503815">
                <a:moveTo>
                  <a:pt x="0" y="0"/>
                </a:moveTo>
                <a:lnTo>
                  <a:pt x="5637108" y="0"/>
                </a:lnTo>
                <a:lnTo>
                  <a:pt x="5637108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74422" r="0" b="-161607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C241BC-B68B-4977-AA9D-068DEC9A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0000" y="2421922"/>
            <a:ext cx="4227833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1. Staff Dashboard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11F3A08C-DABA-4BAD-859D-AD39C552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3001" y="2891647"/>
            <a:ext cx="4171655" cy="20919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70471" indent="-185236" algn="l">
              <a:lnSpc>
                <a:spcPts val="205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Theo dõi booking hôm nay, check-in nhanh, ghi nhận sự cố sân và lịch bảo trì.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7D3899F8-8249-4A1C-AB17-632ABB51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0140" y="2254425"/>
            <a:ext cx="4619434" cy="3315367"/>
          </a:xfrm>
          <a:custGeom xmlns:a="http://schemas.openxmlformats.org/drawingml/2006/main">
            <a:rect l="l" t="t" r="r" b="b"/>
            <a:pathLst>
              <a:path w="6159246" h="4420489">
                <a:moveTo>
                  <a:pt x="0" y="128905"/>
                </a:moveTo>
                <a:cubicBezTo>
                  <a:pt x="0" y="57785"/>
                  <a:pt x="57785" y="0"/>
                  <a:pt x="128905" y="0"/>
                </a:cubicBezTo>
                <a:lnTo>
                  <a:pt x="6030341" y="0"/>
                </a:lnTo>
                <a:cubicBezTo>
                  <a:pt x="6101588" y="0"/>
                  <a:pt x="6159246" y="57785"/>
                  <a:pt x="6159246" y="128905"/>
                </a:cubicBezTo>
                <a:lnTo>
                  <a:pt x="6159246" y="4291584"/>
                </a:lnTo>
                <a:cubicBezTo>
                  <a:pt x="6159246" y="4362831"/>
                  <a:pt x="6101461" y="4420489"/>
                  <a:pt x="6030341" y="4420489"/>
                </a:cubicBezTo>
                <a:lnTo>
                  <a:pt x="128905" y="4420489"/>
                </a:lnTo>
                <a:cubicBezTo>
                  <a:pt x="57785" y="4420489"/>
                  <a:pt x="0" y="4362831"/>
                  <a:pt x="0" y="4291584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B52D9EFE-AF3F-467B-88EA-2FCD462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0255" y="2443353"/>
            <a:ext cx="4159196" cy="377861"/>
          </a:xfrm>
          <a:custGeom xmlns:a="http://schemas.openxmlformats.org/drawingml/2006/main">
            <a:rect l="l" t="t" r="r" b="b"/>
            <a:pathLst>
              <a:path w="5545596" h="503815">
                <a:moveTo>
                  <a:pt x="0" y="0"/>
                </a:moveTo>
                <a:lnTo>
                  <a:pt x="5545596" y="0"/>
                </a:lnTo>
                <a:lnTo>
                  <a:pt x="5545596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70882" r="0" b="-158068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79EC4D4C-CC4C-4748-8993-03EE6A5B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0255" y="2421922"/>
            <a:ext cx="4159196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2. AI Promotion Forecast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97F9CF4E-3581-4E21-9F93-34479098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3256" y="2891647"/>
            <a:ext cx="4103018" cy="1830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70471" indent="-185236" algn="l">
              <a:lnSpc>
                <a:spcPts val="205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Phân tích khung giờ ít khách, đề xuất voucher/khuyến mãi cá nhân hóa để tăng occupancy.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3F0BE3A1-2F80-4242-9043-86465967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1767" y="2254425"/>
            <a:ext cx="4893945" cy="3315367"/>
          </a:xfrm>
          <a:custGeom xmlns:a="http://schemas.openxmlformats.org/drawingml/2006/main">
            <a:rect l="l" t="t" r="r" b="b"/>
            <a:pathLst>
              <a:path w="6525260" h="4420489">
                <a:moveTo>
                  <a:pt x="0" y="128905"/>
                </a:moveTo>
                <a:cubicBezTo>
                  <a:pt x="0" y="57785"/>
                  <a:pt x="57785" y="0"/>
                  <a:pt x="128905" y="0"/>
                </a:cubicBezTo>
                <a:lnTo>
                  <a:pt x="6396355" y="0"/>
                </a:lnTo>
                <a:cubicBezTo>
                  <a:pt x="6467602" y="0"/>
                  <a:pt x="6525260" y="57785"/>
                  <a:pt x="6525260" y="128905"/>
                </a:cubicBezTo>
                <a:lnTo>
                  <a:pt x="6525260" y="4291584"/>
                </a:lnTo>
                <a:cubicBezTo>
                  <a:pt x="6525260" y="4362831"/>
                  <a:pt x="6467475" y="4420489"/>
                  <a:pt x="6396355" y="4420489"/>
                </a:cubicBezTo>
                <a:lnTo>
                  <a:pt x="128905" y="4420489"/>
                </a:lnTo>
                <a:cubicBezTo>
                  <a:pt x="57785" y="4420489"/>
                  <a:pt x="0" y="4362831"/>
                  <a:pt x="0" y="4291584"/>
                </a:cubicBezTo>
                <a:close/>
              </a:path>
            </a:pathLst>
          </a:custGeom>
          <a:solidFill xmlns:a="http://schemas.openxmlformats.org/drawingml/2006/main">
            <a:srgbClr val="0E3857"/>
          </a:solidFill>
          <a:ln xmlns:a="http://schemas.openxmlformats.org/drawingml/2006/main" w="20971">
            <a:solidFill>
              <a:srgbClr val="2F7196"/>
            </a:solidFill>
            <a:prstDash val="solid"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9263647-6E2A-4006-8CFD-4948A887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1882" y="2443353"/>
            <a:ext cx="4433732" cy="377861"/>
          </a:xfrm>
          <a:custGeom xmlns:a="http://schemas.openxmlformats.org/drawingml/2006/main">
            <a:rect l="l" t="t" r="r" b="b"/>
            <a:pathLst>
              <a:path w="5911643" h="503815">
                <a:moveTo>
                  <a:pt x="0" y="0"/>
                </a:moveTo>
                <a:lnTo>
                  <a:pt x="5911643" y="0"/>
                </a:lnTo>
                <a:lnTo>
                  <a:pt x="5911643" y="503815"/>
                </a:lnTo>
                <a:lnTo>
                  <a:pt x="0" y="50381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85039" r="0" b="-172225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04C80E5-0A7D-4B2E-87AE-14C1599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1882" y="2421922"/>
            <a:ext cx="4433735" cy="3992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2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85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3. Analytics Board</a:t>
            </a:r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33D7ACFD-305E-4736-A72B-C37F85DD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44873" y="2891647"/>
            <a:ext cx="4377557" cy="18304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70471" indent="-185236" algn="l">
              <a:lnSpc>
                <a:spcPts val="2059"/>
              </a:lnSpc>
              <a:buChar char="•"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15">
                <a:solidFill>
                  <a:srgbClr val="EEF4F7"/>
                </a:solidFill>
                <a:latin typeface="Arial"/>
                <a:ea typeface="Arial"/>
                <a:cs typeface="Arial"/>
              </a:rPr>
              <a:t>Tổng hợp doanh thu sân/Coach/giải đấu, tỷ lệ lấp đầy và người dùng mới.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21779149-D90C-4D5F-A59B-3464047A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9886" y="6235170"/>
            <a:ext cx="4688014" cy="1874043"/>
          </a:xfrm>
          <a:custGeom xmlns:a="http://schemas.openxmlformats.org/drawingml/2006/main">
            <a:rect l="l" t="t" r="r" b="b"/>
            <a:pathLst>
              <a:path w="6250686" h="2498725">
                <a:moveTo>
                  <a:pt x="0" y="129540"/>
                </a:moveTo>
                <a:cubicBezTo>
                  <a:pt x="0" y="58039"/>
                  <a:pt x="58039" y="0"/>
                  <a:pt x="129540" y="0"/>
                </a:cubicBezTo>
                <a:lnTo>
                  <a:pt x="6121146" y="0"/>
                </a:lnTo>
                <a:cubicBezTo>
                  <a:pt x="6192647" y="0"/>
                  <a:pt x="6250686" y="58039"/>
                  <a:pt x="6250686" y="129540"/>
                </a:cubicBezTo>
                <a:lnTo>
                  <a:pt x="6250686" y="2369185"/>
                </a:lnTo>
                <a:cubicBezTo>
                  <a:pt x="6250686" y="2440686"/>
                  <a:pt x="6192647" y="2498725"/>
                  <a:pt x="6121146" y="2498725"/>
                </a:cubicBezTo>
                <a:lnTo>
                  <a:pt x="129540" y="2498725"/>
                </a:lnTo>
                <a:cubicBezTo>
                  <a:pt x="58039" y="2498725"/>
                  <a:pt x="0" y="2440686"/>
                  <a:pt x="0" y="2369185"/>
                </a:cubicBezTo>
                <a:close/>
              </a:path>
            </a:pathLst>
          </a:custGeom>
          <a:solidFill xmlns:a="http://schemas.openxmlformats.org/drawingml/2006/main">
            <a:srgbClr val="0B2A44"/>
          </a:solidFill>
          <a:ln xmlns:a="http://schemas.openxmlformats.org/drawingml/2006/main" w="20971">
            <a:solidFill>
              <a:srgbClr val="B9FF2C"/>
            </a:solidFill>
            <a:prstDash val="solid"/>
          </a:ln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00DA4B6-B475-4BC6-817F-8B5BF687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539" y="6520196"/>
            <a:ext cx="3980750" cy="329441"/>
          </a:xfrm>
          <a:custGeom xmlns:a="http://schemas.openxmlformats.org/drawingml/2006/main">
            <a:rect l="l" t="t" r="r" b="b"/>
            <a:pathLst>
              <a:path w="5307667" h="439255">
                <a:moveTo>
                  <a:pt x="0" y="0"/>
                </a:moveTo>
                <a:lnTo>
                  <a:pt x="5307667" y="0"/>
                </a:lnTo>
                <a:lnTo>
                  <a:pt x="5307667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85444" r="0" b="-185444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A7F1B967-6683-4F95-8E8E-77E91472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539" y="6505909"/>
            <a:ext cx="3980755" cy="343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Operation Value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DB4C45E4-7205-4BEB-899B-7999079B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684" y="6963938"/>
            <a:ext cx="3870935" cy="866293"/>
          </a:xfrm>
          <a:custGeom xmlns:a="http://schemas.openxmlformats.org/drawingml/2006/main">
            <a:rect l="l" t="t" r="r" b="b"/>
            <a:pathLst>
              <a:path w="5161248" h="1155058">
                <a:moveTo>
                  <a:pt x="0" y="0"/>
                </a:moveTo>
                <a:lnTo>
                  <a:pt x="5161248" y="0"/>
                </a:lnTo>
                <a:lnTo>
                  <a:pt x="5161248" y="1155058"/>
                </a:lnTo>
                <a:lnTo>
                  <a:pt x="0" y="11550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56960" r="0" b="-17172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FCCC5D59-150E-4DA1-A0B6-775DE039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7684" y="6949651"/>
            <a:ext cx="3870931" cy="880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30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Staff/Admin quản lý booking, check-in, sự cố và bảo trì trên một hệ thống.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40BF4253-5476-4D4A-9993-B3189329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0140" y="6235170"/>
            <a:ext cx="4619434" cy="1874043"/>
          </a:xfrm>
          <a:custGeom xmlns:a="http://schemas.openxmlformats.org/drawingml/2006/main">
            <a:rect l="l" t="t" r="r" b="b"/>
            <a:pathLst>
              <a:path w="6159246" h="2498725">
                <a:moveTo>
                  <a:pt x="0" y="129540"/>
                </a:moveTo>
                <a:cubicBezTo>
                  <a:pt x="0" y="58039"/>
                  <a:pt x="58039" y="0"/>
                  <a:pt x="129540" y="0"/>
                </a:cubicBezTo>
                <a:lnTo>
                  <a:pt x="6029706" y="0"/>
                </a:lnTo>
                <a:cubicBezTo>
                  <a:pt x="6101207" y="0"/>
                  <a:pt x="6159246" y="58039"/>
                  <a:pt x="6159246" y="129540"/>
                </a:cubicBezTo>
                <a:lnTo>
                  <a:pt x="6159246" y="2369185"/>
                </a:lnTo>
                <a:cubicBezTo>
                  <a:pt x="6159246" y="2440686"/>
                  <a:pt x="6101207" y="2498725"/>
                  <a:pt x="6029706" y="2498725"/>
                </a:cubicBezTo>
                <a:lnTo>
                  <a:pt x="129540" y="2498725"/>
                </a:lnTo>
                <a:cubicBezTo>
                  <a:pt x="58039" y="2498725"/>
                  <a:pt x="0" y="2440686"/>
                  <a:pt x="0" y="2369185"/>
                </a:cubicBezTo>
                <a:close/>
              </a:path>
            </a:pathLst>
          </a:custGeom>
          <a:solidFill xmlns:a="http://schemas.openxmlformats.org/drawingml/2006/main">
            <a:srgbClr val="0B2A44"/>
          </a:solidFill>
          <a:ln xmlns:a="http://schemas.openxmlformats.org/drawingml/2006/main" w="20971">
            <a:solidFill>
              <a:srgbClr val="48F6E5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5685995-15C8-49DE-B208-C268F064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94" y="6520196"/>
            <a:ext cx="3912116" cy="329441"/>
          </a:xfrm>
          <a:custGeom xmlns:a="http://schemas.openxmlformats.org/drawingml/2006/main">
            <a:rect l="l" t="t" r="r" b="b"/>
            <a:pathLst>
              <a:path w="5216155" h="439255">
                <a:moveTo>
                  <a:pt x="0" y="0"/>
                </a:moveTo>
                <a:lnTo>
                  <a:pt x="5216155" y="0"/>
                </a:lnTo>
                <a:lnTo>
                  <a:pt x="5216155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81384" r="0" b="-181384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69A48542-8323-42A9-9DD0-70D00B23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94" y="6505909"/>
            <a:ext cx="3912118" cy="343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Revenue Value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9666D43D-3E6A-4ED3-B110-241E72D6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7524" y="6963938"/>
            <a:ext cx="3816029" cy="866293"/>
          </a:xfrm>
          <a:custGeom xmlns:a="http://schemas.openxmlformats.org/drawingml/2006/main">
            <a:rect l="l" t="t" r="r" b="b"/>
            <a:pathLst>
              <a:path w="5088039" h="1155058">
                <a:moveTo>
                  <a:pt x="0" y="0"/>
                </a:moveTo>
                <a:lnTo>
                  <a:pt x="5088039" y="0"/>
                </a:lnTo>
                <a:lnTo>
                  <a:pt x="5088039" y="1155058"/>
                </a:lnTo>
                <a:lnTo>
                  <a:pt x="0" y="11550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55725" r="0" b="-15937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DEBBC67E-7D27-457A-B6F9-53FB131A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7524" y="6949651"/>
            <a:ext cx="3816029" cy="880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30">
                <a:solidFill>
                  <a:srgbClr val="EEF4F7"/>
                </a:solidFill>
                <a:latin typeface="Arial"/>
                <a:ea typeface="Arial"/>
                <a:cs typeface="Arial"/>
              </a:rPr>
              <a:t>Theo dõi doanh thu, occupancy và hiệu quả promotion.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8D01C468-8138-40C7-B83A-84A87BFA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31767" y="6235170"/>
            <a:ext cx="4893945" cy="1874043"/>
          </a:xfrm>
          <a:custGeom xmlns:a="http://schemas.openxmlformats.org/drawingml/2006/main">
            <a:rect l="l" t="t" r="r" b="b"/>
            <a:pathLst>
              <a:path w="6525260" h="2498725">
                <a:moveTo>
                  <a:pt x="0" y="129540"/>
                </a:moveTo>
                <a:cubicBezTo>
                  <a:pt x="0" y="58039"/>
                  <a:pt x="58039" y="0"/>
                  <a:pt x="129540" y="0"/>
                </a:cubicBezTo>
                <a:lnTo>
                  <a:pt x="6395720" y="0"/>
                </a:lnTo>
                <a:cubicBezTo>
                  <a:pt x="6467221" y="0"/>
                  <a:pt x="6525260" y="58039"/>
                  <a:pt x="6525260" y="129540"/>
                </a:cubicBezTo>
                <a:lnTo>
                  <a:pt x="6525260" y="2369185"/>
                </a:lnTo>
                <a:cubicBezTo>
                  <a:pt x="6525260" y="2440686"/>
                  <a:pt x="6467221" y="2498725"/>
                  <a:pt x="6395720" y="2498725"/>
                </a:cubicBezTo>
                <a:lnTo>
                  <a:pt x="129540" y="2498725"/>
                </a:lnTo>
                <a:cubicBezTo>
                  <a:pt x="58039" y="2498725"/>
                  <a:pt x="0" y="2440686"/>
                  <a:pt x="0" y="2369185"/>
                </a:cubicBezTo>
                <a:close/>
              </a:path>
            </a:pathLst>
          </a:custGeom>
          <a:solidFill xmlns:a="http://schemas.openxmlformats.org/drawingml/2006/main">
            <a:srgbClr val="0B2A44"/>
          </a:solidFill>
          <a:ln xmlns:a="http://schemas.openxmlformats.org/drawingml/2006/main" w="20971">
            <a:solidFill>
              <a:srgbClr val="FFD36B"/>
            </a:solidFill>
            <a:prstDash val="solid"/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F0DCB51-A5FE-475F-B857-18F4F59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421" y="6520196"/>
            <a:ext cx="4090563" cy="329441"/>
          </a:xfrm>
          <a:custGeom xmlns:a="http://schemas.openxmlformats.org/drawingml/2006/main">
            <a:rect l="l" t="t" r="r" b="b"/>
            <a:pathLst>
              <a:path w="5454085" h="439255">
                <a:moveTo>
                  <a:pt x="0" y="0"/>
                </a:moveTo>
                <a:lnTo>
                  <a:pt x="5454085" y="0"/>
                </a:lnTo>
                <a:lnTo>
                  <a:pt x="5454085" y="439255"/>
                </a:lnTo>
                <a:lnTo>
                  <a:pt x="0" y="439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191939" r="0" b="-191939"/>
            </a:stretch>
          </a:blipFill>
        </p:spPr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2A42176C-B84C-484A-A98A-6032DFE8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421" y="6505909"/>
            <a:ext cx="4090568" cy="343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98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165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AI Value</a:t>
            </a:r>
          </a:p>
        </p:txBody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743A5F03-24BF-4740-8F0F-F15303B8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421" y="6963938"/>
            <a:ext cx="4063111" cy="866293"/>
          </a:xfrm>
          <a:custGeom xmlns:a="http://schemas.openxmlformats.org/drawingml/2006/main">
            <a:rect l="l" t="t" r="r" b="b"/>
            <a:pathLst>
              <a:path w="5417481" h="1155058">
                <a:moveTo>
                  <a:pt x="0" y="0"/>
                </a:moveTo>
                <a:lnTo>
                  <a:pt x="5417481" y="0"/>
                </a:lnTo>
                <a:lnTo>
                  <a:pt x="5417481" y="1155058"/>
                </a:lnTo>
                <a:lnTo>
                  <a:pt x="0" y="115505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61282" r="0" b="-21495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A16B2064-CDB4-43EE-8849-A4A18A8F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5421" y="6949651"/>
            <a:ext cx="4063108" cy="880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77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30">
                <a:solidFill>
                  <a:srgbClr val="EEF4F7"/>
                </a:solidFill>
                <a:latin typeface="Arial"/>
                <a:ea typeface="Arial"/>
                <a:cs typeface="Arial"/>
              </a:rPr>
              <a:t>Hỗ trợ recommendation, promotion và quyết định dựa trên dữ liệu.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E102DBD9-749E-42B7-B800-E4836A56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24362"/>
            <a:ext cx="15236663" cy="414483"/>
          </a:xfrm>
          <a:custGeom xmlns:a="http://schemas.openxmlformats.org/drawingml/2006/main">
            <a:rect l="l" t="t" r="r" b="b"/>
            <a:pathLst>
              <a:path w="20315552" h="552645">
                <a:moveTo>
                  <a:pt x="0" y="0"/>
                </a:moveTo>
                <a:lnTo>
                  <a:pt x="20315552" y="0"/>
                </a:lnTo>
                <a:lnTo>
                  <a:pt x="20315552" y="552645"/>
                </a:lnTo>
                <a:lnTo>
                  <a:pt x="0" y="55264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27f5166f884a99">
              <a:alphaModFix amt="0"/>
            </a:blip>
            <a:stretch>
              <a:fillRect l="0" t="-679852" r="0" b="-652711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1C4B8695-E4C1-42FC-A344-115034D5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373" y="9217219"/>
            <a:ext cx="15236666" cy="4216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 Operations → Incident Report → AI Promotion → Revenue Dashboard → Admin Decision</a:t>
            </a:r>
          </a:p>
        </p:txBody>
      </p:sp>
    </p:spTree>
    <p:extLst>
      <p:ext uri="{BB962C8B-B14F-4D97-AF65-F5344CB8AC3E}">
        <p14:creationId xmlns:p14="http://schemas.microsoft.com/office/powerpoint/2010/main" val="430269612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184FEE8-C6CA-4ED7-804D-E8B37BFE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0615DF4-7947-4693-A15C-B40DE70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DDE7E35-729C-4DEB-B597-62202720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5045"/>
          </a:xfrm>
          <a:custGeom xmlns:a="http://schemas.openxmlformats.org/drawingml/2006/main">
            <a:rect l="l" t="t" r="r" b="b"/>
            <a:pathLst>
              <a:path w="18119275" h="980060">
                <a:moveTo>
                  <a:pt x="0" y="0"/>
                </a:moveTo>
                <a:lnTo>
                  <a:pt x="18119275" y="0"/>
                </a:lnTo>
                <a:lnTo>
                  <a:pt x="18119275" y="980060"/>
                </a:lnTo>
                <a:lnTo>
                  <a:pt x="0" y="9800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315418" r="0" b="-305057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D3A2E3A-EED2-4CE5-859B-320D605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5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Control, Checking &amp; Benefits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6C8BDFCB-8CBF-425F-AB2D-28864C79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C83E3099-77B7-411A-9370-C62EF48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AI chỉ đề xuất; luật nghiệp vụ và Admin kiểm soát quyết định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AABE1ED9-B454-4E7C-92CE-2B1B3871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4C2EF76-F02B-4060-8875-3AB3678D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884759"/>
            <a:ext cx="4686205" cy="3111723"/>
          </a:xfrm>
          <a:custGeom xmlns:a="http://schemas.openxmlformats.org/drawingml/2006/main">
            <a:rect l="l" t="t" r="r" b="b"/>
            <a:pathLst>
              <a:path w="6248273" h="4148965">
                <a:moveTo>
                  <a:pt x="0" y="292949"/>
                </a:moveTo>
                <a:cubicBezTo>
                  <a:pt x="0" y="131189"/>
                  <a:pt x="99187" y="0"/>
                  <a:pt x="221488" y="0"/>
                </a:cubicBezTo>
                <a:lnTo>
                  <a:pt x="6026785" y="0"/>
                </a:lnTo>
                <a:cubicBezTo>
                  <a:pt x="6149086" y="0"/>
                  <a:pt x="6248273" y="131189"/>
                  <a:pt x="6248273" y="292949"/>
                </a:cubicBezTo>
                <a:lnTo>
                  <a:pt x="6248273" y="3856044"/>
                </a:lnTo>
                <a:cubicBezTo>
                  <a:pt x="6248273" y="4017805"/>
                  <a:pt x="6149086" y="4148965"/>
                  <a:pt x="6026785" y="4148965"/>
                </a:cubicBezTo>
                <a:lnTo>
                  <a:pt x="221488" y="4148965"/>
                </a:lnTo>
                <a:cubicBezTo>
                  <a:pt x="99187" y="4148826"/>
                  <a:pt x="0" y="4017805"/>
                  <a:pt x="0" y="385604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7CAA5460-2395-4503-88F1-153CE3D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084406"/>
            <a:ext cx="4172925" cy="393187"/>
          </a:xfrm>
          <a:custGeom xmlns:a="http://schemas.openxmlformats.org/drawingml/2006/main">
            <a:rect l="l" t="t" r="r" b="b"/>
            <a:pathLst>
              <a:path w="5563899" h="524250">
                <a:moveTo>
                  <a:pt x="0" y="0"/>
                </a:moveTo>
                <a:lnTo>
                  <a:pt x="5563899" y="0"/>
                </a:lnTo>
                <a:lnTo>
                  <a:pt x="5563899" y="524250"/>
                </a:lnTo>
                <a:lnTo>
                  <a:pt x="0" y="52425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63156" r="0" b="-150435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55A7D66-07B5-424D-BE27-194C8B0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077263"/>
            <a:ext cx="4172922" cy="40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Validation Constraint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3C495FF-5517-4C7D-85AA-59821C89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474849"/>
            <a:ext cx="4172925" cy="2512442"/>
          </a:xfrm>
          <a:custGeom xmlns:a="http://schemas.openxmlformats.org/drawingml/2006/main">
            <a:rect l="l" t="t" r="r" b="b"/>
            <a:pathLst>
              <a:path w="5563899" h="3349924">
                <a:moveTo>
                  <a:pt x="0" y="0"/>
                </a:moveTo>
                <a:lnTo>
                  <a:pt x="5563899" y="0"/>
                </a:lnTo>
                <a:lnTo>
                  <a:pt x="5563899" y="3349924"/>
                </a:lnTo>
                <a:lnTo>
                  <a:pt x="0" y="33499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767" r="0" b="37041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1300E35-2461-4CF8-9708-9CA30B00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2467706"/>
            <a:ext cx="4172922" cy="2519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7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EF4F7"/>
                </a:solidFill>
                <a:latin typeface="Arial"/>
                <a:ea typeface="Arial"/>
                <a:cs typeface="Arial"/>
              </a:rPr>
              <a:t>Voucher AI phải đúng TargetDate, TargetHourStart/End và đúng sân; không áp dụng giờ cao điểm.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8D0BB6D-7053-45C3-BA66-D556452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9730" y="1884759"/>
            <a:ext cx="4686205" cy="3111723"/>
          </a:xfrm>
          <a:custGeom xmlns:a="http://schemas.openxmlformats.org/drawingml/2006/main">
            <a:rect l="l" t="t" r="r" b="b"/>
            <a:pathLst>
              <a:path w="6248273" h="4148965">
                <a:moveTo>
                  <a:pt x="0" y="292949"/>
                </a:moveTo>
                <a:cubicBezTo>
                  <a:pt x="0" y="131189"/>
                  <a:pt x="99187" y="0"/>
                  <a:pt x="221488" y="0"/>
                </a:cubicBezTo>
                <a:lnTo>
                  <a:pt x="6026785" y="0"/>
                </a:lnTo>
                <a:cubicBezTo>
                  <a:pt x="6149086" y="0"/>
                  <a:pt x="6248273" y="131189"/>
                  <a:pt x="6248273" y="292949"/>
                </a:cubicBezTo>
                <a:lnTo>
                  <a:pt x="6248273" y="3856044"/>
                </a:lnTo>
                <a:cubicBezTo>
                  <a:pt x="6248273" y="4017805"/>
                  <a:pt x="6149086" y="4148965"/>
                  <a:pt x="6026785" y="4148965"/>
                </a:cubicBezTo>
                <a:lnTo>
                  <a:pt x="221488" y="4148965"/>
                </a:lnTo>
                <a:cubicBezTo>
                  <a:pt x="99187" y="4148826"/>
                  <a:pt x="0" y="4017805"/>
                  <a:pt x="0" y="3856044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D2611C6E-BE37-4D5D-AB45-39065598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6343" y="2084406"/>
            <a:ext cx="4172925" cy="393187"/>
          </a:xfrm>
          <a:custGeom xmlns:a="http://schemas.openxmlformats.org/drawingml/2006/main">
            <a:rect l="l" t="t" r="r" b="b"/>
            <a:pathLst>
              <a:path w="5563899" h="524250">
                <a:moveTo>
                  <a:pt x="0" y="0"/>
                </a:moveTo>
                <a:lnTo>
                  <a:pt x="5563899" y="0"/>
                </a:lnTo>
                <a:lnTo>
                  <a:pt x="5563899" y="524250"/>
                </a:lnTo>
                <a:lnTo>
                  <a:pt x="0" y="52425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63156" r="0" b="-150435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6B08360-BA8C-49DD-95D1-D817AF3C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6343" y="2077263"/>
            <a:ext cx="4172922" cy="40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Model Auditing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37CBB1F-169D-405E-95B9-75C8368A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6534" y="2525217"/>
            <a:ext cx="4172925" cy="1902842"/>
          </a:xfrm>
          <a:custGeom xmlns:a="http://schemas.openxmlformats.org/drawingml/2006/main">
            <a:rect l="l" t="t" r="r" b="b"/>
            <a:pathLst>
              <a:path w="5563899" h="2537124">
                <a:moveTo>
                  <a:pt x="0" y="0"/>
                </a:moveTo>
                <a:lnTo>
                  <a:pt x="5563899" y="0"/>
                </a:lnTo>
                <a:lnTo>
                  <a:pt x="5563899" y="2537124"/>
                </a:lnTo>
                <a:lnTo>
                  <a:pt x="0" y="253712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2333" r="0" b="16872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36981F0D-F6E3-4CD1-8592-CE7665E9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6534" y="2518074"/>
            <a:ext cx="4172922" cy="1909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7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EF4F7"/>
                </a:solidFill>
                <a:latin typeface="Arial"/>
                <a:ea typeface="Arial"/>
                <a:cs typeface="Arial"/>
              </a:rPr>
              <a:t>Cron job so dự báo hôm qua với booking thực tế, tính MAE và dùng kết quả để chỉnh threshold/base price.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C340A70-E40F-4B3F-8B83-5EE3293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348" y="1884759"/>
            <a:ext cx="4686205" cy="3111723"/>
          </a:xfrm>
          <a:custGeom xmlns:a="http://schemas.openxmlformats.org/drawingml/2006/main">
            <a:rect l="l" t="t" r="r" b="b"/>
            <a:pathLst>
              <a:path w="6248273" h="4148965">
                <a:moveTo>
                  <a:pt x="0" y="292949"/>
                </a:moveTo>
                <a:cubicBezTo>
                  <a:pt x="0" y="131189"/>
                  <a:pt x="99187" y="0"/>
                  <a:pt x="221488" y="0"/>
                </a:cubicBezTo>
                <a:lnTo>
                  <a:pt x="6026785" y="0"/>
                </a:lnTo>
                <a:cubicBezTo>
                  <a:pt x="6149086" y="0"/>
                  <a:pt x="6248273" y="131189"/>
                  <a:pt x="6248273" y="292949"/>
                </a:cubicBezTo>
                <a:lnTo>
                  <a:pt x="6248273" y="3856044"/>
                </a:lnTo>
                <a:cubicBezTo>
                  <a:pt x="6248273" y="4017805"/>
                  <a:pt x="6149086" y="4148965"/>
                  <a:pt x="6026785" y="4148965"/>
                </a:cubicBezTo>
                <a:lnTo>
                  <a:pt x="221488" y="4148965"/>
                </a:lnTo>
                <a:cubicBezTo>
                  <a:pt x="99187" y="4148826"/>
                  <a:pt x="0" y="4017805"/>
                  <a:pt x="0" y="3856044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8E154BE1-A945-4888-AF9D-5D5403A3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7961" y="2084406"/>
            <a:ext cx="4172925" cy="393187"/>
          </a:xfrm>
          <a:custGeom xmlns:a="http://schemas.openxmlformats.org/drawingml/2006/main">
            <a:rect l="l" t="t" r="r" b="b"/>
            <a:pathLst>
              <a:path w="5563899" h="524250">
                <a:moveTo>
                  <a:pt x="0" y="0"/>
                </a:moveTo>
                <a:lnTo>
                  <a:pt x="5563899" y="0"/>
                </a:lnTo>
                <a:lnTo>
                  <a:pt x="5563899" y="524250"/>
                </a:lnTo>
                <a:lnTo>
                  <a:pt x="0" y="52425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63156" r="0" b="-150435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DBFD66B5-FE6B-438A-94AE-DC7A30C2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7961" y="2077263"/>
            <a:ext cx="4172922" cy="40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Fallback &amp; Safe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2952313-CCAF-48C3-AAFC-8FCF0C3C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7961" y="2714360"/>
            <a:ext cx="4172925" cy="1610917"/>
          </a:xfrm>
          <a:custGeom xmlns:a="http://schemas.openxmlformats.org/drawingml/2006/main">
            <a:rect l="l" t="t" r="r" b="b"/>
            <a:pathLst>
              <a:path w="5563899" h="2147891">
                <a:moveTo>
                  <a:pt x="0" y="0"/>
                </a:moveTo>
                <a:lnTo>
                  <a:pt x="5563899" y="0"/>
                </a:lnTo>
                <a:lnTo>
                  <a:pt x="5563899" y="2147891"/>
                </a:lnTo>
                <a:lnTo>
                  <a:pt x="0" y="2147891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2756" r="0" b="1808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7810D536-92F9-4B43-A3C7-651A71B8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7961" y="2707217"/>
            <a:ext cx="4172922" cy="16180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7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EEF4F7"/>
                </a:solidFill>
                <a:latin typeface="Arial"/>
                <a:ea typeface="Arial"/>
                <a:cs typeface="Arial"/>
              </a:rPr>
              <a:t>Gemini lỗi → dùng backup text sau 5 giây. AI chỉ phân tích/đề xuất; Admin quyết định cuối.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9FDD2F03-7DBF-4E4D-A778-4FDEDDE4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5544478"/>
            <a:ext cx="14275792" cy="473619"/>
          </a:xfrm>
          <a:custGeom xmlns:a="http://schemas.openxmlformats.org/drawingml/2006/main">
            <a:rect l="l" t="t" r="r" b="b"/>
            <a:pathLst>
              <a:path w="19034390" h="631493">
                <a:moveTo>
                  <a:pt x="0" y="0"/>
                </a:moveTo>
                <a:lnTo>
                  <a:pt x="19034390" y="0"/>
                </a:lnTo>
                <a:lnTo>
                  <a:pt x="19034390" y="631493"/>
                </a:lnTo>
                <a:lnTo>
                  <a:pt x="0" y="63149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543841" r="0" b="-530790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D2FDDAC-83F2-4AD7-8DC2-B6AE73B3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5544478"/>
            <a:ext cx="14275794" cy="4736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002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Lợi ích cho CLB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E31CE1BB-4E45-422F-A7AB-5B476E72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6461845"/>
            <a:ext cx="4762519" cy="2064921"/>
          </a:xfrm>
          <a:custGeom xmlns:a="http://schemas.openxmlformats.org/drawingml/2006/main">
            <a:rect l="l" t="t" r="r" b="b"/>
            <a:pathLst>
              <a:path w="6350026" h="2753228">
                <a:moveTo>
                  <a:pt x="0" y="287256"/>
                </a:moveTo>
                <a:cubicBezTo>
                  <a:pt x="0" y="128691"/>
                  <a:pt x="101192" y="0"/>
                  <a:pt x="225874" y="0"/>
                </a:cubicBezTo>
                <a:lnTo>
                  <a:pt x="6124152" y="0"/>
                </a:lnTo>
                <a:cubicBezTo>
                  <a:pt x="6248964" y="0"/>
                  <a:pt x="6350026" y="128691"/>
                  <a:pt x="6350026" y="287256"/>
                </a:cubicBezTo>
                <a:lnTo>
                  <a:pt x="6350026" y="2465972"/>
                </a:lnTo>
                <a:cubicBezTo>
                  <a:pt x="6350026" y="2624702"/>
                  <a:pt x="6248834" y="2753228"/>
                  <a:pt x="6124152" y="2753228"/>
                </a:cubicBezTo>
                <a:lnTo>
                  <a:pt x="225874" y="2753228"/>
                </a:lnTo>
                <a:cubicBezTo>
                  <a:pt x="101062" y="2753228"/>
                  <a:pt x="0" y="2624538"/>
                  <a:pt x="0" y="2465972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46F53F54-21BC-49D5-8F98-25CBBE72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5895" y="6687062"/>
            <a:ext cx="4240967" cy="443541"/>
          </a:xfrm>
          <a:custGeom xmlns:a="http://schemas.openxmlformats.org/drawingml/2006/main">
            <a:rect l="l" t="t" r="r" b="b"/>
            <a:pathLst>
              <a:path w="5654622" h="591389">
                <a:moveTo>
                  <a:pt x="0" y="0"/>
                </a:moveTo>
                <a:lnTo>
                  <a:pt x="5654622" y="0"/>
                </a:lnTo>
                <a:lnTo>
                  <a:pt x="5654622" y="591389"/>
                </a:lnTo>
                <a:lnTo>
                  <a:pt x="0" y="59138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44634" r="1604" b="-122003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EC34963B-5C7A-424B-AE19-005F6B9A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5895" y="6679919"/>
            <a:ext cx="4240964" cy="450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Dynamic Pricing</a:t>
            </a:r>
          </a:p>
        </p:txBody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EC484ECF-0DF0-4045-9DF5-7CE8C679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5895" y="7272535"/>
            <a:ext cx="4240967" cy="1011275"/>
          </a:xfrm>
          <a:custGeom xmlns:a="http://schemas.openxmlformats.org/drawingml/2006/main">
            <a:rect l="l" t="t" r="r" b="b"/>
            <a:pathLst>
              <a:path w="5654622" h="1348367">
                <a:moveTo>
                  <a:pt x="0" y="0"/>
                </a:moveTo>
                <a:lnTo>
                  <a:pt x="5654622" y="0"/>
                </a:lnTo>
                <a:lnTo>
                  <a:pt x="5654622" y="1348367"/>
                </a:lnTo>
                <a:lnTo>
                  <a:pt x="0" y="134836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41718" r="1604" b="-19087"/>
            </a:stretch>
          </a:blip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A65FFD72-240D-45B2-9055-BD2E6F06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5895" y="7265392"/>
            <a:ext cx="4240964" cy="101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Tiềm năng điều chỉnh giá theo demand để tối ưu doanh thu.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D881719E-2A87-412D-901B-B30B8291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7292" y="6461845"/>
            <a:ext cx="4762519" cy="2064921"/>
          </a:xfrm>
          <a:custGeom xmlns:a="http://schemas.openxmlformats.org/drawingml/2006/main">
            <a:rect l="l" t="t" r="r" b="b"/>
            <a:pathLst>
              <a:path w="6350026" h="2753228">
                <a:moveTo>
                  <a:pt x="0" y="287256"/>
                </a:moveTo>
                <a:cubicBezTo>
                  <a:pt x="0" y="128691"/>
                  <a:pt x="101192" y="0"/>
                  <a:pt x="225874" y="0"/>
                </a:cubicBezTo>
                <a:lnTo>
                  <a:pt x="6124152" y="0"/>
                </a:lnTo>
                <a:cubicBezTo>
                  <a:pt x="6248964" y="0"/>
                  <a:pt x="6350026" y="128691"/>
                  <a:pt x="6350026" y="287256"/>
                </a:cubicBezTo>
                <a:lnTo>
                  <a:pt x="6350026" y="2465972"/>
                </a:lnTo>
                <a:cubicBezTo>
                  <a:pt x="6350026" y="2624702"/>
                  <a:pt x="6248834" y="2753228"/>
                  <a:pt x="6124152" y="2753228"/>
                </a:cubicBezTo>
                <a:lnTo>
                  <a:pt x="225874" y="2753228"/>
                </a:lnTo>
                <a:cubicBezTo>
                  <a:pt x="101062" y="2753228"/>
                  <a:pt x="0" y="2624538"/>
                  <a:pt x="0" y="2465972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D3446891-EDEE-4571-A9D3-823CBFB1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8089" y="6687062"/>
            <a:ext cx="4240967" cy="443541"/>
          </a:xfrm>
          <a:custGeom xmlns:a="http://schemas.openxmlformats.org/drawingml/2006/main">
            <a:rect l="l" t="t" r="r" b="b"/>
            <a:pathLst>
              <a:path w="5654622" h="591389">
                <a:moveTo>
                  <a:pt x="0" y="0"/>
                </a:moveTo>
                <a:lnTo>
                  <a:pt x="5654622" y="0"/>
                </a:lnTo>
                <a:lnTo>
                  <a:pt x="5654622" y="591389"/>
                </a:lnTo>
                <a:lnTo>
                  <a:pt x="0" y="59138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44634" r="1604" b="-122003"/>
            </a:stretch>
          </a:blipFill>
        </p:spPr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7ABC1E0B-0BEE-4F90-9132-41B59896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8089" y="6679919"/>
            <a:ext cx="4240964" cy="450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Save Time</a:t>
            </a:r>
          </a:p>
        </p:txBody>
      </p:sp>
      <p:sp>
        <p:nvSpPr>
          <p:cNvPr id="55" name="Freeform 55">
            <a:extLst xmlns:a="http://schemas.openxmlformats.org/drawingml/2006/main">
              <a:ext uri="{FF2B5EF4-FFF2-40B4-BE49-F238E27FC236}">
                <a16:creationId xmlns:a16="http://schemas.microsoft.com/office/drawing/2014/main" id="{54189C93-9506-4152-B38F-674FB070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596" y="7272535"/>
            <a:ext cx="4240967" cy="683643"/>
          </a:xfrm>
          <a:custGeom xmlns:a="http://schemas.openxmlformats.org/drawingml/2006/main">
            <a:rect l="l" t="t" r="r" b="b"/>
            <a:pathLst>
              <a:path w="5654622" h="911525">
                <a:moveTo>
                  <a:pt x="0" y="0"/>
                </a:moveTo>
                <a:lnTo>
                  <a:pt x="5654622" y="0"/>
                </a:lnTo>
                <a:lnTo>
                  <a:pt x="5654622" y="911525"/>
                </a:lnTo>
                <a:lnTo>
                  <a:pt x="0" y="91152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61711" r="1604" b="-76159"/>
            </a:stretch>
          </a:blipFill>
        </p:spPr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CADE3F34-A49D-4B31-AD78-EEEB3A6E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596" y="7265392"/>
            <a:ext cx="4240964" cy="6907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Giảm kiểm tra Excel và soạn nội dung thủ công.</a:t>
            </a:r>
          </a:p>
        </p:txBody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072DF8B7-3FE2-400A-BB8C-C5E09D9E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9486" y="6461845"/>
            <a:ext cx="4762519" cy="2064921"/>
          </a:xfrm>
          <a:custGeom xmlns:a="http://schemas.openxmlformats.org/drawingml/2006/main">
            <a:rect l="l" t="t" r="r" b="b"/>
            <a:pathLst>
              <a:path w="6350026" h="2753228">
                <a:moveTo>
                  <a:pt x="0" y="287256"/>
                </a:moveTo>
                <a:cubicBezTo>
                  <a:pt x="0" y="128691"/>
                  <a:pt x="101192" y="0"/>
                  <a:pt x="225874" y="0"/>
                </a:cubicBezTo>
                <a:lnTo>
                  <a:pt x="6124152" y="0"/>
                </a:lnTo>
                <a:cubicBezTo>
                  <a:pt x="6248964" y="0"/>
                  <a:pt x="6350026" y="128691"/>
                  <a:pt x="6350026" y="287256"/>
                </a:cubicBezTo>
                <a:lnTo>
                  <a:pt x="6350026" y="2465972"/>
                </a:lnTo>
                <a:cubicBezTo>
                  <a:pt x="6350026" y="2624702"/>
                  <a:pt x="6248834" y="2753228"/>
                  <a:pt x="6124152" y="2753228"/>
                </a:cubicBezTo>
                <a:lnTo>
                  <a:pt x="225874" y="2753228"/>
                </a:lnTo>
                <a:cubicBezTo>
                  <a:pt x="101062" y="2753228"/>
                  <a:pt x="0" y="2624538"/>
                  <a:pt x="0" y="2465972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B7D4E26-4266-4139-8C66-AB1A6E0A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0283" y="6687062"/>
            <a:ext cx="4240967" cy="443541"/>
          </a:xfrm>
          <a:custGeom xmlns:a="http://schemas.openxmlformats.org/drawingml/2006/main">
            <a:rect l="l" t="t" r="r" b="b"/>
            <a:pathLst>
              <a:path w="5654622" h="591389">
                <a:moveTo>
                  <a:pt x="0" y="0"/>
                </a:moveTo>
                <a:lnTo>
                  <a:pt x="5654622" y="0"/>
                </a:lnTo>
                <a:lnTo>
                  <a:pt x="5654622" y="591389"/>
                </a:lnTo>
                <a:lnTo>
                  <a:pt x="0" y="59138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144634" r="1604" b="-122003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C3FEF39A-A179-45BF-B177-DA5EACDC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0283" y="6679919"/>
            <a:ext cx="4240964" cy="4506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Safe Management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0C74EA0D-9BF2-4AA9-817E-924ADFB9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4458" y="7272535"/>
            <a:ext cx="4240967" cy="1011275"/>
          </a:xfrm>
          <a:custGeom xmlns:a="http://schemas.openxmlformats.org/drawingml/2006/main">
            <a:rect l="l" t="t" r="r" b="b"/>
            <a:pathLst>
              <a:path w="5654622" h="1348367">
                <a:moveTo>
                  <a:pt x="0" y="0"/>
                </a:moveTo>
                <a:lnTo>
                  <a:pt x="5654622" y="0"/>
                </a:lnTo>
                <a:lnTo>
                  <a:pt x="5654622" y="1348367"/>
                </a:lnTo>
                <a:lnTo>
                  <a:pt x="0" y="1348367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41718" r="1604" b="-19087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FBA48517-F410-447E-B4AF-70EE48A0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4458" y="7265392"/>
            <a:ext cx="4240964" cy="101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Duyệt một nút, đặt lịch kích hoạt và thêm luật chống lạm dụng.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E545F178-1ACE-42F5-A305-23720ABF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9021508"/>
            <a:ext cx="14884575" cy="835492"/>
          </a:xfrm>
          <a:custGeom xmlns:a="http://schemas.openxmlformats.org/drawingml/2006/main">
            <a:rect l="l" t="t" r="r" b="b"/>
            <a:pathLst>
              <a:path w="19846100" h="1113990">
                <a:moveTo>
                  <a:pt x="0" y="0"/>
                </a:moveTo>
                <a:lnTo>
                  <a:pt x="19846100" y="0"/>
                </a:lnTo>
                <a:lnTo>
                  <a:pt x="19846100" y="1113990"/>
                </a:lnTo>
                <a:lnTo>
                  <a:pt x="0" y="111399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661244f5c4105">
              <a:alphaModFix amt="0"/>
            </a:blip>
            <a:stretch>
              <a:fillRect l="0" t="-322738" r="401" b="-268741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09CD3639-072D-47B0-A977-C5E93FFF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4725" y="9028651"/>
            <a:ext cx="14884575" cy="8283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999"/>
              </a:lnSpc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 dùng dữ liệu booking để đề xuất đúng ưu đãi, đúng khách hàng, đúng thời điểm và theo dõi kết quả.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68146ABA-A365-4128-81D7-393D1CF7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DBC32C18-29C9-4DE6-98E4-32EA7202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1868612976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6084207-A923-401C-98F9-383D66EC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443BB3A-A5DD-4505-B843-5A9292AA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47E7CE0E-9B15-4A1C-966E-2C687E4F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C7A8AEA-4F93-4745-950D-95CAD6F6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C7E8491-05CF-49AC-8971-0424C72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7192" y="1784788"/>
            <a:ext cx="14981205" cy="19050"/>
          </a:xfrm>
          <a:custGeom xmlns:a="http://schemas.openxmlformats.org/drawingml/2006/main">
            <a:rect l="l" t="t" r="r" b="b"/>
            <a:pathLst>
              <a:path w="19974940" h="25400">
                <a:moveTo>
                  <a:pt x="0" y="0"/>
                </a:moveTo>
                <a:lnTo>
                  <a:pt x="19974940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9e2dd450b0cf4e56">
              <a:alphaModFix amt="0"/>
            </a:blip>
            <a:stretch>
              <a:fillRect l="0" t="-15273266" r="0" b="-15273366"/>
            </a:stretch>
          </a:blipFill>
          <a:ln xmlns:a="http://schemas.openxmlformats.org/drawingml/2006/main" w="19065">
            <a:solidFill>
              <a:srgbClr val="17679A"/>
            </a:solidFill>
            <a:prstDash val="solid"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2F4EC31-38F0-490C-AB30-0389E476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293" y="2114293"/>
            <a:ext cx="3760374" cy="6272406"/>
          </a:xfrm>
          <a:custGeom xmlns:a="http://schemas.openxmlformats.org/drawingml/2006/main">
            <a:rect l="l" t="t" r="r" b="b"/>
            <a:pathLst>
              <a:path w="5013833" h="8363210">
                <a:moveTo>
                  <a:pt x="0" y="835661"/>
                </a:moveTo>
                <a:cubicBezTo>
                  <a:pt x="0" y="374142"/>
                  <a:pt x="374142" y="0"/>
                  <a:pt x="835660" y="0"/>
                </a:cubicBezTo>
                <a:lnTo>
                  <a:pt x="4178173" y="0"/>
                </a:lnTo>
                <a:cubicBezTo>
                  <a:pt x="4639691" y="0"/>
                  <a:pt x="5013833" y="374142"/>
                  <a:pt x="5013833" y="835661"/>
                </a:cubicBezTo>
                <a:lnTo>
                  <a:pt x="5013833" y="7527549"/>
                </a:lnTo>
                <a:cubicBezTo>
                  <a:pt x="5013833" y="7989067"/>
                  <a:pt x="4639691" y="8363210"/>
                  <a:pt x="4178173" y="8363210"/>
                </a:cubicBezTo>
                <a:lnTo>
                  <a:pt x="835660" y="8363210"/>
                </a:lnTo>
                <a:cubicBezTo>
                  <a:pt x="374142" y="8363210"/>
                  <a:pt x="0" y="7989067"/>
                  <a:pt x="0" y="7527549"/>
                </a:cubicBezTo>
                <a:close/>
              </a:path>
            </a:pathLst>
          </a:custGeom>
          <a:solidFill xmlns:a="http://schemas.openxmlformats.org/drawingml/2006/main">
            <a:srgbClr val="0B2C4D">
              <a:alpha val="80784"/>
            </a:srgbClr>
          </a:solidFill>
          <a:ln xmlns:a="http://schemas.openxmlformats.org/drawingml/2006/main" w="26691">
            <a:solidFill>
              <a:srgbClr val="B9FF2C"/>
            </a:solidFill>
            <a:prstDash val="solid"/>
          </a:ln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7126391-890B-4725-AA86-CBB0352B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293" y="2114293"/>
            <a:ext cx="3760356" cy="627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t"/>
          <a:lstStyle xmlns:a="http://schemas.openxmlformats.org/drawingml/2006/main"/>
          <a:p xmlns:a="http://schemas.openxmlformats.org/drawingml/2006/main">
            <a:pPr algn="ctr">
              <a:lnSpc>
                <a:spcPts val="2702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Auth &amp; RBAC</a:t>
            </a:r>
          </a:p>
          <a:p xmlns:a="http://schemas.openxmlformats.org/drawingml/2006/main">
            <a:pPr algn="l">
              <a:lnSpc>
                <a:spcPts val="2702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JWT hết hạn sau 24 giờ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5 vai trò: Guest / Player / Coach / Staff / Admin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bcrypt cost ≥ 12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Khóa tài khoản sau 5 lần sai (BR-06)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0B32194-9858-4633-B6E6-1B8AD18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950" y="2114293"/>
            <a:ext cx="3760374" cy="6272406"/>
          </a:xfrm>
          <a:custGeom xmlns:a="http://schemas.openxmlformats.org/drawingml/2006/main">
            <a:rect l="l" t="t" r="r" b="b"/>
            <a:pathLst>
              <a:path w="5013833" h="8363210">
                <a:moveTo>
                  <a:pt x="0" y="835661"/>
                </a:moveTo>
                <a:cubicBezTo>
                  <a:pt x="0" y="374142"/>
                  <a:pt x="374142" y="0"/>
                  <a:pt x="835660" y="0"/>
                </a:cubicBezTo>
                <a:lnTo>
                  <a:pt x="4178173" y="0"/>
                </a:lnTo>
                <a:cubicBezTo>
                  <a:pt x="4639691" y="0"/>
                  <a:pt x="5013833" y="374142"/>
                  <a:pt x="5013833" y="835661"/>
                </a:cubicBezTo>
                <a:lnTo>
                  <a:pt x="5013833" y="7527549"/>
                </a:lnTo>
                <a:cubicBezTo>
                  <a:pt x="5013833" y="7989067"/>
                  <a:pt x="4639691" y="8363210"/>
                  <a:pt x="4178173" y="8363210"/>
                </a:cubicBezTo>
                <a:lnTo>
                  <a:pt x="835660" y="8363210"/>
                </a:lnTo>
                <a:cubicBezTo>
                  <a:pt x="374142" y="8363210"/>
                  <a:pt x="0" y="7989067"/>
                  <a:pt x="0" y="7527549"/>
                </a:cubicBezTo>
                <a:close/>
              </a:path>
            </a:pathLst>
          </a:custGeom>
          <a:solidFill xmlns:a="http://schemas.openxmlformats.org/drawingml/2006/main">
            <a:srgbClr val="0B2C4D">
              <a:alpha val="80784"/>
            </a:srgbClr>
          </a:solidFill>
          <a:ln xmlns:a="http://schemas.openxmlformats.org/drawingml/2006/main" w="26691">
            <a:solidFill>
              <a:srgbClr val="33E6D1"/>
            </a:solidFill>
            <a:prstDash val="solid"/>
          </a:ln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E3EBBE05-D87A-43DB-A9CF-7027A14F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950" y="2121436"/>
            <a:ext cx="3760356" cy="6265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t"/>
          <a:lstStyle xmlns:a="http://schemas.openxmlformats.org/drawingml/2006/main"/>
          <a:p xmlns:a="http://schemas.openxmlformats.org/drawingml/2006/main">
            <a:pPr algn="ctr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OTP 2FA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Mã 6 số, hiệu lực 5 phút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Dùng khi đăng ký, đổi mật khẩu, thiết bị lạ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Sai tối đa 3 lần → gửi lại mã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Hiện ở mức thiết kế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190DED5-3E5C-42CB-879A-3E4EFD61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5606" y="2114293"/>
            <a:ext cx="3760374" cy="6272406"/>
          </a:xfrm>
          <a:custGeom xmlns:a="http://schemas.openxmlformats.org/drawingml/2006/main">
            <a:rect l="l" t="t" r="r" b="b"/>
            <a:pathLst>
              <a:path w="5013833" h="8363210">
                <a:moveTo>
                  <a:pt x="0" y="835661"/>
                </a:moveTo>
                <a:cubicBezTo>
                  <a:pt x="0" y="374142"/>
                  <a:pt x="374142" y="0"/>
                  <a:pt x="835660" y="0"/>
                </a:cubicBezTo>
                <a:lnTo>
                  <a:pt x="4178173" y="0"/>
                </a:lnTo>
                <a:cubicBezTo>
                  <a:pt x="4639691" y="0"/>
                  <a:pt x="5013833" y="374142"/>
                  <a:pt x="5013833" y="835661"/>
                </a:cubicBezTo>
                <a:lnTo>
                  <a:pt x="5013833" y="7527549"/>
                </a:lnTo>
                <a:cubicBezTo>
                  <a:pt x="5013833" y="7989067"/>
                  <a:pt x="4639691" y="8363210"/>
                  <a:pt x="4178173" y="8363210"/>
                </a:cubicBezTo>
                <a:lnTo>
                  <a:pt x="835660" y="8363210"/>
                </a:lnTo>
                <a:cubicBezTo>
                  <a:pt x="374142" y="8363210"/>
                  <a:pt x="0" y="7989067"/>
                  <a:pt x="0" y="7527549"/>
                </a:cubicBezTo>
                <a:close/>
              </a:path>
            </a:pathLst>
          </a:custGeom>
          <a:solidFill xmlns:a="http://schemas.openxmlformats.org/drawingml/2006/main">
            <a:srgbClr val="0B2C4D">
              <a:alpha val="80784"/>
            </a:srgbClr>
          </a:solidFill>
          <a:ln xmlns:a="http://schemas.openxmlformats.org/drawingml/2006/main" w="26691">
            <a:solidFill>
              <a:srgbClr val="D7FF00"/>
            </a:solidFill>
            <a:prstDash val="solid"/>
          </a:ln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1F6C6089-8051-4EC2-8E25-FA485975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5606" y="2114293"/>
            <a:ext cx="3760356" cy="627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t"/>
          <a:lstStyle xmlns:a="http://schemas.openxmlformats.org/drawingml/2006/main"/>
          <a:p xmlns:a="http://schemas.openxmlformats.org/drawingml/2006/main">
            <a:pPr algn="ctr">
              <a:lnSpc>
                <a:spcPts val="2702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Payment Security</a:t>
            </a:r>
          </a:p>
          <a:p xmlns:a="http://schemas.openxmlformats.org/drawingml/2006/main">
            <a:pPr algn="l">
              <a:lnSpc>
                <a:spcPts val="2702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Không lưu dữ liệu thẻ/ví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Webhook xác thực chữ ký (BR-68)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Chỉ cập nhật Paid khi webhook hợp lệ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HTTPS/TLS 1.2+ cho API và webhook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9F5E364-DA23-4768-96A9-C9AF48E1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1263" y="2114293"/>
            <a:ext cx="3760374" cy="6272406"/>
          </a:xfrm>
          <a:custGeom xmlns:a="http://schemas.openxmlformats.org/drawingml/2006/main">
            <a:rect l="l" t="t" r="r" b="b"/>
            <a:pathLst>
              <a:path w="5013833" h="8363210">
                <a:moveTo>
                  <a:pt x="0" y="835661"/>
                </a:moveTo>
                <a:cubicBezTo>
                  <a:pt x="0" y="374142"/>
                  <a:pt x="374142" y="0"/>
                  <a:pt x="835660" y="0"/>
                </a:cubicBezTo>
                <a:lnTo>
                  <a:pt x="4178173" y="0"/>
                </a:lnTo>
                <a:cubicBezTo>
                  <a:pt x="4639691" y="0"/>
                  <a:pt x="5013833" y="374142"/>
                  <a:pt x="5013833" y="835661"/>
                </a:cubicBezTo>
                <a:lnTo>
                  <a:pt x="5013833" y="7527549"/>
                </a:lnTo>
                <a:cubicBezTo>
                  <a:pt x="5013833" y="7989067"/>
                  <a:pt x="4639691" y="8363210"/>
                  <a:pt x="4178173" y="8363210"/>
                </a:cubicBezTo>
                <a:lnTo>
                  <a:pt x="835660" y="8363210"/>
                </a:lnTo>
                <a:cubicBezTo>
                  <a:pt x="374142" y="8363210"/>
                  <a:pt x="0" y="7989067"/>
                  <a:pt x="0" y="7527549"/>
                </a:cubicBezTo>
                <a:close/>
              </a:path>
            </a:pathLst>
          </a:custGeom>
          <a:solidFill xmlns:a="http://schemas.openxmlformats.org/drawingml/2006/main">
            <a:srgbClr val="0B2C4D">
              <a:alpha val="80784"/>
            </a:srgbClr>
          </a:solidFill>
          <a:ln xmlns:a="http://schemas.openxmlformats.org/drawingml/2006/main" w="26691">
            <a:solidFill>
              <a:srgbClr val="B9FF2C"/>
            </a:solidFill>
            <a:prstDash val="solid"/>
          </a:ln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0111520F-D20F-4045-B646-BD6261F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21263" y="2114293"/>
            <a:ext cx="3760356" cy="6272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t"/>
          <a:lstStyle xmlns:a="http://schemas.openxmlformats.org/drawingml/2006/main"/>
          <a:p xmlns:a="http://schemas.openxmlformats.org/drawingml/2006/main">
            <a:pPr algn="ctr">
              <a:lnSpc>
                <a:spcPts val="2702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Audit &amp; API</a:t>
            </a:r>
          </a:p>
          <a:p xmlns:a="http://schemas.openxmlformats.org/drawingml/2006/main">
            <a:pPr algn="l">
              <a:lnSpc>
                <a:spcPts val="2702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Audit Log ≥ 1 năm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System Log ≥ 90 ngày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Soft Delete — không xóa cứng</a:t>
            </a:r>
          </a:p>
          <a:p xmlns:a="http://schemas.openxmlformats.org/drawingml/2006/main">
            <a:pPr algn="l">
              <a:lnSpc>
                <a:spcPts val="2999"/>
              </a:lnSpc>
              <a:buNone/>
              <a:defRPr sz="195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EF4F7"/>
                </a:solidFill>
                <a:latin typeface="Arial"/>
                <a:ea typeface="Arial"/>
                <a:cs typeface="Arial"/>
              </a:rPr>
              <a:t>• Chống SQL Injection/XSS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554CF312-57F7-44C2-AA61-DCDD2E12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8693210"/>
            <a:ext cx="14981205" cy="650464"/>
          </a:xfrm>
          <a:custGeom xmlns:a="http://schemas.openxmlformats.org/drawingml/2006/main">
            <a:rect l="l" t="t" r="r" b="b"/>
            <a:pathLst>
              <a:path w="19974940" h="867287">
                <a:moveTo>
                  <a:pt x="0" y="144527"/>
                </a:moveTo>
                <a:cubicBezTo>
                  <a:pt x="0" y="64770"/>
                  <a:pt x="64770" y="0"/>
                  <a:pt x="144526" y="0"/>
                </a:cubicBezTo>
                <a:lnTo>
                  <a:pt x="19830414" y="0"/>
                </a:lnTo>
                <a:cubicBezTo>
                  <a:pt x="19910298" y="0"/>
                  <a:pt x="19974940" y="64770"/>
                  <a:pt x="19974940" y="144527"/>
                </a:cubicBezTo>
                <a:lnTo>
                  <a:pt x="19974940" y="722761"/>
                </a:lnTo>
                <a:cubicBezTo>
                  <a:pt x="19974940" y="802644"/>
                  <a:pt x="19910171" y="867287"/>
                  <a:pt x="19830414" y="867287"/>
                </a:cubicBezTo>
                <a:lnTo>
                  <a:pt x="144526" y="867287"/>
                </a:lnTo>
                <a:cubicBezTo>
                  <a:pt x="64770" y="867287"/>
                  <a:pt x="0" y="802644"/>
                  <a:pt x="0" y="722761"/>
                </a:cubicBezTo>
                <a:close/>
              </a:path>
            </a:pathLst>
          </a:custGeom>
          <a:solidFill xmlns:a="http://schemas.openxmlformats.org/drawingml/2006/main">
            <a:srgbClr val="0C3F67">
              <a:alpha val="84314"/>
            </a:srgbClr>
          </a:solidFill>
          <a:ln xmlns:a="http://schemas.openxmlformats.org/drawingml/2006/main" w="19065">
            <a:solidFill>
              <a:srgbClr val="33E6D1"/>
            </a:solidFill>
            <a:prstDash val="solid"/>
          </a:ln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01E1E17-47B1-43E3-8128-34B9E96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8686067"/>
            <a:ext cx="14981196" cy="657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sz="1950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RESTful API · Node.js/Next.js | Internal AI API · FastAPI | Socket.IO realtime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181A18EA-C757-49A8-AAB5-0B3BC198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5045"/>
          </a:xfrm>
          <a:custGeom xmlns:a="http://schemas.openxmlformats.org/drawingml/2006/main">
            <a:rect l="l" t="t" r="r" b="b"/>
            <a:pathLst>
              <a:path w="18119275" h="980060">
                <a:moveTo>
                  <a:pt x="0" y="0"/>
                </a:moveTo>
                <a:lnTo>
                  <a:pt x="18119275" y="0"/>
                </a:lnTo>
                <a:lnTo>
                  <a:pt x="18119275" y="980060"/>
                </a:lnTo>
                <a:lnTo>
                  <a:pt x="0" y="9800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2dd450b0cf4e56">
              <a:alphaModFix amt="0"/>
            </a:blip>
            <a:stretch>
              <a:fillRect l="0" t="-315418" r="0" b="-305057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12D4A68-52EF-4320-B80E-1743F24E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5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Security &amp; API Architecture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34018B5F-49D4-4F84-A1D6-109BF356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e2dd450b0cf4e56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D74389-61DC-44B5-9745-62DABE26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JWT · RBAC · bcrypt · OTP 2FA · HTTPS/TLS · Audit Log</a:t>
            </a:r>
          </a:p>
        </p:txBody>
      </p:sp>
    </p:spTree>
    <p:extLst>
      <p:ext uri="{BB962C8B-B14F-4D97-AF65-F5344CB8AC3E}">
        <p14:creationId xmlns:p14="http://schemas.microsoft.com/office/powerpoint/2010/main" val="1034192534"/>
      </p:ext>
    </p:extLst>
  </p:cSld>
</p:sld>
</file>

<file path=ppt/slides/slide1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83D87C0-A623-478B-AC2B-0C930ED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24427814" h="14066954">
                <a:moveTo>
                  <a:pt x="0" y="0"/>
                </a:moveTo>
                <a:lnTo>
                  <a:pt x="24427814" y="0"/>
                </a:lnTo>
                <a:lnTo>
                  <a:pt x="24427814" y="14066954"/>
                </a:lnTo>
                <a:lnTo>
                  <a:pt x="0" y="14066954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8EFF3"/>
              </a:gs>
              <a:gs pos="100000">
                <a:srgbClr val="C7DAE4"/>
              </a:gs>
            </a:gsLst>
            <a:lin ang="8100000"/>
          </a:gra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C784ABF-80BA-4894-9187-08B033A4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A314148-4A5A-43BD-B6EF-75D173BF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F2C748E3-B4F6-4235-9620-A7E63F9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658882"/>
          </a:xfrm>
          <a:custGeom xmlns:a="http://schemas.openxmlformats.org/drawingml/2006/main">
            <a:rect l="l" t="t" r="r" b="b"/>
            <a:pathLst>
              <a:path w="18119275" h="878510">
                <a:moveTo>
                  <a:pt x="0" y="0"/>
                </a:moveTo>
                <a:lnTo>
                  <a:pt x="18119275" y="0"/>
                </a:lnTo>
                <a:lnTo>
                  <a:pt x="18119275" y="878510"/>
                </a:lnTo>
                <a:lnTo>
                  <a:pt x="0" y="87851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51879" r="0" b="-351878"/>
            </a:stretch>
          </a:blip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4CB4DF-8591-47C4-8F08-7E35D77E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6588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 Script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3969EE1-0D85-4982-8418-A552D13D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40EC2003-D7E5-4993-8FCC-2D2D256C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Demo theo hành trình người dùng, từ Guest đến Admin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B62D5F0A-E7A4-4D24-B76E-29E5CCE3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94" y="1771913"/>
            <a:ext cx="15188393" cy="47577"/>
          </a:xfrm>
          <a:custGeom xmlns:a="http://schemas.openxmlformats.org/drawingml/2006/main">
            <a:rect l="l" t="t" r="r" b="b"/>
            <a:pathLst>
              <a:path w="19791935" h="61998">
                <a:moveTo>
                  <a:pt x="0" y="0"/>
                </a:moveTo>
                <a:lnTo>
                  <a:pt x="19791935" y="61998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6199799" r="0" b="-6140809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C5CF408-1D7E-4D55-9093-C0ECA759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94" y="2130015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4906C9C-8054-4A22-A214-F43D8C1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2345323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EB46E06-4075-4D31-92CF-C4B5680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2338014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D1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CA405D9C-8964-4DCF-A0CB-C76125A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2269293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BEC8AED-1C8C-4B28-B474-98B3C790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2261984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Guest View</a:t>
            </a:r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E1774D8-9825-459D-87FD-76A96C2E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2283659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F4351FA-2D08-44C4-8FFE-42B6EFD1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2283659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UC-01~06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6923E4C-B135-4740-ACB2-49A54C37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2628460"/>
            <a:ext cx="5899002" cy="316067"/>
          </a:xfrm>
          <a:custGeom xmlns:a="http://schemas.openxmlformats.org/drawingml/2006/main">
            <a:rect l="l" t="t" r="r" b="b"/>
            <a:pathLst>
              <a:path w="7686966" h="411866">
                <a:moveTo>
                  <a:pt x="0" y="0"/>
                </a:moveTo>
                <a:lnTo>
                  <a:pt x="7686966" y="0"/>
                </a:lnTo>
                <a:lnTo>
                  <a:pt x="7686966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0" b="-312545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268554FB-AFFB-4780-8F09-657A9636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2628460"/>
            <a:ext cx="5899003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Trang chủ, danh sách sân, hồ sơ Coach công khai, bảng giá.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E2817A6-81A7-432A-BC8D-A97B960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305" y="2130015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3B06E05F-A465-4521-910C-255627FE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2345323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2E4CD62-A2A7-419D-8C0B-9A7814FD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2338014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D2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035DA56-2952-43D4-9A77-5A2E6BE8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2234601"/>
            <a:ext cx="1775749" cy="378835"/>
          </a:xfrm>
          <a:custGeom xmlns:a="http://schemas.openxmlformats.org/drawingml/2006/main">
            <a:rect l="l" t="t" r="r" b="b"/>
            <a:pathLst>
              <a:path w="2313972" h="493659">
                <a:moveTo>
                  <a:pt x="0" y="0"/>
                </a:moveTo>
                <a:lnTo>
                  <a:pt x="2313972" y="0"/>
                </a:lnTo>
                <a:lnTo>
                  <a:pt x="2313972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-30506" b="-56271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92FBF914-A43E-46F9-8C19-B6EA14D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2227292"/>
            <a:ext cx="1775751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Si</a:t>
            </a: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gn Up / Login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64FA9544-9C78-4DAB-9DAA-A4C3357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2269293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ADD4C2B2-92C0-4EB3-B971-99A6B39A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2269293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UC-07, 08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2F806E0-24B2-46C8-8DF0-28AB8DD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2628460"/>
            <a:ext cx="5899002" cy="316067"/>
          </a:xfrm>
          <a:custGeom xmlns:a="http://schemas.openxmlformats.org/drawingml/2006/main">
            <a:rect l="l" t="t" r="r" b="b"/>
            <a:pathLst>
              <a:path w="7686966" h="411866">
                <a:moveTo>
                  <a:pt x="0" y="0"/>
                </a:moveTo>
                <a:lnTo>
                  <a:pt x="7686966" y="0"/>
                </a:lnTo>
                <a:lnTo>
                  <a:pt x="7686966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0" b="-312545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C46AE4A-5FE0-4792-A835-FF49BD26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2628460"/>
            <a:ext cx="5899003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Tạo Player, minh họa email OTP theo thiết kế, đăng nhập JWT.</a:t>
            </a:r>
          </a:p>
        </p:txBody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B8F9B51-81AB-4948-B5C1-003FFFE6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94" y="3365554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C9FF2D"/>
            </a:solidFill>
            <a:prstDash val="solid"/>
          </a:ln>
        </p:spPr>
      </p:sp>
      <p:sp>
        <p:nvSpPr>
          <p:cNvPr id="47" name="Freeform 47">
            <a:extLst xmlns:a="http://schemas.openxmlformats.org/drawingml/2006/main">
              <a:ext uri="{FF2B5EF4-FFF2-40B4-BE49-F238E27FC236}">
                <a16:creationId xmlns:a16="http://schemas.microsoft.com/office/drawing/2014/main" id="{882CC359-88E1-4CDB-9360-021157E3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3580862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A8714D1F-0A33-41D4-8607-FFB159F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3573553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D3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B9D64EB6-A826-42FA-AF37-CD9EF84A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3504832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4B42DAD-59CC-4677-A1E1-CB21D967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3497523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Find</a:t>
            </a: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 &amp; Book Court</a:t>
            </a:r>
          </a:p>
        </p:txBody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D4340275-B4D3-4EFD-8BAA-B16FE6A8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3519198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2D539BE2-0A5C-4702-8125-ABB0E63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3519198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UC-11~13, 16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F61B73F1-848F-48EF-84BD-E4A7B5C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3803329"/>
            <a:ext cx="5899002" cy="512727"/>
          </a:xfrm>
          <a:custGeom xmlns:a="http://schemas.openxmlformats.org/drawingml/2006/main">
            <a:rect l="l" t="t" r="r" b="b"/>
            <a:pathLst>
              <a:path w="7686966" h="668133">
                <a:moveTo>
                  <a:pt x="0" y="0"/>
                </a:moveTo>
                <a:lnTo>
                  <a:pt x="7686966" y="0"/>
                </a:lnTo>
                <a:lnTo>
                  <a:pt x="7686966" y="668133"/>
                </a:lnTo>
                <a:lnTo>
                  <a:pt x="0" y="6681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194045" r="0" b="-154310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74B1A254-77C6-4CBB-B359-67EBD3CE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3803329"/>
            <a:ext cx="5899003" cy="512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Tìm realtime → giữ slot 10 phút → MoMo sandbox → Email.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4093A7CB-3D6C-41AD-8F4F-9E34DD9A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305" y="3365554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3AF7032-3895-4A74-B420-4D7121CA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3580862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FBF06CD8-6BD2-4B2E-96A1-2C92CF5D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3573553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D4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38952005-A87A-4A75-8A59-07C3D24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3485156"/>
            <a:ext cx="2619435" cy="378835"/>
          </a:xfrm>
          <a:custGeom xmlns:a="http://schemas.openxmlformats.org/drawingml/2006/main">
            <a:rect l="l" t="t" r="r" b="b"/>
            <a:pathLst>
              <a:path w="3413376" h="493659">
                <a:moveTo>
                  <a:pt x="0" y="0"/>
                </a:moveTo>
                <a:lnTo>
                  <a:pt x="3413376" y="0"/>
                </a:lnTo>
                <a:lnTo>
                  <a:pt x="3413376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11527" b="-56271"/>
            </a:stretch>
          </a:blip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9BFDB86A-34E2-49C5-93A7-53D96C21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3477847"/>
            <a:ext cx="2619438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Combo Court + Coach</a:t>
            </a:r>
          </a:p>
        </p:txBody>
      </p:sp>
      <p:sp>
        <p:nvSpPr>
          <p:cNvPr id="67" name="Freeform 67">
            <a:extLst xmlns:a="http://schemas.openxmlformats.org/drawingml/2006/main">
              <a:ext uri="{FF2B5EF4-FFF2-40B4-BE49-F238E27FC236}">
                <a16:creationId xmlns:a16="http://schemas.microsoft.com/office/drawing/2014/main" id="{EAD0BBDC-9BE4-45A4-9687-358F6C9A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5482" y="3485156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EC1EDEF6-AFBA-4E24-959C-63EC077E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5482" y="3485156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UC-15</a:t>
            </a:r>
          </a:p>
        </p:txBody>
      </p:sp>
      <p:sp>
        <p:nvSpPr>
          <p:cNvPr id="70" name="Freeform 70">
            <a:extLst xmlns:a="http://schemas.openxmlformats.org/drawingml/2006/main">
              <a:ext uri="{FF2B5EF4-FFF2-40B4-BE49-F238E27FC236}">
                <a16:creationId xmlns:a16="http://schemas.microsoft.com/office/drawing/2014/main" id="{0AFAA176-2AA4-4808-BFBF-AE40194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9361" y="3849633"/>
            <a:ext cx="6044718" cy="316067"/>
          </a:xfrm>
          <a:custGeom xmlns:a="http://schemas.openxmlformats.org/drawingml/2006/main">
            <a:rect l="l" t="t" r="r" b="b"/>
            <a:pathLst>
              <a:path w="7876849" h="411866">
                <a:moveTo>
                  <a:pt x="0" y="0"/>
                </a:moveTo>
                <a:lnTo>
                  <a:pt x="7876849" y="0"/>
                </a:lnTo>
                <a:lnTo>
                  <a:pt x="7876849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2410" b="-312545"/>
            </a:stretch>
          </a:blipFill>
        </p:spPr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400E4519-534B-41DA-9EF2-C4D4D64B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9361" y="3849633"/>
            <a:ext cx="6044720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Giữ đồng thời sân + Coach → thanh toán → thông báo hai bên.</a:t>
            </a:r>
          </a:p>
        </p:txBody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4A05F5C0-3FB8-4419-B4C8-DB32AAE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94" y="4601093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BC8F5F68-917B-41B0-85AB-F613DF3A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4816401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0C1E4468-EFAE-431D-9182-6FB3BED1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4809092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D5</a:t>
            </a:r>
          </a:p>
        </p:txBody>
      </p:sp>
      <p:sp>
        <p:nvSpPr>
          <p:cNvPr id="78" name="Freeform 78">
            <a:extLst xmlns:a="http://schemas.openxmlformats.org/drawingml/2006/main">
              <a:ext uri="{FF2B5EF4-FFF2-40B4-BE49-F238E27FC236}">
                <a16:creationId xmlns:a16="http://schemas.microsoft.com/office/drawing/2014/main" id="{D95C3C76-471C-49F2-832C-E97B0E8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4740371"/>
            <a:ext cx="2764310" cy="381879"/>
          </a:xfrm>
          <a:custGeom xmlns:a="http://schemas.openxmlformats.org/drawingml/2006/main">
            <a:rect l="l" t="t" r="r" b="b"/>
            <a:pathLst>
              <a:path w="3573453" h="493659">
                <a:moveTo>
                  <a:pt x="0" y="0"/>
                </a:moveTo>
                <a:lnTo>
                  <a:pt x="3573453" y="0"/>
                </a:lnTo>
                <a:lnTo>
                  <a:pt x="3573453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15491" b="-56271"/>
            </a:stretch>
          </a:blipFill>
        </p:spPr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8280C6C2-8C3B-4160-8D25-D95C9E11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4733003"/>
            <a:ext cx="2764313" cy="3892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AI Recommendation</a:t>
            </a:r>
          </a:p>
        </p:txBody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7E46105D-A855-41E8-BA79-F72EB93D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3578" y="4752812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A7D95448-B38F-46F4-9FD7-2667524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3578" y="4752812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UC-23~25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36B3DD17-E648-41B4-AE1B-58EBBE6F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5056519"/>
            <a:ext cx="5743066" cy="512727"/>
          </a:xfrm>
          <a:custGeom xmlns:a="http://schemas.openxmlformats.org/drawingml/2006/main">
            <a:rect l="l" t="t" r="r" b="b"/>
            <a:pathLst>
              <a:path w="7483766" h="668133">
                <a:moveTo>
                  <a:pt x="0" y="0"/>
                </a:moveTo>
                <a:lnTo>
                  <a:pt x="7483766" y="0"/>
                </a:lnTo>
                <a:lnTo>
                  <a:pt x="7483766" y="668133"/>
                </a:lnTo>
                <a:lnTo>
                  <a:pt x="0" y="6681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194045" r="-2715" b="-154310"/>
            </a:stretch>
          </a:blipFill>
        </p:spPr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819C7EC7-16C4-43B3-A6A9-359D8415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5056519"/>
            <a:ext cx="5743067" cy="512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Nhập mục tiêu → Match Score → Smart Scheduler → Roadmap 20 buổi.</a:t>
            </a:r>
          </a:p>
        </p:txBody>
      </p:sp>
      <p:sp>
        <p:nvSpPr>
          <p:cNvPr id="87" name="Freeform 87">
            <a:extLst xmlns:a="http://schemas.openxmlformats.org/drawingml/2006/main">
              <a:ext uri="{FF2B5EF4-FFF2-40B4-BE49-F238E27FC236}">
                <a16:creationId xmlns:a16="http://schemas.microsoft.com/office/drawing/2014/main" id="{AD2003B8-5641-41C6-9F78-A82C94CB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305" y="4601093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89" name="Freeform 89">
            <a:extLst xmlns:a="http://schemas.openxmlformats.org/drawingml/2006/main">
              <a:ext uri="{FF2B5EF4-FFF2-40B4-BE49-F238E27FC236}">
                <a16:creationId xmlns:a16="http://schemas.microsoft.com/office/drawing/2014/main" id="{0D37F058-8BC3-4CAF-BB04-37C22DF8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4816401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4006DFEE-DB41-45BD-B3DF-97DD3188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4809092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D6</a:t>
            </a:r>
          </a:p>
        </p:txBody>
      </p:sp>
      <p:sp>
        <p:nvSpPr>
          <p:cNvPr id="92" name="Freeform 92">
            <a:extLst xmlns:a="http://schemas.openxmlformats.org/drawingml/2006/main">
              <a:ext uri="{FF2B5EF4-FFF2-40B4-BE49-F238E27FC236}">
                <a16:creationId xmlns:a16="http://schemas.microsoft.com/office/drawing/2014/main" id="{79F30F86-7268-4545-AFB5-8028A0F3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2220" y="4720695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BD9B20D8-12E5-46A5-ABE7-FA894CF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2220" y="4713386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Player Matching</a:t>
            </a:r>
          </a:p>
        </p:txBody>
      </p:sp>
      <p:sp>
        <p:nvSpPr>
          <p:cNvPr id="95" name="Freeform 95">
            <a:extLst xmlns:a="http://schemas.openxmlformats.org/drawingml/2006/main">
              <a:ext uri="{FF2B5EF4-FFF2-40B4-BE49-F238E27FC236}">
                <a16:creationId xmlns:a16="http://schemas.microsoft.com/office/drawing/2014/main" id="{40E20BCD-DA9E-441E-B5A2-A126B4EC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4754736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2D352F1B-7745-4F71-A1D0-8A052B79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4754736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UC-26~37</a:t>
            </a:r>
          </a:p>
        </p:txBody>
      </p:sp>
      <p:sp>
        <p:nvSpPr>
          <p:cNvPr id="98" name="Freeform 98">
            <a:extLst xmlns:a="http://schemas.openxmlformats.org/drawingml/2006/main">
              <a:ext uri="{FF2B5EF4-FFF2-40B4-BE49-F238E27FC236}">
                <a16:creationId xmlns:a16="http://schemas.microsoft.com/office/drawing/2014/main" id="{80B7A26B-AF98-4321-91C8-439A27B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5099537"/>
            <a:ext cx="5899002" cy="512727"/>
          </a:xfrm>
          <a:custGeom xmlns:a="http://schemas.openxmlformats.org/drawingml/2006/main">
            <a:rect l="l" t="t" r="r" b="b"/>
            <a:pathLst>
              <a:path w="7686966" h="668133">
                <a:moveTo>
                  <a:pt x="0" y="0"/>
                </a:moveTo>
                <a:lnTo>
                  <a:pt x="7686966" y="0"/>
                </a:lnTo>
                <a:lnTo>
                  <a:pt x="7686966" y="668133"/>
                </a:lnTo>
                <a:lnTo>
                  <a:pt x="0" y="6681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194045" r="0" b="-154310"/>
            </a:stretch>
          </a:blipFill>
        </p:spPr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25A19EDF-733A-4A02-B119-8501112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5099537"/>
            <a:ext cx="5899003" cy="5127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Cập nhật hồ sơ → gợi ý → lời mời 48 giờ → tạo nhóm → đặt sân.</a:t>
            </a:r>
          </a:p>
        </p:txBody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9673DAAF-1742-4009-BA63-7C5FA92A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94" y="5836632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F9E59201-E750-4FA0-A745-D56246D9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6051930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CA8AB062-9FDB-4DE7-872C-9C0388C7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6044621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D7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C1DFD5B5-BB37-4ED2-841A-5F876E5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5975910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E8CFFC65-7F9D-4990-8F3E-6D6385D8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5968601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Cancel</a:t>
            </a: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 &amp; Refund</a:t>
            </a:r>
          </a:p>
        </p:txBody>
      </p:sp>
      <p:sp>
        <p:nvSpPr>
          <p:cNvPr id="109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B63F7807-BE2B-441D-A044-648A786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5990275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82558D07-BC73-4FAD-94AB-91AC98BB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5990275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UC-17, 18</a:t>
            </a:r>
          </a:p>
        </p:txBody>
      </p:sp>
      <p:sp>
        <p:nvSpPr>
          <p:cNvPr id="112" name="Freeform 112">
            <a:extLst xmlns:a="http://schemas.openxmlformats.org/drawingml/2006/main">
              <a:ext uri="{FF2B5EF4-FFF2-40B4-BE49-F238E27FC236}">
                <a16:creationId xmlns:a16="http://schemas.microsoft.com/office/drawing/2014/main" id="{EDC0A7D8-B51E-42AD-9393-1D7CF6C1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6335076"/>
            <a:ext cx="5899002" cy="316067"/>
          </a:xfrm>
          <a:custGeom xmlns:a="http://schemas.openxmlformats.org/drawingml/2006/main">
            <a:rect l="l" t="t" r="r" b="b"/>
            <a:pathLst>
              <a:path w="7686966" h="411866">
                <a:moveTo>
                  <a:pt x="0" y="0"/>
                </a:moveTo>
                <a:lnTo>
                  <a:pt x="7686966" y="0"/>
                </a:lnTo>
                <a:lnTo>
                  <a:pt x="7686966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0" b="-312545"/>
            </a:stretch>
          </a:blipFill>
        </p:spPr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851FE7F2-198E-42B5-A1F4-E62D16A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6335076"/>
            <a:ext cx="5899003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Hủy → áp dụng 100% / 70% / 0% → xử lý hoàn tiền.</a:t>
            </a:r>
          </a:p>
        </p:txBody>
      </p:sp>
      <p:sp>
        <p:nvSpPr>
          <p:cNvPr id="115" name="Freeform 115">
            <a:extLst xmlns:a="http://schemas.openxmlformats.org/drawingml/2006/main">
              <a:ext uri="{FF2B5EF4-FFF2-40B4-BE49-F238E27FC236}">
                <a16:creationId xmlns:a16="http://schemas.microsoft.com/office/drawing/2014/main" id="{9392E8B1-CF17-4EAB-8CA6-AD69E21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305" y="5836632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17" name="Freeform 117">
            <a:extLst xmlns:a="http://schemas.openxmlformats.org/drawingml/2006/main">
              <a:ext uri="{FF2B5EF4-FFF2-40B4-BE49-F238E27FC236}">
                <a16:creationId xmlns:a16="http://schemas.microsoft.com/office/drawing/2014/main" id="{EF9D6CC4-141C-4FA1-ACAE-6E59279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6051930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6CEE3F56-01B4-4162-80AE-DFBA01F6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6044621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D8</a:t>
            </a:r>
          </a:p>
        </p:txBody>
      </p:sp>
      <p:sp>
        <p:nvSpPr>
          <p:cNvPr id="120" name="Freeform 120">
            <a:extLst xmlns:a="http://schemas.openxmlformats.org/drawingml/2006/main">
              <a:ext uri="{FF2B5EF4-FFF2-40B4-BE49-F238E27FC236}">
                <a16:creationId xmlns:a16="http://schemas.microsoft.com/office/drawing/2014/main" id="{51E8F3F6-B34D-48E0-9892-2F9C777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5975910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B1775867-624F-44B8-AA51-18EF720C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5968601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 Dashboard</a:t>
            </a:r>
          </a:p>
        </p:txBody>
      </p:sp>
      <p:sp>
        <p:nvSpPr>
          <p:cNvPr id="123" name="Freeform 123">
            <a:extLst xmlns:a="http://schemas.openxmlformats.org/drawingml/2006/main">
              <a:ext uri="{FF2B5EF4-FFF2-40B4-BE49-F238E27FC236}">
                <a16:creationId xmlns:a16="http://schemas.microsoft.com/office/drawing/2014/main" id="{F6DF9D13-C223-4204-AFB9-3B450657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5990275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72A4CC92-C02B-4C20-9A97-410E0B21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5990275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UC-41~46</a:t>
            </a:r>
          </a:p>
        </p:txBody>
      </p:sp>
      <p:sp>
        <p:nvSpPr>
          <p:cNvPr id="126" name="Freeform 126">
            <a:extLst xmlns:a="http://schemas.openxmlformats.org/drawingml/2006/main">
              <a:ext uri="{FF2B5EF4-FFF2-40B4-BE49-F238E27FC236}">
                <a16:creationId xmlns:a16="http://schemas.microsoft.com/office/drawing/2014/main" id="{84C65FEE-D54A-4173-94FA-BC011BBE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6335076"/>
            <a:ext cx="5899002" cy="316067"/>
          </a:xfrm>
          <a:custGeom xmlns:a="http://schemas.openxmlformats.org/drawingml/2006/main">
            <a:rect l="l" t="t" r="r" b="b"/>
            <a:pathLst>
              <a:path w="7686966" h="411866">
                <a:moveTo>
                  <a:pt x="0" y="0"/>
                </a:moveTo>
                <a:lnTo>
                  <a:pt x="7686966" y="0"/>
                </a:lnTo>
                <a:lnTo>
                  <a:pt x="7686966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0" b="-312545"/>
            </a:stretch>
          </a:blipFill>
        </p:spPr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0586E107-0DCD-4341-8254-11D06B96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6335076"/>
            <a:ext cx="5899003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Lịch rảnh, giá dạy, thu nhập và hủy buổi học.</a:t>
            </a:r>
          </a:p>
        </p:txBody>
      </p:sp>
      <p:sp>
        <p:nvSpPr>
          <p:cNvPr id="129" name="Freeform 129">
            <a:extLst xmlns:a="http://schemas.openxmlformats.org/drawingml/2006/main">
              <a:ext uri="{FF2B5EF4-FFF2-40B4-BE49-F238E27FC236}">
                <a16:creationId xmlns:a16="http://schemas.microsoft.com/office/drawing/2014/main" id="{CCFC7034-576A-43D1-96BD-319C251A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94" y="7072171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31" name="Freeform 131">
            <a:extLst xmlns:a="http://schemas.openxmlformats.org/drawingml/2006/main">
              <a:ext uri="{FF2B5EF4-FFF2-40B4-BE49-F238E27FC236}">
                <a16:creationId xmlns:a16="http://schemas.microsoft.com/office/drawing/2014/main" id="{7D5E8B91-5C0B-4BD3-B91C-8C9DA75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7287469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AFE32DDE-AD3E-4913-93AE-DBF4ADAC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2488" y="7280160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D9</a:t>
            </a:r>
          </a:p>
        </p:txBody>
      </p:sp>
      <p:sp>
        <p:nvSpPr>
          <p:cNvPr id="134" name="Freeform 134">
            <a:extLst xmlns:a="http://schemas.openxmlformats.org/drawingml/2006/main">
              <a:ext uri="{FF2B5EF4-FFF2-40B4-BE49-F238E27FC236}">
                <a16:creationId xmlns:a16="http://schemas.microsoft.com/office/drawing/2014/main" id="{83C51660-8214-4FF6-9433-D757CEC0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7211439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50B6B400-EE0A-4B6E-9673-5A561196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7204130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Staff View</a:t>
            </a:r>
          </a:p>
        </p:txBody>
      </p:sp>
      <p:sp>
        <p:nvSpPr>
          <p:cNvPr id="137" name="Freeform 137">
            <a:extLst xmlns:a="http://schemas.openxmlformats.org/drawingml/2006/main">
              <a:ext uri="{FF2B5EF4-FFF2-40B4-BE49-F238E27FC236}">
                <a16:creationId xmlns:a16="http://schemas.microsoft.com/office/drawing/2014/main" id="{51E8C39B-1B09-4A52-A3BB-3DA097C0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7225814"/>
            <a:ext cx="1264072" cy="284135"/>
          </a:xfrm>
          <a:custGeom xmlns:a="http://schemas.openxmlformats.org/drawingml/2006/main">
            <a:rect l="l" t="t" r="r" b="b"/>
            <a:pathLst>
              <a:path w="1647207" h="370255">
                <a:moveTo>
                  <a:pt x="0" y="0"/>
                </a:moveTo>
                <a:lnTo>
                  <a:pt x="1647207" y="0"/>
                </a:lnTo>
                <a:lnTo>
                  <a:pt x="1647207" y="370255"/>
                </a:lnTo>
                <a:lnTo>
                  <a:pt x="0" y="37025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3"/>
            </a:stretch>
          </a:blipFill>
        </p:spPr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7555E544-B3B2-43C7-A2D9-B45D4159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576" y="7225814"/>
            <a:ext cx="1264069" cy="2841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UC-48~52</a:t>
            </a:r>
          </a:p>
        </p:txBody>
      </p:sp>
      <p:sp>
        <p:nvSpPr>
          <p:cNvPr id="140" name="Freeform 140">
            <a:extLst xmlns:a="http://schemas.openxmlformats.org/drawingml/2006/main">
              <a:ext uri="{FF2B5EF4-FFF2-40B4-BE49-F238E27FC236}">
                <a16:creationId xmlns:a16="http://schemas.microsoft.com/office/drawing/2014/main" id="{E6488375-C40B-4910-BA0C-22425D5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7570615"/>
            <a:ext cx="5899002" cy="316067"/>
          </a:xfrm>
          <a:custGeom xmlns:a="http://schemas.openxmlformats.org/drawingml/2006/main">
            <a:rect l="l" t="t" r="r" b="b"/>
            <a:pathLst>
              <a:path w="7686966" h="411866">
                <a:moveTo>
                  <a:pt x="0" y="0"/>
                </a:moveTo>
                <a:lnTo>
                  <a:pt x="7686966" y="0"/>
                </a:lnTo>
                <a:lnTo>
                  <a:pt x="7686966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0" b="-312545"/>
            </a:stretch>
          </a:blipFill>
        </p:spPr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632AC9E7-F579-41D1-8766-EA715D8E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933" y="7570615"/>
            <a:ext cx="5899003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Check-in Player/Coach, no-show và báo cáo sân.</a:t>
            </a:r>
          </a:p>
        </p:txBody>
      </p:sp>
      <p:sp>
        <p:nvSpPr>
          <p:cNvPr id="143" name="Freeform 143">
            <a:extLst xmlns:a="http://schemas.openxmlformats.org/drawingml/2006/main">
              <a:ext uri="{FF2B5EF4-FFF2-40B4-BE49-F238E27FC236}">
                <a16:creationId xmlns:a16="http://schemas.microsoft.com/office/drawing/2014/main" id="{940394C9-E79F-4408-A93C-81FF5FF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9305" y="7072171"/>
            <a:ext cx="7112353" cy="968197"/>
          </a:xfrm>
          <a:custGeom xmlns:a="http://schemas.openxmlformats.org/drawingml/2006/main">
            <a:rect l="l" t="t" r="r" b="b"/>
            <a:pathLst>
              <a:path w="9268078" h="1261654">
                <a:moveTo>
                  <a:pt x="0" y="229415"/>
                </a:moveTo>
                <a:cubicBezTo>
                  <a:pt x="0" y="102756"/>
                  <a:pt x="100457" y="0"/>
                  <a:pt x="224282" y="0"/>
                </a:cubicBezTo>
                <a:lnTo>
                  <a:pt x="9043797" y="0"/>
                </a:lnTo>
                <a:cubicBezTo>
                  <a:pt x="9167622" y="0"/>
                  <a:pt x="9268078" y="102756"/>
                  <a:pt x="9268078" y="229415"/>
                </a:cubicBezTo>
                <a:lnTo>
                  <a:pt x="9268078" y="1032239"/>
                </a:lnTo>
                <a:cubicBezTo>
                  <a:pt x="9268078" y="1158898"/>
                  <a:pt x="9167622" y="1261654"/>
                  <a:pt x="9043797" y="1261654"/>
                </a:cubicBezTo>
                <a:lnTo>
                  <a:pt x="224282" y="1261654"/>
                </a:lnTo>
                <a:cubicBezTo>
                  <a:pt x="100457" y="1261654"/>
                  <a:pt x="0" y="1158898"/>
                  <a:pt x="0" y="1032239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45" name="Freeform 145">
            <a:extLst xmlns:a="http://schemas.openxmlformats.org/drawingml/2006/main">
              <a:ext uri="{FF2B5EF4-FFF2-40B4-BE49-F238E27FC236}">
                <a16:creationId xmlns:a16="http://schemas.microsoft.com/office/drawing/2014/main" id="{9D978794-6B50-44F9-A932-E5868747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7287469"/>
            <a:ext cx="589926" cy="326190"/>
          </a:xfrm>
          <a:custGeom xmlns:a="http://schemas.openxmlformats.org/drawingml/2006/main">
            <a:rect l="l" t="t" r="r" b="b"/>
            <a:pathLst>
              <a:path w="768731" h="425058">
                <a:moveTo>
                  <a:pt x="0" y="0"/>
                </a:moveTo>
                <a:lnTo>
                  <a:pt x="768731" y="0"/>
                </a:lnTo>
                <a:lnTo>
                  <a:pt x="768731" y="425058"/>
                </a:lnTo>
                <a:lnTo>
                  <a:pt x="0" y="425058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46" name="TextBox 146">
            <a:extLst xmlns:a="http://schemas.openxmlformats.org/drawingml/2006/main">
              <a:ext uri="{FF2B5EF4-FFF2-40B4-BE49-F238E27FC236}">
                <a16:creationId xmlns:a16="http://schemas.microsoft.com/office/drawing/2014/main" id="{55D558EC-830E-438C-8897-6482942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7599" y="7280160"/>
            <a:ext cx="589897" cy="33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1621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D10</a:t>
            </a:r>
          </a:p>
        </p:txBody>
      </p:sp>
      <p:sp>
        <p:nvSpPr>
          <p:cNvPr id="148" name="Freeform 148">
            <a:extLst xmlns:a="http://schemas.openxmlformats.org/drawingml/2006/main">
              <a:ext uri="{FF2B5EF4-FFF2-40B4-BE49-F238E27FC236}">
                <a16:creationId xmlns:a16="http://schemas.microsoft.com/office/drawing/2014/main" id="{306CC2AC-074F-4849-A19E-E085500E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7211439"/>
            <a:ext cx="2317464" cy="378835"/>
          </a:xfrm>
          <a:custGeom xmlns:a="http://schemas.openxmlformats.org/drawingml/2006/main">
            <a:rect l="l" t="t" r="r" b="b"/>
            <a:pathLst>
              <a:path w="3019879" h="493659">
                <a:moveTo>
                  <a:pt x="0" y="0"/>
                </a:moveTo>
                <a:lnTo>
                  <a:pt x="3019879" y="0"/>
                </a:lnTo>
                <a:lnTo>
                  <a:pt x="3019879" y="493659"/>
                </a:lnTo>
                <a:lnTo>
                  <a:pt x="0" y="49365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82121" r="0" b="-56271"/>
            </a:stretch>
          </a:blipFill>
        </p:spPr>
      </p:sp>
      <p:sp>
        <p:nvSpPr>
          <p:cNvPr id="149" name="TextBox 149">
            <a:extLst xmlns:a="http://schemas.openxmlformats.org/drawingml/2006/main">
              <a:ext uri="{FF2B5EF4-FFF2-40B4-BE49-F238E27FC236}">
                <a16:creationId xmlns:a16="http://schemas.microsoft.com/office/drawing/2014/main" id="{2A3221FF-16D1-434E-BD7D-B651D483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7204130"/>
            <a:ext cx="2317467" cy="386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Admin Dashboard</a:t>
            </a:r>
          </a:p>
        </p:txBody>
      </p:sp>
      <p:sp>
        <p:nvSpPr>
          <p:cNvPr id="151" name="Freeform 151">
            <a:extLst xmlns:a="http://schemas.openxmlformats.org/drawingml/2006/main">
              <a:ext uri="{FF2B5EF4-FFF2-40B4-BE49-F238E27FC236}">
                <a16:creationId xmlns:a16="http://schemas.microsoft.com/office/drawing/2014/main" id="{74A0C2A5-4FF6-467A-B295-70BE0462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7225814"/>
            <a:ext cx="1264072" cy="284133"/>
          </a:xfrm>
          <a:custGeom xmlns:a="http://schemas.openxmlformats.org/drawingml/2006/main">
            <a:rect l="l" t="t" r="r" b="b"/>
            <a:pathLst>
              <a:path w="1647207" h="370254">
                <a:moveTo>
                  <a:pt x="0" y="0"/>
                </a:moveTo>
                <a:lnTo>
                  <a:pt x="1647207" y="0"/>
                </a:lnTo>
                <a:lnTo>
                  <a:pt x="1647207" y="370254"/>
                </a:lnTo>
                <a:lnTo>
                  <a:pt x="0" y="370254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42197" r="0" b="-31174"/>
            </a:stretch>
          </a:blipFill>
        </p:spPr>
      </p:sp>
      <p:sp>
        <p:nvSpPr>
          <p:cNvPr id="152" name="TextBox 152">
            <a:extLst xmlns:a="http://schemas.openxmlformats.org/drawingml/2006/main">
              <a:ext uri="{FF2B5EF4-FFF2-40B4-BE49-F238E27FC236}">
                <a16:creationId xmlns:a16="http://schemas.microsoft.com/office/drawing/2014/main" id="{926EEBF9-72EA-4B22-966C-2434E2B9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9687" y="7225814"/>
            <a:ext cx="1264069" cy="2841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UC-53~61</a:t>
            </a:r>
          </a:p>
        </p:txBody>
      </p:sp>
      <p:sp>
        <p:nvSpPr>
          <p:cNvPr id="154" name="Freeform 154">
            <a:extLst xmlns:a="http://schemas.openxmlformats.org/drawingml/2006/main">
              <a:ext uri="{FF2B5EF4-FFF2-40B4-BE49-F238E27FC236}">
                <a16:creationId xmlns:a16="http://schemas.microsoft.com/office/drawing/2014/main" id="{585F257F-7509-49ED-BB69-A859E300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7570615"/>
            <a:ext cx="5899002" cy="316067"/>
          </a:xfrm>
          <a:custGeom xmlns:a="http://schemas.openxmlformats.org/drawingml/2006/main">
            <a:rect l="l" t="t" r="r" b="b"/>
            <a:pathLst>
              <a:path w="7686966" h="411866">
                <a:moveTo>
                  <a:pt x="0" y="0"/>
                </a:moveTo>
                <a:lnTo>
                  <a:pt x="7686966" y="0"/>
                </a:lnTo>
                <a:lnTo>
                  <a:pt x="7686966" y="411866"/>
                </a:lnTo>
                <a:lnTo>
                  <a:pt x="0" y="4118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314782" r="0" b="-312545"/>
            </a:stretch>
          </a:blipFill>
        </p:spPr>
      </p:sp>
      <p:sp>
        <p:nvSpPr>
          <p:cNvPr id="155" name="TextBox 155">
            <a:extLst xmlns:a="http://schemas.openxmlformats.org/drawingml/2006/main">
              <a:ext uri="{FF2B5EF4-FFF2-40B4-BE49-F238E27FC236}">
                <a16:creationId xmlns:a16="http://schemas.microsoft.com/office/drawing/2014/main" id="{5F3C8E8A-CED8-4153-9410-5EAF6F2B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6044" y="7570615"/>
            <a:ext cx="5899003" cy="3160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EEF4F7"/>
                </a:solidFill>
                <a:latin typeface="Arial"/>
                <a:ea typeface="Arial"/>
                <a:cs typeface="Arial"/>
              </a:rPr>
              <a:t>Sân, Coach, promotion, AI Analytics, doanh thu và log.</a:t>
            </a:r>
          </a:p>
        </p:txBody>
      </p:sp>
      <p:sp>
        <p:nvSpPr>
          <p:cNvPr id="157" name="Freeform 157">
            <a:extLst xmlns:a="http://schemas.openxmlformats.org/drawingml/2006/main">
              <a:ext uri="{FF2B5EF4-FFF2-40B4-BE49-F238E27FC236}">
                <a16:creationId xmlns:a16="http://schemas.microsoft.com/office/drawing/2014/main" id="{CAE631B7-A024-4AAD-A87A-C2F54729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8400755"/>
            <a:ext cx="14824862" cy="452983"/>
          </a:xfrm>
          <a:custGeom xmlns:a="http://schemas.openxmlformats.org/drawingml/2006/main">
            <a:rect l="l" t="t" r="r" b="b"/>
            <a:pathLst>
              <a:path w="19766483" h="603978">
                <a:moveTo>
                  <a:pt x="0" y="0"/>
                </a:moveTo>
                <a:lnTo>
                  <a:pt x="19766483" y="0"/>
                </a:lnTo>
                <a:lnTo>
                  <a:pt x="19766483" y="603978"/>
                </a:lnTo>
                <a:lnTo>
                  <a:pt x="0" y="60397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783364673d48f0">
              <a:alphaModFix amt="0"/>
            </a:blip>
            <a:stretch>
              <a:fillRect l="0" t="-587690" r="0" b="-587689"/>
            </a:stretch>
          </a:blipFill>
        </p:spPr>
      </p:sp>
      <p:sp>
        <p:nvSpPr>
          <p:cNvPr id="158" name="TextBox 158">
            <a:extLst xmlns:a="http://schemas.openxmlformats.org/drawingml/2006/main">
              <a:ext uri="{FF2B5EF4-FFF2-40B4-BE49-F238E27FC236}">
                <a16:creationId xmlns:a16="http://schemas.microsoft.com/office/drawing/2014/main" id="{01A8DDBD-9656-4576-9C30-5F6EAEA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8393612"/>
            <a:ext cx="14824862" cy="46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0"/>
              </a:lnSpc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Chuẩn bị dữ liệu mẫu cho sân, Coach và từng vai trò; chỉ dùng sandbox payment.</a:t>
            </a:r>
          </a:p>
        </p:txBody>
      </p:sp>
      <p:sp>
        <p:nvSpPr>
          <p:cNvPr id="160" name="Freeform 160">
            <a:extLst xmlns:a="http://schemas.openxmlformats.org/drawingml/2006/main">
              <a:ext uri="{FF2B5EF4-FFF2-40B4-BE49-F238E27FC236}">
                <a16:creationId xmlns:a16="http://schemas.microsoft.com/office/drawing/2014/main" id="{186E2BF6-5532-4C1C-AB73-EE47506F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161" name="TextBox 161">
            <a:extLst xmlns:a="http://schemas.openxmlformats.org/drawingml/2006/main">
              <a:ext uri="{FF2B5EF4-FFF2-40B4-BE49-F238E27FC236}">
                <a16:creationId xmlns:a16="http://schemas.microsoft.com/office/drawing/2014/main" id="{B124CAC4-081F-4D23-BC02-4181ABD3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1720070247"/>
      </p:ext>
    </p:extLst>
  </p:cSld>
</p:sld>
</file>

<file path=ppt/slides/slide2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E8EFF3"/>
            </a:gs>
            <a:gs pos="100000">
              <a:srgbClr val="C7DAE4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3672103-7EE6-4071-AF2F-16656B2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9535" y="-9535"/>
            <a:ext cx="266129" cy="10314146"/>
          </a:xfrm>
          <a:custGeom xmlns:a="http://schemas.openxmlformats.org/drawingml/2006/main">
            <a:rect l="l" t="t" r="r" b="b"/>
            <a:pathLst>
              <a:path w="354838" h="13752195">
                <a:moveTo>
                  <a:pt x="0" y="0"/>
                </a:moveTo>
                <a:lnTo>
                  <a:pt x="354838" y="0"/>
                </a:lnTo>
                <a:lnTo>
                  <a:pt x="354838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513BD7B-69B5-4CD9-9387-E76A7271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544" y="-9535"/>
            <a:ext cx="1597628" cy="10314146"/>
          </a:xfrm>
          <a:custGeom xmlns:a="http://schemas.openxmlformats.org/drawingml/2006/main">
            <a:rect l="l" t="t" r="r" b="b"/>
            <a:pathLst>
              <a:path w="2130171" h="13752195">
                <a:moveTo>
                  <a:pt x="0" y="0"/>
                </a:moveTo>
                <a:lnTo>
                  <a:pt x="2130171" y="0"/>
                </a:lnTo>
                <a:lnTo>
                  <a:pt x="2130171" y="13752195"/>
                </a:lnTo>
                <a:lnTo>
                  <a:pt x="0" y="13752195"/>
                </a:lnTo>
                <a:close/>
              </a:path>
            </a:pathLst>
          </a:custGeom>
          <a:solidFill xmlns:a="http://schemas.openxmlformats.org/drawingml/2006/main">
            <a:srgbClr val="0B2744">
              <a:alpha val="90196"/>
            </a:srgbClr>
          </a:solid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03BC192-0D01-48E0-ABE8-ECF5844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56" cy="735045"/>
          </a:xfrm>
          <a:custGeom xmlns:a="http://schemas.openxmlformats.org/drawingml/2006/main">
            <a:rect l="l" t="t" r="r" b="b"/>
            <a:pathLst>
              <a:path w="18119275" h="980060">
                <a:moveTo>
                  <a:pt x="0" y="0"/>
                </a:moveTo>
                <a:lnTo>
                  <a:pt x="18119275" y="0"/>
                </a:lnTo>
                <a:lnTo>
                  <a:pt x="18119275" y="980060"/>
                </a:lnTo>
                <a:lnTo>
                  <a:pt x="0" y="98006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315418" r="0" b="-305057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AFD31E1E-1750-49A5-9362-4D70D833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7647" y="356892"/>
            <a:ext cx="13589460" cy="735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683"/>
              </a:lnSpc>
              <a:buNone/>
              <a:defRPr sz="3903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903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Summary &amp; Future Plan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AE4F926-FE62-4B61-8687-C4C5A48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6" cy="411799"/>
          </a:xfrm>
          <a:custGeom xmlns:a="http://schemas.openxmlformats.org/drawingml/2006/main">
            <a:rect l="l" t="t" r="r" b="b"/>
            <a:pathLst>
              <a:path w="19400436" h="549066">
                <a:moveTo>
                  <a:pt x="0" y="0"/>
                </a:moveTo>
                <a:lnTo>
                  <a:pt x="19400436" y="0"/>
                </a:lnTo>
                <a:lnTo>
                  <a:pt x="19400436" y="549066"/>
                </a:lnTo>
                <a:lnTo>
                  <a:pt x="0" y="54906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638474" r="0" b="-638475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8EE16F-8854-4795-A490-BDF5B03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098" y="1070686"/>
            <a:ext cx="14550323" cy="411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91"/>
              </a:lnSpc>
              <a:buNone/>
              <a:defRPr sz="1576">
                <a:solidFill>
                  <a:srgbClr val="557085"/>
                </a:solidFill>
                <a:latin typeface="Arial"/>
                <a:ea typeface="Arial"/>
                <a:cs typeface="Arial"/>
              </a:defRPr>
            </a:pPr>
            <a:r>
              <a:rPr sz="1576">
                <a:solidFill>
                  <a:srgbClr val="557085"/>
                </a:solidFill>
                <a:latin typeface="Arial"/>
                <a:ea typeface="Arial"/>
                <a:cs typeface="Arial"/>
              </a:rPr>
              <a:t>Thiết kế đã định hình; ưu tiên tiếp theo là đặc tả, OTP và khả năng mở rộng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97CDFE0B-FF16-4066-938A-744251FF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527858"/>
            <a:ext cx="14843950" cy="19050"/>
          </a:xfrm>
          <a:custGeom xmlns:a="http://schemas.openxmlformats.org/drawingml/2006/main">
            <a:rect l="l" t="t" r="r" b="b"/>
            <a:pathLst>
              <a:path w="19791935" h="25400">
                <a:moveTo>
                  <a:pt x="0" y="0"/>
                </a:moveTo>
                <a:lnTo>
                  <a:pt x="19791935" y="25400"/>
                </a:lnTo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15132867" r="0" b="-15132967"/>
            </a:stretch>
          </a:blip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A8BC610-E2B4-4E3B-ADB2-77BD799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8112" y="1857299"/>
            <a:ext cx="4801824" cy="5431060"/>
          </a:xfrm>
          <a:custGeom xmlns:a="http://schemas.openxmlformats.org/drawingml/2006/main">
            <a:rect l="l" t="t" r="r" b="b"/>
            <a:pathLst>
              <a:path w="6402433" h="7241413">
                <a:moveTo>
                  <a:pt x="0" y="251830"/>
                </a:moveTo>
                <a:cubicBezTo>
                  <a:pt x="0" y="112714"/>
                  <a:pt x="102620" y="0"/>
                  <a:pt x="229276" y="0"/>
                </a:cubicBezTo>
                <a:lnTo>
                  <a:pt x="6173157" y="0"/>
                </a:lnTo>
                <a:cubicBezTo>
                  <a:pt x="6299813" y="0"/>
                  <a:pt x="6402433" y="112714"/>
                  <a:pt x="6402433" y="251830"/>
                </a:cubicBezTo>
                <a:lnTo>
                  <a:pt x="6402433" y="6989583"/>
                </a:lnTo>
                <a:cubicBezTo>
                  <a:pt x="6402433" y="7128699"/>
                  <a:pt x="6299813" y="7241413"/>
                  <a:pt x="6173157" y="7241413"/>
                </a:cubicBezTo>
                <a:lnTo>
                  <a:pt x="229276" y="7241413"/>
                </a:lnTo>
                <a:cubicBezTo>
                  <a:pt x="102620" y="7241413"/>
                  <a:pt x="0" y="7128699"/>
                  <a:pt x="0" y="698958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ADCEFC2F-2EFD-4D33-895D-60FDF408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973" y="2056344"/>
            <a:ext cx="4268189" cy="392122"/>
          </a:xfrm>
          <a:custGeom xmlns:a="http://schemas.openxmlformats.org/drawingml/2006/main">
            <a:rect l="l" t="t" r="r" b="b"/>
            <a:pathLst>
              <a:path w="5690919" h="522830">
                <a:moveTo>
                  <a:pt x="0" y="0"/>
                </a:moveTo>
                <a:lnTo>
                  <a:pt x="5690919" y="0"/>
                </a:lnTo>
                <a:lnTo>
                  <a:pt x="5690919" y="522830"/>
                </a:lnTo>
                <a:lnTo>
                  <a:pt x="0" y="5228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160189" r="3839" b="-147704"/>
            </a:stretch>
          </a:blip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4601504-1844-4F42-B13A-FF413855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973" y="2049201"/>
            <a:ext cx="4268193" cy="399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10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Đã hoàn thành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42A00481-1D4F-4FE8-9883-0724DBB1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973" y="2573752"/>
            <a:ext cx="4268189" cy="4499896"/>
          </a:xfrm>
          <a:custGeom xmlns:a="http://schemas.openxmlformats.org/drawingml/2006/main">
            <a:rect l="l" t="t" r="r" b="b"/>
            <a:pathLst>
              <a:path w="5690919" h="5999862">
                <a:moveTo>
                  <a:pt x="0" y="0"/>
                </a:moveTo>
                <a:lnTo>
                  <a:pt x="5690919" y="0"/>
                </a:lnTo>
                <a:lnTo>
                  <a:pt x="5690919" y="5999862"/>
                </a:lnTo>
                <a:lnTo>
                  <a:pt x="0" y="59998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-70345" t="0" r="-66505" b="12452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C7AAF0FA-8C53-4DA4-B715-83A04C09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973" y="2566609"/>
            <a:ext cx="4268193" cy="4507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SRS v2.1: 61 Use Cases, 94 Business Rules, Glossary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Thiết kế booking sân/Coach/Combo realtime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4 nhóm AI: Recommendation, Scheduler, Matching, Analytics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Luật hủy/hoàn tiền rõ ràng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JWT, RBAC, bcrypt, TLS, Audit Log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19+ bảng CSDL và Soft Delete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5FCB51E5-899C-4939-B007-DBDD7E66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0046" y="1857299"/>
            <a:ext cx="4801824" cy="5431060"/>
          </a:xfrm>
          <a:custGeom xmlns:a="http://schemas.openxmlformats.org/drawingml/2006/main">
            <a:rect l="l" t="t" r="r" b="b"/>
            <a:pathLst>
              <a:path w="6402433" h="7241413">
                <a:moveTo>
                  <a:pt x="0" y="251830"/>
                </a:moveTo>
                <a:cubicBezTo>
                  <a:pt x="0" y="112714"/>
                  <a:pt x="102620" y="0"/>
                  <a:pt x="229276" y="0"/>
                </a:cubicBezTo>
                <a:lnTo>
                  <a:pt x="6173157" y="0"/>
                </a:lnTo>
                <a:cubicBezTo>
                  <a:pt x="6299813" y="0"/>
                  <a:pt x="6402433" y="112714"/>
                  <a:pt x="6402433" y="251830"/>
                </a:cubicBezTo>
                <a:lnTo>
                  <a:pt x="6402433" y="6989583"/>
                </a:lnTo>
                <a:cubicBezTo>
                  <a:pt x="6402433" y="7128699"/>
                  <a:pt x="6299813" y="7241413"/>
                  <a:pt x="6173157" y="7241413"/>
                </a:cubicBezTo>
                <a:lnTo>
                  <a:pt x="229276" y="7241413"/>
                </a:lnTo>
                <a:cubicBezTo>
                  <a:pt x="102620" y="7241413"/>
                  <a:pt x="0" y="7128699"/>
                  <a:pt x="0" y="6989583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57CDBCCE-26A7-484F-9A60-FFF51315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6907" y="2056344"/>
            <a:ext cx="4268189" cy="392122"/>
          </a:xfrm>
          <a:custGeom xmlns:a="http://schemas.openxmlformats.org/drawingml/2006/main">
            <a:rect l="l" t="t" r="r" b="b"/>
            <a:pathLst>
              <a:path w="5690919" h="522830">
                <a:moveTo>
                  <a:pt x="0" y="0"/>
                </a:moveTo>
                <a:lnTo>
                  <a:pt x="5690919" y="0"/>
                </a:lnTo>
                <a:lnTo>
                  <a:pt x="5690919" y="522830"/>
                </a:lnTo>
                <a:lnTo>
                  <a:pt x="0" y="5228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160189" r="3839" b="-147704"/>
            </a:stretch>
          </a:blip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243B48B-4B73-4DCB-9286-FDDA3CE0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6907" y="2049201"/>
            <a:ext cx="4268193" cy="399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  <a:defRPr b="1">
                <a:solidFill>
                  <a:srgbClr val="F0C76C"/>
                </a:solidFill>
                <a:latin typeface="Arial"/>
                <a:ea typeface="Arial"/>
                <a:cs typeface="Arial"/>
              </a:defRPr>
            </a:pPr>
            <a:r>
              <a:rPr sz="2101" b="1">
                <a:solidFill>
                  <a:srgbClr val="F0C76C"/>
                </a:solidFill>
                <a:latin typeface="Arial"/>
                <a:ea typeface="Arial"/>
                <a:cs typeface="Arial"/>
              </a:rPr>
              <a:t>Giới hạn hiện tại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59698C0-1F88-4681-A95E-E425D61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6907" y="2573752"/>
            <a:ext cx="4268189" cy="4499896"/>
          </a:xfrm>
          <a:custGeom xmlns:a="http://schemas.openxmlformats.org/drawingml/2006/main">
            <a:rect l="l" t="t" r="r" b="b"/>
            <a:pathLst>
              <a:path w="5690919" h="5999862">
                <a:moveTo>
                  <a:pt x="0" y="0"/>
                </a:moveTo>
                <a:lnTo>
                  <a:pt x="5690919" y="0"/>
                </a:lnTo>
                <a:lnTo>
                  <a:pt x="5690919" y="5999862"/>
                </a:lnTo>
                <a:lnTo>
                  <a:pt x="0" y="59998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-70345" t="0" r="-66505" b="12452"/>
            </a:stretch>
          </a:blip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F17E876-AC7F-4258-BE83-477CF5A0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6907" y="2566609"/>
            <a:ext cx="4268193" cy="4507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Chỉ hỗ trợ VND; chưa có Visa/PayPal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Chưa có native mobile app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OTP 2FA mới ở mức thiết kế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Một số UC chưa đủ Use Case Specification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800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EF4F7"/>
                </a:solidFill>
                <a:latin typeface="Arial"/>
                <a:ea typeface="Arial"/>
                <a:cs typeface="Arial"/>
              </a:rPr>
              <a:t>CoachCancellations chưa xây dựng chính thức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EF1F4E6-7BD3-426B-A817-BC71EFA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1980" y="1857299"/>
            <a:ext cx="5158812" cy="5431060"/>
          </a:xfrm>
          <a:custGeom xmlns:a="http://schemas.openxmlformats.org/drawingml/2006/main">
            <a:rect l="l" t="t" r="r" b="b"/>
            <a:pathLst>
              <a:path w="6878417" h="7241413">
                <a:moveTo>
                  <a:pt x="0" y="251830"/>
                </a:moveTo>
                <a:cubicBezTo>
                  <a:pt x="0" y="112714"/>
                  <a:pt x="102620" y="0"/>
                  <a:pt x="229276" y="0"/>
                </a:cubicBezTo>
                <a:lnTo>
                  <a:pt x="6649143" y="0"/>
                </a:lnTo>
                <a:cubicBezTo>
                  <a:pt x="6775800" y="0"/>
                  <a:pt x="6878417" y="112714"/>
                  <a:pt x="6878417" y="251830"/>
                </a:cubicBezTo>
                <a:lnTo>
                  <a:pt x="6878417" y="6989583"/>
                </a:lnTo>
                <a:cubicBezTo>
                  <a:pt x="6878417" y="7128699"/>
                  <a:pt x="6775800" y="7241413"/>
                  <a:pt x="6649143" y="7241413"/>
                </a:cubicBezTo>
                <a:lnTo>
                  <a:pt x="229276" y="7241413"/>
                </a:lnTo>
                <a:cubicBezTo>
                  <a:pt x="102620" y="7241413"/>
                  <a:pt x="0" y="7128699"/>
                  <a:pt x="0" y="6989583"/>
                </a:cubicBezTo>
                <a:close/>
              </a:path>
            </a:pathLst>
          </a:custGeom>
          <a:solidFill xmlns:a="http://schemas.openxmlformats.org/drawingml/2006/main">
            <a:srgbClr val="0B2744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A904EE7-225E-4E3D-9AC3-6033908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8841" y="2056344"/>
            <a:ext cx="4625060" cy="392122"/>
          </a:xfrm>
          <a:custGeom xmlns:a="http://schemas.openxmlformats.org/drawingml/2006/main">
            <a:rect l="l" t="t" r="r" b="b"/>
            <a:pathLst>
              <a:path w="6166748" h="522830">
                <a:moveTo>
                  <a:pt x="0" y="0"/>
                </a:moveTo>
                <a:lnTo>
                  <a:pt x="6166748" y="0"/>
                </a:lnTo>
                <a:lnTo>
                  <a:pt x="6166748" y="522830"/>
                </a:lnTo>
                <a:lnTo>
                  <a:pt x="0" y="52283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177242" r="3839" b="-164757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E9A27BEC-1191-4C56-B302-EEB9CC4B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8841" y="2049201"/>
            <a:ext cx="4625063" cy="3992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21"/>
              </a:lnSpc>
              <a:buNone/>
              <a:defRPr b="1">
                <a:solidFill>
                  <a:srgbClr val="68D1C3"/>
                </a:solidFill>
                <a:latin typeface="Arial"/>
                <a:ea typeface="Arial"/>
                <a:cs typeface="Arial"/>
              </a:defRPr>
            </a:pPr>
            <a:r>
              <a:rPr sz="2101" b="1">
                <a:solidFill>
                  <a:srgbClr val="68D1C3"/>
                </a:solidFill>
                <a:latin typeface="Arial"/>
                <a:ea typeface="Arial"/>
                <a:cs typeface="Arial"/>
              </a:rPr>
              <a:t>Kế hoạch tương lai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E2F211F-6B4D-4C43-A8DC-B32A48ED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8841" y="2573752"/>
            <a:ext cx="4625060" cy="4499896"/>
          </a:xfrm>
          <a:custGeom xmlns:a="http://schemas.openxmlformats.org/drawingml/2006/main">
            <a:rect l="l" t="t" r="r" b="b"/>
            <a:pathLst>
              <a:path w="6166748" h="5999862">
                <a:moveTo>
                  <a:pt x="0" y="0"/>
                </a:moveTo>
                <a:lnTo>
                  <a:pt x="6166748" y="0"/>
                </a:lnTo>
                <a:lnTo>
                  <a:pt x="6166748" y="5999862"/>
                </a:lnTo>
                <a:lnTo>
                  <a:pt x="0" y="5999862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-61207" t="0" r="-57367" b="12452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1AB9C57-ACEC-47C8-88FF-69457588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8841" y="2566609"/>
            <a:ext cx="4625063" cy="4507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Hoàn thiện OTP 2FA + biometric login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Ứng dụng Android/iOS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Visa/Mastercard, ZaloPay, PayPal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AR preview sân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AI Analytics: Dynamic Pricing, seasonal forecast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Mở rộng Tournament Management</a:t>
            </a:r>
          </a:p>
          <a:p xmlns:a="http://schemas.openxmlformats.org/drawingml/2006/main">
            <a:pPr marL="431801" indent="-215900" algn="l">
              <a:lnSpc>
                <a:spcPts val="2400"/>
              </a:lnSpc>
              <a:buChar char="•"/>
              <a:defRPr sz="1725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EEF4F7"/>
                </a:solidFill>
                <a:latin typeface="Arial"/>
                <a:ea typeface="Arial"/>
                <a:cs typeface="Arial"/>
              </a:rPr>
              <a:t>Horizontal Scaling + Database Read Replica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BF7608AE-12EB-4F33-9295-CD422B94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1872" y="8078934"/>
            <a:ext cx="2421254" cy="911352"/>
          </a:xfrm>
          <a:custGeom xmlns:a="http://schemas.openxmlformats.org/drawingml/2006/main">
            <a:rect l="l" t="t" r="r" b="b"/>
            <a:pathLst>
              <a:path w="3228340" h="1215136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3078734" y="0"/>
                </a:lnTo>
                <a:cubicBezTo>
                  <a:pt x="3161284" y="0"/>
                  <a:pt x="3228340" y="66929"/>
                  <a:pt x="3228340" y="149606"/>
                </a:cubicBezTo>
                <a:lnTo>
                  <a:pt x="3228340" y="1065530"/>
                </a:lnTo>
                <a:cubicBezTo>
                  <a:pt x="3228340" y="1148080"/>
                  <a:pt x="3161411" y="1215136"/>
                  <a:pt x="3078734" y="1215136"/>
                </a:cubicBezTo>
                <a:lnTo>
                  <a:pt x="149606" y="1215136"/>
                </a:lnTo>
                <a:cubicBezTo>
                  <a:pt x="66929" y="1215009"/>
                  <a:pt x="0" y="1148080"/>
                  <a:pt x="0" y="1065530"/>
                </a:cubicBezTo>
                <a:close/>
              </a:path>
            </a:pathLst>
          </a:custGeom>
          <a:solidFill xmlns:a="http://schemas.openxmlformats.org/drawingml/2006/main">
            <a:srgbClr val="C9FF2D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873959D5-100B-4617-9438-CB1C95E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0034" y="8170831"/>
            <a:ext cx="2264909" cy="782424"/>
          </a:xfrm>
          <a:custGeom xmlns:a="http://schemas.openxmlformats.org/drawingml/2006/main">
            <a:rect l="l" t="t" r="r" b="b"/>
            <a:pathLst>
              <a:path w="3019879" h="1043233">
                <a:moveTo>
                  <a:pt x="0" y="0"/>
                </a:moveTo>
                <a:lnTo>
                  <a:pt x="3019879" y="0"/>
                </a:lnTo>
                <a:lnTo>
                  <a:pt x="3019879" y="1043233"/>
                </a:lnTo>
                <a:lnTo>
                  <a:pt x="0" y="10432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6404" r="0" b="-6403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0196D613-3826-413E-89B9-CC33E760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0034" y="8163688"/>
            <a:ext cx="2264912" cy="7895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61  Use Cases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780531A3-D096-472F-9569-4DDB8C27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5666" y="8078934"/>
            <a:ext cx="2421254" cy="911352"/>
          </a:xfrm>
          <a:custGeom xmlns:a="http://schemas.openxmlformats.org/drawingml/2006/main">
            <a:rect l="l" t="t" r="r" b="b"/>
            <a:pathLst>
              <a:path w="3228340" h="1215136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3078734" y="0"/>
                </a:lnTo>
                <a:cubicBezTo>
                  <a:pt x="3161284" y="0"/>
                  <a:pt x="3228340" y="66929"/>
                  <a:pt x="3228340" y="149606"/>
                </a:cubicBezTo>
                <a:lnTo>
                  <a:pt x="3228340" y="1065530"/>
                </a:lnTo>
                <a:cubicBezTo>
                  <a:pt x="3228340" y="1148080"/>
                  <a:pt x="3161411" y="1215136"/>
                  <a:pt x="3078734" y="1215136"/>
                </a:cubicBezTo>
                <a:lnTo>
                  <a:pt x="149606" y="1215136"/>
                </a:lnTo>
                <a:cubicBezTo>
                  <a:pt x="66929" y="1215009"/>
                  <a:pt x="0" y="1148080"/>
                  <a:pt x="0" y="1065530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FF3A40A0-5265-4A28-B8C6-A57138E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3828" y="8170831"/>
            <a:ext cx="2264909" cy="782424"/>
          </a:xfrm>
          <a:custGeom xmlns:a="http://schemas.openxmlformats.org/drawingml/2006/main">
            <a:rect l="l" t="t" r="r" b="b"/>
            <a:pathLst>
              <a:path w="3019879" h="1043233">
                <a:moveTo>
                  <a:pt x="0" y="0"/>
                </a:moveTo>
                <a:lnTo>
                  <a:pt x="3019879" y="0"/>
                </a:lnTo>
                <a:lnTo>
                  <a:pt x="3019879" y="1043233"/>
                </a:lnTo>
                <a:lnTo>
                  <a:pt x="0" y="10432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6404" r="0" b="-6403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DFFE8BCF-B50D-4305-89A3-DD892D1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3828" y="8163688"/>
            <a:ext cx="2264912" cy="7895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94  Business Rules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44543393-0430-4799-8AFA-2346FD9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9451" y="8078934"/>
            <a:ext cx="2421254" cy="911352"/>
          </a:xfrm>
          <a:custGeom xmlns:a="http://schemas.openxmlformats.org/drawingml/2006/main">
            <a:rect l="l" t="t" r="r" b="b"/>
            <a:pathLst>
              <a:path w="3228340" h="1215136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3078734" y="0"/>
                </a:lnTo>
                <a:cubicBezTo>
                  <a:pt x="3161284" y="0"/>
                  <a:pt x="3228340" y="66929"/>
                  <a:pt x="3228340" y="149606"/>
                </a:cubicBezTo>
                <a:lnTo>
                  <a:pt x="3228340" y="1065530"/>
                </a:lnTo>
                <a:cubicBezTo>
                  <a:pt x="3228340" y="1148080"/>
                  <a:pt x="3161411" y="1215136"/>
                  <a:pt x="3078734" y="1215136"/>
                </a:cubicBezTo>
                <a:lnTo>
                  <a:pt x="149606" y="1215136"/>
                </a:lnTo>
                <a:cubicBezTo>
                  <a:pt x="66929" y="1215009"/>
                  <a:pt x="0" y="1148080"/>
                  <a:pt x="0" y="1065530"/>
                </a:cubicBezTo>
                <a:close/>
              </a:path>
            </a:pathLst>
          </a:custGeom>
          <a:solidFill xmlns:a="http://schemas.openxmlformats.org/drawingml/2006/main">
            <a:srgbClr val="C9FF2D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6B5EA1F5-C26E-4FCD-9E2B-B55EEDE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7622" y="8170831"/>
            <a:ext cx="2264909" cy="782424"/>
          </a:xfrm>
          <a:custGeom xmlns:a="http://schemas.openxmlformats.org/drawingml/2006/main">
            <a:rect l="l" t="t" r="r" b="b"/>
            <a:pathLst>
              <a:path w="3019879" h="1043233">
                <a:moveTo>
                  <a:pt x="0" y="0"/>
                </a:moveTo>
                <a:lnTo>
                  <a:pt x="3019879" y="0"/>
                </a:lnTo>
                <a:lnTo>
                  <a:pt x="3019879" y="1043233"/>
                </a:lnTo>
                <a:lnTo>
                  <a:pt x="0" y="10432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6404" r="0" b="-6403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B472A705-EB95-4A68-B565-CE607D17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7622" y="8163688"/>
            <a:ext cx="2264912" cy="7895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19+  DB Tables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6694A665-818B-4E43-9976-E2274AEC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53245" y="8078934"/>
            <a:ext cx="2421254" cy="911352"/>
          </a:xfrm>
          <a:custGeom xmlns:a="http://schemas.openxmlformats.org/drawingml/2006/main">
            <a:rect l="l" t="t" r="r" b="b"/>
            <a:pathLst>
              <a:path w="3228340" h="1215136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3078734" y="0"/>
                </a:lnTo>
                <a:cubicBezTo>
                  <a:pt x="3161284" y="0"/>
                  <a:pt x="3228340" y="66929"/>
                  <a:pt x="3228340" y="149606"/>
                </a:cubicBezTo>
                <a:lnTo>
                  <a:pt x="3228340" y="1065530"/>
                </a:lnTo>
                <a:cubicBezTo>
                  <a:pt x="3228340" y="1148080"/>
                  <a:pt x="3161411" y="1215136"/>
                  <a:pt x="3078734" y="1215136"/>
                </a:cubicBezTo>
                <a:lnTo>
                  <a:pt x="149606" y="1215136"/>
                </a:lnTo>
                <a:cubicBezTo>
                  <a:pt x="66929" y="1215009"/>
                  <a:pt x="0" y="1148080"/>
                  <a:pt x="0" y="1065530"/>
                </a:cubicBezTo>
                <a:close/>
              </a:path>
            </a:pathLst>
          </a:custGeom>
          <a:solidFill xmlns:a="http://schemas.openxmlformats.org/drawingml/2006/main">
            <a:srgbClr val="12395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61D44ACD-0DB6-4842-8694-FAAAFA3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1416" y="8170831"/>
            <a:ext cx="2264909" cy="782424"/>
          </a:xfrm>
          <a:custGeom xmlns:a="http://schemas.openxmlformats.org/drawingml/2006/main">
            <a:rect l="l" t="t" r="r" b="b"/>
            <a:pathLst>
              <a:path w="3019879" h="1043233">
                <a:moveTo>
                  <a:pt x="0" y="0"/>
                </a:moveTo>
                <a:lnTo>
                  <a:pt x="3019879" y="0"/>
                </a:lnTo>
                <a:lnTo>
                  <a:pt x="3019879" y="1043233"/>
                </a:lnTo>
                <a:lnTo>
                  <a:pt x="0" y="10432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6404" r="0" b="-6403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75CCF7D2-19FE-41E7-A1D7-0C0AC634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1416" y="8163688"/>
            <a:ext cx="2264912" cy="7895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01"/>
              </a:lnSpc>
              <a:buNone/>
              <a:defRPr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1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4  AI Features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A2B385B9-09B7-49D1-AA80-6FB249A7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7039" y="8078934"/>
            <a:ext cx="2421254" cy="911352"/>
          </a:xfrm>
          <a:custGeom xmlns:a="http://schemas.openxmlformats.org/drawingml/2006/main">
            <a:rect l="l" t="t" r="r" b="b"/>
            <a:pathLst>
              <a:path w="3228340" h="1215136">
                <a:moveTo>
                  <a:pt x="0" y="149606"/>
                </a:moveTo>
                <a:cubicBezTo>
                  <a:pt x="0" y="66929"/>
                  <a:pt x="66929" y="0"/>
                  <a:pt x="149606" y="0"/>
                </a:cubicBezTo>
                <a:lnTo>
                  <a:pt x="3078734" y="0"/>
                </a:lnTo>
                <a:cubicBezTo>
                  <a:pt x="3161284" y="0"/>
                  <a:pt x="3228340" y="66929"/>
                  <a:pt x="3228340" y="149606"/>
                </a:cubicBezTo>
                <a:lnTo>
                  <a:pt x="3228340" y="1065530"/>
                </a:lnTo>
                <a:cubicBezTo>
                  <a:pt x="3228340" y="1148080"/>
                  <a:pt x="3161411" y="1215136"/>
                  <a:pt x="3078734" y="1215136"/>
                </a:cubicBezTo>
                <a:lnTo>
                  <a:pt x="149606" y="1215136"/>
                </a:lnTo>
                <a:cubicBezTo>
                  <a:pt x="66929" y="1215009"/>
                  <a:pt x="0" y="1148080"/>
                  <a:pt x="0" y="1065530"/>
                </a:cubicBezTo>
                <a:close/>
              </a:path>
            </a:pathLst>
          </a:custGeom>
          <a:solidFill xmlns:a="http://schemas.openxmlformats.org/drawingml/2006/main">
            <a:srgbClr val="C9FF2D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8135D40F-7655-40CD-8F06-DE1B4077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5201" y="8170831"/>
            <a:ext cx="2264909" cy="782424"/>
          </a:xfrm>
          <a:custGeom xmlns:a="http://schemas.openxmlformats.org/drawingml/2006/main">
            <a:rect l="l" t="t" r="r" b="b"/>
            <a:pathLst>
              <a:path w="3019879" h="1043233">
                <a:moveTo>
                  <a:pt x="0" y="0"/>
                </a:moveTo>
                <a:lnTo>
                  <a:pt x="3019879" y="0"/>
                </a:lnTo>
                <a:lnTo>
                  <a:pt x="3019879" y="1043233"/>
                </a:lnTo>
                <a:lnTo>
                  <a:pt x="0" y="104323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c303785ee1a41c7">
              <a:alphaModFix amt="0"/>
            </a:blip>
            <a:stretch>
              <a:fillRect l="0" t="-6404" r="0" b="-6403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7147B5B3-5A41-44F5-8708-2489314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55201" y="8170831"/>
            <a:ext cx="2264912" cy="7824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161"/>
              </a:lnSpc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1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  Actor Types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6BAD55C7-B39C-4C8F-8F80-265B4D7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65" cy="932477"/>
          </a:xfrm>
          <a:custGeom xmlns:a="http://schemas.openxmlformats.org/drawingml/2006/main">
            <a:rect l="l" t="t" r="r" b="b"/>
            <a:pathLst>
              <a:path w="1253821" h="1243303">
                <a:moveTo>
                  <a:pt x="0" y="0"/>
                </a:moveTo>
                <a:lnTo>
                  <a:pt x="1253821" y="0"/>
                </a:lnTo>
                <a:lnTo>
                  <a:pt x="1253821" y="1243303"/>
                </a:lnTo>
                <a:lnTo>
                  <a:pt x="0" y="1243303"/>
                </a:lnTo>
                <a:close/>
              </a:path>
            </a:pathLst>
          </a:custGeom>
          <a:solidFill xmlns:a="http://schemas.openxmlformats.org/drawingml/2006/main">
            <a:srgbClr val="C9FF2D"/>
          </a:solidFill>
        </p:spPr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F38123A4-8651-408A-993E-0354AE6C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510" y="220109"/>
            <a:ext cx="940378" cy="932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3422"/>
              </a:lnSpc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52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PCS</a:t>
            </a:r>
          </a:p>
        </p:txBody>
      </p:sp>
    </p:spTree>
    <p:extLst>
      <p:ext uri="{BB962C8B-B14F-4D97-AF65-F5344CB8AC3E}">
        <p14:creationId xmlns:p14="http://schemas.microsoft.com/office/powerpoint/2010/main" val="15379430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8A3F880-4A75-4DEE-AE7A-EE416932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301810" cy="10295000"/>
          </a:xfrm>
          <a:custGeom xmlns:a="http://schemas.openxmlformats.org/drawingml/2006/main">
            <a:rect l="l" t="t" r="r" b="b"/>
            <a:pathLst>
              <a:path w="24402414" h="13726668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f4b9ee82eab4cfc"/>
            <a:stretch>
              <a:fillRect l="0" t="-24" r="0" b="-26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23061A8-7CE7-4BF7-9164-94D8A35B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4" y="1029500"/>
            <a:ext cx="4804353" cy="851057"/>
          </a:xfrm>
          <a:custGeom xmlns:a="http://schemas.openxmlformats.org/drawingml/2006/main">
            <a:rect l="l" t="t" r="r" b="b"/>
            <a:pathLst>
              <a:path w="6405805" h="1134743">
                <a:moveTo>
                  <a:pt x="0" y="0"/>
                </a:moveTo>
                <a:lnTo>
                  <a:pt x="6405805" y="0"/>
                </a:lnTo>
                <a:lnTo>
                  <a:pt x="6405805" y="1134743"/>
                </a:lnTo>
                <a:lnTo>
                  <a:pt x="0" y="113474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59996" r="0" b="-59996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8D6E0C5-C32A-48BB-993E-D32CA1E6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4" y="1029500"/>
            <a:ext cx="4804353" cy="8510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7926"/>
              </a:lnSpc>
              <a:buNone/>
              <a:defRPr sz="6605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6605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FEC81A6F-F41B-4C81-81B5-503AED96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402" y="2086461"/>
            <a:ext cx="5765224" cy="466708"/>
          </a:xfrm>
          <a:custGeom xmlns:a="http://schemas.openxmlformats.org/drawingml/2006/main">
            <a:rect l="l" t="t" r="r" b="b"/>
            <a:pathLst>
              <a:path w="7686966" h="622278">
                <a:moveTo>
                  <a:pt x="0" y="0"/>
                </a:moveTo>
                <a:lnTo>
                  <a:pt x="7686966" y="0"/>
                </a:lnTo>
                <a:lnTo>
                  <a:pt x="7686966" y="622278"/>
                </a:lnTo>
                <a:lnTo>
                  <a:pt x="0" y="622278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190697" r="0" b="-190697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82542E3-8459-4B45-B435-69A459EF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402" y="2086461"/>
            <a:ext cx="5765225" cy="466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882"/>
              </a:lnSpc>
              <a:buNone/>
              <a:defRPr sz="2401"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401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Câu hỏi dự kiến từ Hội đồng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AE352F7-C95A-4F9B-8556-B1AFA77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4" y="2958520"/>
            <a:ext cx="7547252" cy="1302713"/>
          </a:xfrm>
          <a:custGeom xmlns:a="http://schemas.openxmlformats.org/drawingml/2006/main">
            <a:rect l="l" t="t" r="r" b="b"/>
            <a:pathLst>
              <a:path w="9359519" h="1615524">
                <a:moveTo>
                  <a:pt x="0" y="248521"/>
                </a:moveTo>
                <a:cubicBezTo>
                  <a:pt x="0" y="111269"/>
                  <a:pt x="100076" y="0"/>
                  <a:pt x="223520" y="0"/>
                </a:cubicBezTo>
                <a:lnTo>
                  <a:pt x="9135999" y="0"/>
                </a:lnTo>
                <a:cubicBezTo>
                  <a:pt x="9259443" y="0"/>
                  <a:pt x="9359519" y="111269"/>
                  <a:pt x="9359519" y="248521"/>
                </a:cubicBezTo>
                <a:lnTo>
                  <a:pt x="9359519" y="1367005"/>
                </a:lnTo>
                <a:cubicBezTo>
                  <a:pt x="9359519" y="1504256"/>
                  <a:pt x="9259443" y="1615524"/>
                  <a:pt x="9135999" y="1615524"/>
                </a:cubicBezTo>
                <a:lnTo>
                  <a:pt x="223520" y="1615524"/>
                </a:lnTo>
                <a:cubicBezTo>
                  <a:pt x="100076" y="1615524"/>
                  <a:pt x="0" y="1504256"/>
                  <a:pt x="0" y="1367005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F09F191B-1F94-472E-A547-45249A31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3166822"/>
            <a:ext cx="6995508" cy="410229"/>
          </a:xfrm>
          <a:custGeom xmlns:a="http://schemas.openxmlformats.org/drawingml/2006/main">
            <a:rect l="l" t="t" r="r" b="b"/>
            <a:pathLst>
              <a:path w="8675290" h="508735">
                <a:moveTo>
                  <a:pt x="0" y="0"/>
                </a:moveTo>
                <a:lnTo>
                  <a:pt x="8675290" y="0"/>
                </a:lnTo>
                <a:lnTo>
                  <a:pt x="8675290" y="508735"/>
                </a:lnTo>
                <a:lnTo>
                  <a:pt x="0" y="5087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287302" r="0" b="-277242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CC588C-D842-49B1-A375-2A76E810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3159142"/>
            <a:ext cx="6995512" cy="4179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Transaction Locking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209F642-AFAB-4719-B2BA-DF0E517A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3708323"/>
            <a:ext cx="6995508" cy="378835"/>
          </a:xfrm>
          <a:custGeom xmlns:a="http://schemas.openxmlformats.org/drawingml/2006/main">
            <a:rect l="l" t="t" r="r" b="b"/>
            <a:pathLst>
              <a:path w="8675290" h="469803">
                <a:moveTo>
                  <a:pt x="0" y="0"/>
                </a:moveTo>
                <a:lnTo>
                  <a:pt x="8675290" y="0"/>
                </a:lnTo>
                <a:lnTo>
                  <a:pt x="8675290" y="469803"/>
                </a:lnTo>
                <a:lnTo>
                  <a:pt x="0" y="469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0849" r="0" b="-298765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8BE6AFE-9A81-43AF-B371-69D707A7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3700643"/>
            <a:ext cx="6995512" cy="38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Pessimistic hay Optimistic? Triển khai cụ thể ra sao?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E110E52-ED86-4485-8C76-9D3E53DF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2884" y="2958520"/>
            <a:ext cx="7547252" cy="1302713"/>
          </a:xfrm>
          <a:custGeom xmlns:a="http://schemas.openxmlformats.org/drawingml/2006/main">
            <a:rect l="l" t="t" r="r" b="b"/>
            <a:pathLst>
              <a:path w="9359519" h="1615524">
                <a:moveTo>
                  <a:pt x="0" y="248521"/>
                </a:moveTo>
                <a:cubicBezTo>
                  <a:pt x="0" y="111269"/>
                  <a:pt x="100076" y="0"/>
                  <a:pt x="223520" y="0"/>
                </a:cubicBezTo>
                <a:lnTo>
                  <a:pt x="9135999" y="0"/>
                </a:lnTo>
                <a:cubicBezTo>
                  <a:pt x="9259443" y="0"/>
                  <a:pt x="9359519" y="111269"/>
                  <a:pt x="9359519" y="248521"/>
                </a:cubicBezTo>
                <a:lnTo>
                  <a:pt x="9359519" y="1367005"/>
                </a:lnTo>
                <a:cubicBezTo>
                  <a:pt x="9359519" y="1504256"/>
                  <a:pt x="9259443" y="1615524"/>
                  <a:pt x="9135999" y="1615524"/>
                </a:cubicBezTo>
                <a:lnTo>
                  <a:pt x="223520" y="1615524"/>
                </a:lnTo>
                <a:cubicBezTo>
                  <a:pt x="100076" y="1615524"/>
                  <a:pt x="0" y="1504256"/>
                  <a:pt x="0" y="1367005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B7C6CB13-C827-49BF-8249-705F1A5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3166822"/>
            <a:ext cx="6995508" cy="410229"/>
          </a:xfrm>
          <a:custGeom xmlns:a="http://schemas.openxmlformats.org/drawingml/2006/main">
            <a:rect l="l" t="t" r="r" b="b"/>
            <a:pathLst>
              <a:path w="8675290" h="508735">
                <a:moveTo>
                  <a:pt x="0" y="0"/>
                </a:moveTo>
                <a:lnTo>
                  <a:pt x="8675290" y="0"/>
                </a:lnTo>
                <a:lnTo>
                  <a:pt x="8675290" y="508735"/>
                </a:lnTo>
                <a:lnTo>
                  <a:pt x="0" y="5087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287302" r="0" b="-277242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19FFAC6-2D93-41AC-974B-48F1230F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3159142"/>
            <a:ext cx="6995512" cy="4179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AI Fallback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BA4720C-61C8-4206-887C-C6946D56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3708323"/>
            <a:ext cx="6995508" cy="378835"/>
          </a:xfrm>
          <a:custGeom xmlns:a="http://schemas.openxmlformats.org/drawingml/2006/main">
            <a:rect l="l" t="t" r="r" b="b"/>
            <a:pathLst>
              <a:path w="8675290" h="469803">
                <a:moveTo>
                  <a:pt x="0" y="0"/>
                </a:moveTo>
                <a:lnTo>
                  <a:pt x="8675290" y="0"/>
                </a:lnTo>
                <a:lnTo>
                  <a:pt x="8675290" y="469803"/>
                </a:lnTo>
                <a:lnTo>
                  <a:pt x="0" y="469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0849" r="0" b="-298765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2C40FFE-6EC9-43B4-93DF-8DC27678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3700643"/>
            <a:ext cx="6995512" cy="38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Hệ thống xử lý thế nào khi AI Service timeout &gt; 5 giây?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BCA0BDCD-5F75-45DB-A14A-B64E02B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4" y="4681482"/>
            <a:ext cx="7547252" cy="1302713"/>
          </a:xfrm>
          <a:custGeom xmlns:a="http://schemas.openxmlformats.org/drawingml/2006/main">
            <a:rect l="l" t="t" r="r" b="b"/>
            <a:pathLst>
              <a:path w="9359519" h="1615524">
                <a:moveTo>
                  <a:pt x="0" y="248521"/>
                </a:moveTo>
                <a:cubicBezTo>
                  <a:pt x="0" y="111269"/>
                  <a:pt x="100076" y="0"/>
                  <a:pt x="223520" y="0"/>
                </a:cubicBezTo>
                <a:lnTo>
                  <a:pt x="9135999" y="0"/>
                </a:lnTo>
                <a:cubicBezTo>
                  <a:pt x="9259443" y="0"/>
                  <a:pt x="9359519" y="111269"/>
                  <a:pt x="9359519" y="248521"/>
                </a:cubicBezTo>
                <a:lnTo>
                  <a:pt x="9359519" y="1367005"/>
                </a:lnTo>
                <a:cubicBezTo>
                  <a:pt x="9359519" y="1504256"/>
                  <a:pt x="9259443" y="1615524"/>
                  <a:pt x="9135999" y="1615524"/>
                </a:cubicBezTo>
                <a:lnTo>
                  <a:pt x="223520" y="1615524"/>
                </a:lnTo>
                <a:cubicBezTo>
                  <a:pt x="100076" y="1615524"/>
                  <a:pt x="0" y="1504256"/>
                  <a:pt x="0" y="1367005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1294237-E921-4FBD-9E45-0F1AEF1D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4889784"/>
            <a:ext cx="6995508" cy="410229"/>
          </a:xfrm>
          <a:custGeom xmlns:a="http://schemas.openxmlformats.org/drawingml/2006/main">
            <a:rect l="l" t="t" r="r" b="b"/>
            <a:pathLst>
              <a:path w="8675290" h="508735">
                <a:moveTo>
                  <a:pt x="0" y="0"/>
                </a:moveTo>
                <a:lnTo>
                  <a:pt x="8675290" y="0"/>
                </a:lnTo>
                <a:lnTo>
                  <a:pt x="8675290" y="508735"/>
                </a:lnTo>
                <a:lnTo>
                  <a:pt x="0" y="5087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287302" r="0" b="-277242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A56E9E47-9EF6-4DC1-B173-46E0C2B1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4882104"/>
            <a:ext cx="6995512" cy="4179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Matching Score Formula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248E9FCD-B192-4796-96DA-ED586C6D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5431297"/>
            <a:ext cx="6995508" cy="378835"/>
          </a:xfrm>
          <a:custGeom xmlns:a="http://schemas.openxmlformats.org/drawingml/2006/main">
            <a:rect l="l" t="t" r="r" b="b"/>
            <a:pathLst>
              <a:path w="8675290" h="469803">
                <a:moveTo>
                  <a:pt x="0" y="0"/>
                </a:moveTo>
                <a:lnTo>
                  <a:pt x="8675290" y="0"/>
                </a:lnTo>
                <a:lnTo>
                  <a:pt x="8675290" y="469803"/>
                </a:lnTo>
                <a:lnTo>
                  <a:pt x="0" y="469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0849" r="0" b="-298765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F5578EA-927F-4820-9290-6339E544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5423617"/>
            <a:ext cx="6995512" cy="38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Trọng số các yếu tố được xác định thế nào?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CC6188BB-F4AF-475E-9361-5E80348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2884" y="4681482"/>
            <a:ext cx="7547252" cy="1302713"/>
          </a:xfrm>
          <a:custGeom xmlns:a="http://schemas.openxmlformats.org/drawingml/2006/main">
            <a:rect l="l" t="t" r="r" b="b"/>
            <a:pathLst>
              <a:path w="9359519" h="1615524">
                <a:moveTo>
                  <a:pt x="0" y="248521"/>
                </a:moveTo>
                <a:cubicBezTo>
                  <a:pt x="0" y="111269"/>
                  <a:pt x="100076" y="0"/>
                  <a:pt x="223520" y="0"/>
                </a:cubicBezTo>
                <a:lnTo>
                  <a:pt x="9135999" y="0"/>
                </a:lnTo>
                <a:cubicBezTo>
                  <a:pt x="9259443" y="0"/>
                  <a:pt x="9359519" y="111269"/>
                  <a:pt x="9359519" y="248521"/>
                </a:cubicBezTo>
                <a:lnTo>
                  <a:pt x="9359519" y="1367005"/>
                </a:lnTo>
                <a:cubicBezTo>
                  <a:pt x="9359519" y="1504256"/>
                  <a:pt x="9259443" y="1615524"/>
                  <a:pt x="9135999" y="1615524"/>
                </a:cubicBezTo>
                <a:lnTo>
                  <a:pt x="223520" y="1615524"/>
                </a:lnTo>
                <a:cubicBezTo>
                  <a:pt x="100076" y="1615524"/>
                  <a:pt x="0" y="1504256"/>
                  <a:pt x="0" y="1367005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2609FD9-065C-49D7-9510-D1E2BD1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4889784"/>
            <a:ext cx="6995508" cy="410229"/>
          </a:xfrm>
          <a:custGeom xmlns:a="http://schemas.openxmlformats.org/drawingml/2006/main">
            <a:rect l="l" t="t" r="r" b="b"/>
            <a:pathLst>
              <a:path w="8675290" h="508735">
                <a:moveTo>
                  <a:pt x="0" y="0"/>
                </a:moveTo>
                <a:lnTo>
                  <a:pt x="8675290" y="0"/>
                </a:lnTo>
                <a:lnTo>
                  <a:pt x="8675290" y="508735"/>
                </a:lnTo>
                <a:lnTo>
                  <a:pt x="0" y="5087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287302" r="0" b="-277242"/>
            </a:stretch>
          </a:blip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EEB8E503-EAF5-4AA2-8803-789B9158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4882104"/>
            <a:ext cx="6995512" cy="4179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SQL Server vs NoSQL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145F5E2-37DA-4948-9599-EDE33236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5431297"/>
            <a:ext cx="6995508" cy="378835"/>
          </a:xfrm>
          <a:custGeom xmlns:a="http://schemas.openxmlformats.org/drawingml/2006/main">
            <a:rect l="l" t="t" r="r" b="b"/>
            <a:pathLst>
              <a:path w="8675290" h="469803">
                <a:moveTo>
                  <a:pt x="0" y="0"/>
                </a:moveTo>
                <a:lnTo>
                  <a:pt x="8675290" y="0"/>
                </a:lnTo>
                <a:lnTo>
                  <a:pt x="8675290" y="469803"/>
                </a:lnTo>
                <a:lnTo>
                  <a:pt x="0" y="469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0849" r="0" b="-298765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973C9737-F2F1-44F6-A36D-02687FD0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5423617"/>
            <a:ext cx="6995512" cy="38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Vì sao chọn SQL Server cho hệ thống realtime?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B149DF7B-ACA4-4E3A-B81C-13662ABC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774" y="6404444"/>
            <a:ext cx="7547252" cy="1302713"/>
          </a:xfrm>
          <a:custGeom xmlns:a="http://schemas.openxmlformats.org/drawingml/2006/main">
            <a:rect l="l" t="t" r="r" b="b"/>
            <a:pathLst>
              <a:path w="9359519" h="1615524">
                <a:moveTo>
                  <a:pt x="0" y="248521"/>
                </a:moveTo>
                <a:cubicBezTo>
                  <a:pt x="0" y="111269"/>
                  <a:pt x="100076" y="0"/>
                  <a:pt x="223520" y="0"/>
                </a:cubicBezTo>
                <a:lnTo>
                  <a:pt x="9135999" y="0"/>
                </a:lnTo>
                <a:cubicBezTo>
                  <a:pt x="9259443" y="0"/>
                  <a:pt x="9359519" y="111269"/>
                  <a:pt x="9359519" y="248521"/>
                </a:cubicBezTo>
                <a:lnTo>
                  <a:pt x="9359519" y="1367005"/>
                </a:lnTo>
                <a:cubicBezTo>
                  <a:pt x="9359519" y="1504256"/>
                  <a:pt x="9259443" y="1615524"/>
                  <a:pt x="9135999" y="1615524"/>
                </a:cubicBezTo>
                <a:lnTo>
                  <a:pt x="223520" y="1615524"/>
                </a:lnTo>
                <a:cubicBezTo>
                  <a:pt x="100076" y="1615524"/>
                  <a:pt x="0" y="1504256"/>
                  <a:pt x="0" y="1367005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653BD22C-0491-4C15-AFB1-A7F9F554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6612757"/>
            <a:ext cx="6995508" cy="410229"/>
          </a:xfrm>
          <a:custGeom xmlns:a="http://schemas.openxmlformats.org/drawingml/2006/main">
            <a:rect l="l" t="t" r="r" b="b"/>
            <a:pathLst>
              <a:path w="8675290" h="508735">
                <a:moveTo>
                  <a:pt x="0" y="0"/>
                </a:moveTo>
                <a:lnTo>
                  <a:pt x="8675290" y="0"/>
                </a:lnTo>
                <a:lnTo>
                  <a:pt x="8675290" y="508735"/>
                </a:lnTo>
                <a:lnTo>
                  <a:pt x="0" y="5087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287302" r="0" b="-277242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B6B14BD-2208-494D-B7B6-E52E3E5E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6605077"/>
            <a:ext cx="6995512" cy="4179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Refund Automation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8017A56-6FAF-475B-B717-2B7C542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7154259"/>
            <a:ext cx="6995508" cy="378835"/>
          </a:xfrm>
          <a:custGeom xmlns:a="http://schemas.openxmlformats.org/drawingml/2006/main">
            <a:rect l="l" t="t" r="r" b="b"/>
            <a:pathLst>
              <a:path w="8675290" h="469803">
                <a:moveTo>
                  <a:pt x="0" y="0"/>
                </a:moveTo>
                <a:lnTo>
                  <a:pt x="8675290" y="0"/>
                </a:lnTo>
                <a:lnTo>
                  <a:pt x="8675290" y="469803"/>
                </a:lnTo>
                <a:lnTo>
                  <a:pt x="0" y="469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0849" r="0" b="-298765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7DC3191-8A28-4842-854A-57A60025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75" y="7146579"/>
            <a:ext cx="6995512" cy="38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Tự động hoàn toàn hay cần Admin duyệt?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5C05E1AF-160C-49C0-8D09-D2D54F1A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2884" y="6404444"/>
            <a:ext cx="7547252" cy="1302713"/>
          </a:xfrm>
          <a:custGeom xmlns:a="http://schemas.openxmlformats.org/drawingml/2006/main">
            <a:rect l="l" t="t" r="r" b="b"/>
            <a:pathLst>
              <a:path w="9359519" h="1615524">
                <a:moveTo>
                  <a:pt x="0" y="248521"/>
                </a:moveTo>
                <a:cubicBezTo>
                  <a:pt x="0" y="111269"/>
                  <a:pt x="100076" y="0"/>
                  <a:pt x="223520" y="0"/>
                </a:cubicBezTo>
                <a:lnTo>
                  <a:pt x="9135999" y="0"/>
                </a:lnTo>
                <a:cubicBezTo>
                  <a:pt x="9259443" y="0"/>
                  <a:pt x="9359519" y="111269"/>
                  <a:pt x="9359519" y="248521"/>
                </a:cubicBezTo>
                <a:lnTo>
                  <a:pt x="9359519" y="1367005"/>
                </a:lnTo>
                <a:cubicBezTo>
                  <a:pt x="9359519" y="1504256"/>
                  <a:pt x="9259443" y="1615524"/>
                  <a:pt x="9135999" y="1615524"/>
                </a:cubicBezTo>
                <a:lnTo>
                  <a:pt x="223520" y="1615524"/>
                </a:lnTo>
                <a:cubicBezTo>
                  <a:pt x="100076" y="1615524"/>
                  <a:pt x="0" y="1504256"/>
                  <a:pt x="0" y="1367005"/>
                </a:cubicBezTo>
                <a:close/>
              </a:path>
            </a:pathLst>
          </a:custGeom>
          <a:solidFill xmlns:a="http://schemas.openxmlformats.org/drawingml/2006/main">
            <a:srgbClr val="06111F"/>
          </a:solidFill>
          <a:ln xmlns:a="http://schemas.openxmlformats.org/drawingml/2006/main" w="19065">
            <a:solidFill>
              <a:srgbClr val="174B77"/>
            </a:solidFill>
            <a:prstDash val="solid"/>
          </a:ln>
        </p:spPr>
      </p:sp>
      <p:sp>
        <p:nvSpPr>
          <p:cNvPr id="53" name="Freeform 53">
            <a:extLst xmlns:a="http://schemas.openxmlformats.org/drawingml/2006/main">
              <a:ext uri="{FF2B5EF4-FFF2-40B4-BE49-F238E27FC236}">
                <a16:creationId xmlns:a16="http://schemas.microsoft.com/office/drawing/2014/main" id="{238463E9-3972-4406-8A2C-B602F72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6612757"/>
            <a:ext cx="6995508" cy="410229"/>
          </a:xfrm>
          <a:custGeom xmlns:a="http://schemas.openxmlformats.org/drawingml/2006/main">
            <a:rect l="l" t="t" r="r" b="b"/>
            <a:pathLst>
              <a:path w="8675290" h="508735">
                <a:moveTo>
                  <a:pt x="0" y="0"/>
                </a:moveTo>
                <a:lnTo>
                  <a:pt x="8675290" y="0"/>
                </a:lnTo>
                <a:lnTo>
                  <a:pt x="8675290" y="508735"/>
                </a:lnTo>
                <a:lnTo>
                  <a:pt x="0" y="508735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287302" r="0" b="-277242"/>
            </a:stretch>
          </a:blipFill>
        </p:spPr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AC37418D-1060-4641-9C38-97FCB2B5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6605077"/>
            <a:ext cx="6995512" cy="4179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 b="1">
                <a:solidFill>
                  <a:srgbClr val="B9DB64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B9DB64"/>
                </a:solidFill>
                <a:latin typeface="Arial"/>
                <a:ea typeface="Arial"/>
                <a:cs typeface="Arial"/>
              </a:rPr>
              <a:t>Combo Conflict</a:t>
            </a:r>
          </a:p>
        </p:txBody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32583DBC-1A16-42B2-81DB-3AE87A5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7154259"/>
            <a:ext cx="6995508" cy="378835"/>
          </a:xfrm>
          <a:custGeom xmlns:a="http://schemas.openxmlformats.org/drawingml/2006/main">
            <a:rect l="l" t="t" r="r" b="b"/>
            <a:pathLst>
              <a:path w="8675290" h="469803">
                <a:moveTo>
                  <a:pt x="0" y="0"/>
                </a:moveTo>
                <a:lnTo>
                  <a:pt x="8675290" y="0"/>
                </a:lnTo>
                <a:lnTo>
                  <a:pt x="8675290" y="469803"/>
                </a:lnTo>
                <a:lnTo>
                  <a:pt x="0" y="469803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0849" r="0" b="-298765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E97AA833-B854-4CF6-8DCF-FCE2AAA4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8784" y="7146579"/>
            <a:ext cx="6995512" cy="386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00"/>
              </a:lnSpc>
              <a:buNone/>
              <a:defRPr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EEF4F7"/>
                </a:solidFill>
                <a:latin typeface="Arial"/>
                <a:ea typeface="Arial"/>
                <a:cs typeface="Arial"/>
              </a:rPr>
              <a:t>Xử lý Coach/Sân trùng lịch trong Combo Booking thế nào?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57DAA031-FCEF-4354-81DE-E52BC0E6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52" y="8785108"/>
            <a:ext cx="10981379" cy="568350"/>
          </a:xfrm>
          <a:custGeom xmlns:a="http://schemas.openxmlformats.org/drawingml/2006/main">
            <a:rect l="l" t="t" r="r" b="b"/>
            <a:pathLst>
              <a:path w="14641840" h="757800">
                <a:moveTo>
                  <a:pt x="0" y="0"/>
                </a:moveTo>
                <a:lnTo>
                  <a:pt x="14641840" y="0"/>
                </a:lnTo>
                <a:lnTo>
                  <a:pt x="14641840" y="757800"/>
                </a:lnTo>
                <a:lnTo>
                  <a:pt x="0" y="7578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a978bc448b47e7">
              <a:alphaModFix amt="0"/>
            </a:blip>
            <a:stretch>
              <a:fillRect l="0" t="-328176" r="0" b="-324784"/>
            </a:stretch>
          </a:blipFill>
        </p:spPr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400D67B6-0573-426F-A28D-C082326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6352" y="8785108"/>
            <a:ext cx="10981382" cy="568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3602"/>
              </a:lnSpc>
              <a:buNone/>
              <a:defRPr sz="3002" b="1">
                <a:solidFill>
                  <a:srgbClr val="EEF4F7"/>
                </a:solidFill>
                <a:latin typeface="Arial"/>
                <a:ea typeface="Arial"/>
                <a:cs typeface="Arial"/>
              </a:defRPr>
            </a:pPr>
            <a:r>
              <a:rPr sz="3002" b="1">
                <a:solidFill>
                  <a:srgbClr val="EEF4F7"/>
                </a:solidFill>
                <a:latin typeface="Arial"/>
                <a:ea typeface="Arial"/>
                <a:cs typeface="Arial"/>
              </a:rPr>
              <a:t>Trân trọng cảm ơn Hội đồng đã lắng nghe!</a:t>
            </a:r>
          </a:p>
        </p:txBody>
      </p:sp>
    </p:spTree>
    <p:extLst>
      <p:ext uri="{BB962C8B-B14F-4D97-AF65-F5344CB8AC3E}">
        <p14:creationId xmlns:p14="http://schemas.microsoft.com/office/powerpoint/2010/main" val="15510614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2026-07-13T07:34:50.7290000Z</dcterms:created>
  <dcterms:modified xsi:type="dcterms:W3CDTF">2026-07-13T07:34:50.7290000Z</dcterms:modified>
</coreProperties>
</file>